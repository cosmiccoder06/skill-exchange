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and project evaluators. Today, Team CosmicCoders (Group 13) presents our college capstone project: 'SkillExchange' — A centralized, full-stack peer mentorship and skill-sharing web platform developed using the modern MERN stack. This project bridges the gap between students seeking targeted academic/technical guidance and skilled senior peers willing to mentor.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discuss the core problem statement. College students often struggle to find timely academic help. Commercial tutoring platforms are far too expensive, while informal WhatsApp arrangements lead to high ghosting rates. SkillExchange addresses this through a centralized MERN web application offering verified mentor profiles, deterministic scheduling, real-time messaging with anti-spam limits, and a transparent simulated escrow wallet.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our full-stack architecture. We selected the MERN stack for high developer productivity and performance. The frontend is built with React 19 and Vite. The backend utilizes Express.js and Node.js with strict JWT authentication middleware. Data is persisted in MongoDB Atlas via Mongoose ODM, and real-time messaging is powered by Socket.io.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covers User Onboarding, Authentication, and Profiles. We offer dual registration for learners and mentors. Authentication is secured via 10-round salted Bcrypt password encryption and JWT stateless tokens. Learners specify skills they wish to learn, while mentors configure their hourly rates and proficiency levels.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is Peer Discovery &amp; the AI Matcher. Learners can browse mentors by technology tags or search by name. A key innovation is the Gemini-powered AI Matcher, which allows students to describe what they want to learn and automatically pairs them with the best suited mentor based on skill overlap, schedule compatibility, and community ratings.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is our signature Session Booking Flow. Unlike informal messaging, our platform implements a 5-step deterministic lifecycle. The learner picks duration and date chips, the system validates mentor slots, and the mentor can approve or suggest counter-slots. Crucially, any request left unaddressed for 4 hours automatically expires to avoid stale scheduling. Funds are held in escrow.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integrates Real-Time Messaging and the Payment Wallet. Our chat is powered by Socket.io for instantaneous delivery. To stop spam, non-paying users have a 5-message free limit, which converts to unlimited chat once a session is confirmed. Our wallet features a dual-balance system separating top-up funds from earned teaching revenue, with transparent 0% platform fees.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covers Role-Based Dashboards and Reviews. Learners have a dedicated workspace showing session hours and milestone bars. Mentors have a Teaching Studio summarizing learners reached and revenue earned. After each completed session, verified 1-5 star reviews can be submitted, building long-term academic reputation.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covers Admin Governance and System Testing. Administrators have high-level oversight through live KPIs and can verify, suspend, or moderate community accounts. The entire platform has been thoroughly verified using Playwright automated browser tests and API validation suites to guarantee zero double-booking and resilient connection handling.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SkillExchange delivers an accessible, robust MERN solution for student mentorship. We have solved coordination ghosting and provided transparency in scheduling and peer honorariums. Our live demo is hosted on Vercel and the code is open on GitHub. We are now open for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640080"/>
            <a:ext cx="5486400" cy="274320"/>
          </a:xfrm>
          <a:prstGeom prst="rect">
            <a:avLst/>
          </a:prstGeom>
          <a:noFill/>
        </p:spPr>
        <p:txBody>
          <a:bodyPr wrap="square" lIns="0" tIns="0" rIns="0" bIns="0">
            <a:spAutoFit/>
          </a:bodyPr>
          <a:lstStyle/>
          <a:p>
            <a:pPr>
              <a:defRPr sz="1100" b="1">
                <a:solidFill>
                  <a:srgbClr val="176B4E"/>
                </a:solidFill>
                <a:latin typeface="Calibri"/>
              </a:defRPr>
            </a:pPr>
            <a:r>
              <a:t>TEAM COSMICCODERS  |  GROUP 13</a:t>
            </a:r>
          </a:p>
        </p:txBody>
      </p:sp>
      <p:pic>
        <p:nvPicPr>
          <p:cNvPr id="3" name="Picture 2" descr="logo.png"/>
          <p:cNvPicPr>
            <a:picLocks noChangeAspect="1"/>
          </p:cNvPicPr>
          <p:nvPr/>
        </p:nvPicPr>
        <p:blipFill>
          <a:blip r:embed="rId2"/>
          <a:stretch>
            <a:fillRect/>
          </a:stretch>
        </p:blipFill>
        <p:spPr>
          <a:xfrm>
            <a:off x="731520" y="1097280"/>
            <a:ext cx="822960" cy="822960"/>
          </a:xfrm>
          <a:prstGeom prst="rect">
            <a:avLst/>
          </a:prstGeom>
        </p:spPr>
      </p:pic>
      <p:sp>
        <p:nvSpPr>
          <p:cNvPr id="4" name="TextBox 3"/>
          <p:cNvSpPr txBox="1"/>
          <p:nvPr/>
        </p:nvSpPr>
        <p:spPr>
          <a:xfrm>
            <a:off x="1645920" y="1051560"/>
            <a:ext cx="4572000" cy="914400"/>
          </a:xfrm>
          <a:prstGeom prst="rect">
            <a:avLst/>
          </a:prstGeom>
          <a:noFill/>
        </p:spPr>
        <p:txBody>
          <a:bodyPr wrap="square" lIns="0" tIns="0" rIns="0" bIns="0">
            <a:spAutoFit/>
          </a:bodyPr>
          <a:lstStyle/>
          <a:p>
            <a:pPr>
              <a:defRPr sz="4400" b="1">
                <a:solidFill>
                  <a:srgbClr val="176B4E"/>
                </a:solidFill>
                <a:latin typeface="Cambria"/>
              </a:defRPr>
            </a:pPr>
            <a:r>
              <a:t>SkillExchange</a:t>
            </a:r>
          </a:p>
        </p:txBody>
      </p:sp>
      <p:sp>
        <p:nvSpPr>
          <p:cNvPr id="5" name="TextBox 4"/>
          <p:cNvSpPr txBox="1"/>
          <p:nvPr/>
        </p:nvSpPr>
        <p:spPr>
          <a:xfrm>
            <a:off x="731520" y="2057400"/>
            <a:ext cx="5486400" cy="1828800"/>
          </a:xfrm>
          <a:prstGeom prst="rect">
            <a:avLst/>
          </a:prstGeom>
          <a:noFill/>
        </p:spPr>
        <p:txBody>
          <a:bodyPr wrap="square" lIns="0" tIns="0" rIns="0" bIns="0">
            <a:spAutoFit/>
          </a:bodyPr>
          <a:lstStyle/>
          <a:p>
            <a:pPr>
              <a:spcAft>
                <a:spcPts val="1200"/>
              </a:spcAft>
              <a:defRPr sz="1800" b="1">
                <a:solidFill>
                  <a:srgbClr val="1A202C"/>
                </a:solidFill>
                <a:latin typeface="Calibri"/>
              </a:defRPr>
            </a:pPr>
            <a:r>
              <a:t>A platform connecting mentors and learners</a:t>
            </a:r>
          </a:p>
          <a:p>
            <a:pPr>
              <a:spcAft>
                <a:spcPts val="1000"/>
              </a:spcAft>
              <a:defRPr sz="1300" b="1">
                <a:solidFill>
                  <a:srgbClr val="176B4E"/>
                </a:solidFill>
                <a:latin typeface="Calibri"/>
              </a:defRPr>
            </a:pPr>
            <a:r>
              <a:t>MERN STACK PROJECT  •  B.TECH CSE</a:t>
            </a:r>
          </a:p>
          <a:p>
            <a:pPr>
              <a:spcAft>
                <a:spcPts val="2000"/>
              </a:spcAft>
              <a:defRPr sz="1300">
                <a:solidFill>
                  <a:srgbClr val="2D3748"/>
                </a:solidFill>
                <a:latin typeface="Calibri"/>
              </a:defRPr>
            </a:pPr>
            <a:r>
              <a:t>GLA University, Mathura  |  Internship at Codroid Hub Pvt. Ltd.</a:t>
            </a:r>
          </a:p>
          <a:p>
            <a:pPr>
              <a:defRPr sz="1100">
                <a:solidFill>
                  <a:srgbClr val="5A6578"/>
                </a:solidFill>
                <a:latin typeface="Calibri"/>
              </a:defRPr>
            </a:pPr>
            <a:r>
              <a:t>A centralized, full-stack peer mentorship web application built with React 19, Node.js, Express, MongoDB Atlas, and Socket.io for frictionless peer tutoring and verifiable skill exchange.</a:t>
            </a:r>
          </a:p>
        </p:txBody>
      </p:sp>
      <p:sp>
        <p:nvSpPr>
          <p:cNvPr id="6" name="Rectangle 5"/>
          <p:cNvSpPr/>
          <p:nvPr/>
        </p:nvSpPr>
        <p:spPr>
          <a:xfrm>
            <a:off x="6309360" y="1005840"/>
            <a:ext cx="5120640" cy="475488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325880"/>
            <a:ext cx="4389120" cy="4114800"/>
          </a:xfrm>
          <a:prstGeom prst="rect">
            <a:avLst/>
          </a:prstGeom>
          <a:noFill/>
        </p:spPr>
        <p:txBody>
          <a:bodyPr wrap="square">
            <a:spAutoFit/>
          </a:bodyPr>
          <a:lstStyle/>
          <a:p>
            <a:pPr>
              <a:spcAft>
                <a:spcPts val="1400"/>
              </a:spcAft>
              <a:defRPr sz="1200" b="1">
                <a:solidFill>
                  <a:srgbClr val="176B4E"/>
                </a:solidFill>
                <a:latin typeface="Calibri"/>
              </a:defRPr>
            </a:pPr>
            <a:r>
              <a:t>TEAM COSMICCODERS  •  GROUP 13</a:t>
            </a:r>
          </a:p>
          <a:p>
            <a:pPr>
              <a:defRPr sz="1100" b="1">
                <a:solidFill>
                  <a:srgbClr val="1A202C"/>
                </a:solidFill>
                <a:latin typeface="Calibri"/>
              </a:defRPr>
            </a:pPr>
            <a:r>
              <a:t>Team Leader:</a:t>
            </a:r>
          </a:p>
          <a:p>
            <a:pPr>
              <a:spcAft>
                <a:spcPts val="1200"/>
              </a:spcAft>
              <a:defRPr sz="1100">
                <a:solidFill>
                  <a:srgbClr val="5A6578"/>
                </a:solidFill>
                <a:latin typeface="Calibri"/>
              </a:defRPr>
            </a:pPr>
            <a:r>
              <a:t>________________________________________</a:t>
            </a:r>
          </a:p>
          <a:p>
            <a:pPr>
              <a:defRPr sz="1100" b="1">
                <a:solidFill>
                  <a:srgbClr val="1A202C"/>
                </a:solidFill>
                <a:latin typeface="Calibri"/>
              </a:defRPr>
            </a:pPr>
            <a:r>
              <a:t>Team Members:</a:t>
            </a:r>
          </a:p>
          <a:p>
            <a:pPr>
              <a:spcAft>
                <a:spcPts val="300"/>
              </a:spcAft>
              <a:defRPr sz="1050">
                <a:solidFill>
                  <a:srgbClr val="5A6578"/>
                </a:solidFill>
                <a:latin typeface="Calibri"/>
              </a:defRPr>
            </a:pPr>
            <a:r>
              <a:t>1. ______________________</a:t>
            </a:r>
          </a:p>
          <a:p>
            <a:pPr>
              <a:spcAft>
                <a:spcPts val="300"/>
              </a:spcAft>
              <a:defRPr sz="1050">
                <a:solidFill>
                  <a:srgbClr val="5A6578"/>
                </a:solidFill>
                <a:latin typeface="Calibri"/>
              </a:defRPr>
            </a:pPr>
            <a:r>
              <a:t>2. ______________________</a:t>
            </a:r>
          </a:p>
          <a:p>
            <a:pPr>
              <a:spcAft>
                <a:spcPts val="300"/>
              </a:spcAft>
              <a:defRPr sz="1050">
                <a:solidFill>
                  <a:srgbClr val="5A6578"/>
                </a:solidFill>
                <a:latin typeface="Calibri"/>
              </a:defRPr>
            </a:pPr>
            <a:r>
              <a:t>3. ______________________</a:t>
            </a:r>
          </a:p>
          <a:p>
            <a:pPr>
              <a:spcAft>
                <a:spcPts val="300"/>
              </a:spcAft>
              <a:defRPr sz="1050">
                <a:solidFill>
                  <a:srgbClr val="5A6578"/>
                </a:solidFill>
                <a:latin typeface="Calibri"/>
              </a:defRPr>
            </a:pPr>
            <a:r>
              <a:t>4. ______________________</a:t>
            </a:r>
          </a:p>
          <a:p>
            <a:pPr>
              <a:spcBef>
                <a:spcPts val="800"/>
              </a:spcBef>
              <a:defRPr sz="1100" b="1">
                <a:solidFill>
                  <a:srgbClr val="1A202C"/>
                </a:solidFill>
                <a:latin typeface="Calibri"/>
              </a:defRPr>
            </a:pPr>
            <a:r>
              <a:t>Project Guide / Mentor:</a:t>
            </a:r>
          </a:p>
          <a:p>
            <a:pPr>
              <a:defRPr sz="1100">
                <a:solidFill>
                  <a:srgbClr val="5A6578"/>
                </a:solidFill>
                <a:latin typeface="Calibri"/>
              </a:defRPr>
            </a:pPr>
            <a:r>
              <a:t>________________________________________</a:t>
            </a:r>
          </a:p>
        </p:txBody>
      </p:sp>
      <p:sp>
        <p:nvSpPr>
          <p:cNvPr id="8" name="TextBox 7"/>
          <p:cNvSpPr txBox="1"/>
          <p:nvPr/>
        </p:nvSpPr>
        <p:spPr>
          <a:xfrm>
            <a:off x="731520" y="6355080"/>
            <a:ext cx="7315200" cy="274320"/>
          </a:xfrm>
          <a:prstGeom prst="rect">
            <a:avLst/>
          </a:prstGeom>
          <a:noFill/>
        </p:spPr>
        <p:txBody>
          <a:bodyPr wrap="none">
            <a:spAutoFit/>
          </a:bodyPr>
          <a:lstStyle/>
          <a:p>
            <a:pPr>
              <a:defRPr sz="1100" i="1">
                <a:solidFill>
                  <a:srgbClr val="5A6578"/>
                </a:solidFill>
                <a:latin typeface="Calibri"/>
              </a:defRPr>
            </a:pPr>
            <a:r>
              <a:t>Learn together.  Share knowledge.  Grow together.</a:t>
            </a:r>
          </a:p>
        </p:txBody>
      </p:sp>
      <p:sp>
        <p:nvSpPr>
          <p:cNvPr id="9" name="TextBox 8"/>
          <p:cNvSpPr txBox="1"/>
          <p:nvPr/>
        </p:nvSpPr>
        <p:spPr>
          <a:xfrm>
            <a:off x="10515600" y="6355080"/>
            <a:ext cx="914400" cy="274320"/>
          </a:xfrm>
          <a:prstGeom prst="rect">
            <a:avLst/>
          </a:prstGeom>
          <a:noFill/>
        </p:spPr>
        <p:txBody>
          <a:bodyPr wrap="none">
            <a:spAutoFit/>
          </a:bodyPr>
          <a:lstStyle/>
          <a:p>
            <a:pPr algn="r">
              <a:defRPr sz="1400" b="1">
                <a:solidFill>
                  <a:srgbClr val="176B4E"/>
                </a:solidFill>
                <a:latin typeface="Calibr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50" b="1">
                <a:solidFill>
                  <a:srgbClr val="176B4E"/>
                </a:solidFill>
                <a:latin typeface="Calibri"/>
              </a:defRPr>
            </a:pPr>
            <a:r>
              <a:t>CONTEXT &amp; MOTIVATION</a:t>
            </a:r>
          </a:p>
        </p:txBody>
      </p:sp>
      <p:sp>
        <p:nvSpPr>
          <p:cNvPr id="3" name="TextBox 2"/>
          <p:cNvSpPr txBox="1"/>
          <p:nvPr/>
        </p:nvSpPr>
        <p:spPr>
          <a:xfrm>
            <a:off x="731520" y="603504"/>
            <a:ext cx="10698480" cy="502920"/>
          </a:xfrm>
          <a:prstGeom prst="rect">
            <a:avLst/>
          </a:prstGeom>
          <a:noFill/>
        </p:spPr>
        <p:txBody>
          <a:bodyPr wrap="square" lIns="0" tIns="0" rIns="0" bIns="0">
            <a:spAutoFit/>
          </a:bodyPr>
          <a:lstStyle/>
          <a:p>
            <a:pPr>
              <a:defRPr sz="2500" b="1">
                <a:solidFill>
                  <a:srgbClr val="176B4E"/>
                </a:solidFill>
                <a:latin typeface="Cambria"/>
              </a:defRPr>
            </a:pPr>
            <a:r>
              <a:t>Problem Statement &amp; Project Objectives</a:t>
            </a:r>
          </a:p>
        </p:txBody>
      </p:sp>
      <p:sp>
        <p:nvSpPr>
          <p:cNvPr id="4" name="TextBox 3"/>
          <p:cNvSpPr txBox="1"/>
          <p:nvPr/>
        </p:nvSpPr>
        <p:spPr>
          <a:xfrm>
            <a:off x="731520" y="6473952"/>
            <a:ext cx="7315200" cy="256032"/>
          </a:xfrm>
          <a:prstGeom prst="rect">
            <a:avLst/>
          </a:prstGeom>
          <a:noFill/>
        </p:spPr>
        <p:txBody>
          <a:bodyPr wrap="none" lIns="0" tIns="0" rIns="0" bIns="0">
            <a:spAutoFit/>
          </a:bodyPr>
          <a:lstStyle/>
          <a:p>
            <a:pPr>
              <a:defRPr sz="950">
                <a:solidFill>
                  <a:srgbClr val="5A6578"/>
                </a:solidFill>
                <a:latin typeface="Calibri"/>
              </a:defRPr>
            </a:pPr>
            <a:r>
              <a:t>Learn together.  Share knowledge.  Grow together.  •  Team CosmicCoders (Group 13)</a:t>
            </a:r>
          </a:p>
        </p:txBody>
      </p:sp>
      <p:sp>
        <p:nvSpPr>
          <p:cNvPr id="5" name="TextBox 4"/>
          <p:cNvSpPr txBox="1"/>
          <p:nvPr/>
        </p:nvSpPr>
        <p:spPr>
          <a:xfrm>
            <a:off x="9601200" y="6473952"/>
            <a:ext cx="1858975" cy="256032"/>
          </a:xfrm>
          <a:prstGeom prst="rect">
            <a:avLst/>
          </a:prstGeom>
          <a:noFill/>
        </p:spPr>
        <p:txBody>
          <a:bodyPr wrap="none" lIns="0" tIns="0" rIns="0" bIns="0">
            <a:spAutoFit/>
          </a:bodyPr>
          <a:lstStyle/>
          <a:p>
            <a:pPr algn="r">
              <a:defRPr sz="1000" b="1">
                <a:solidFill>
                  <a:srgbClr val="176B4E"/>
                </a:solidFill>
                <a:latin typeface="Calibri"/>
              </a:defRPr>
            </a:pPr>
            <a:r>
              <a:t>02 / 10</a:t>
            </a:r>
          </a:p>
        </p:txBody>
      </p:sp>
      <p:sp>
        <p:nvSpPr>
          <p:cNvPr id="6" name="Rectangle 5"/>
          <p:cNvSpPr/>
          <p:nvPr/>
        </p:nvSpPr>
        <p:spPr>
          <a:xfrm>
            <a:off x="731520" y="1325880"/>
            <a:ext cx="5212080" cy="493776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754880" cy="4572000"/>
          </a:xfrm>
          <a:prstGeom prst="rect">
            <a:avLst/>
          </a:prstGeom>
          <a:noFill/>
        </p:spPr>
        <p:txBody>
          <a:bodyPr wrap="square">
            <a:spAutoFit/>
          </a:bodyPr>
          <a:lstStyle/>
          <a:p>
            <a:pPr>
              <a:spcAft>
                <a:spcPts val="1200"/>
              </a:spcAft>
              <a:defRPr sz="1600" b="1">
                <a:solidFill>
                  <a:srgbClr val="176B4E"/>
                </a:solidFill>
                <a:latin typeface="Cambria"/>
              </a:defRPr>
            </a:pPr>
            <a:r>
              <a:t>The Campus Peer Learning Gap</a:t>
            </a:r>
          </a:p>
          <a:p>
            <a:pPr>
              <a:spcAft>
                <a:spcPts val="1000"/>
              </a:spcAft>
            </a:pPr>
            <a:r>
              <a:rPr sz="1050" b="1">
                <a:solidFill>
                  <a:srgbClr val="1A202C"/>
                </a:solidFill>
                <a:latin typeface="Calibri"/>
              </a:rPr>
              <a:t>• Expensive Commercial Tutoring: </a:t>
            </a:r>
            <a:r>
              <a:rPr sz="1000">
                <a:solidFill>
                  <a:srgbClr val="2D3748"/>
                </a:solidFill>
                <a:latin typeface="Calibri"/>
              </a:rPr>
              <a:t>Existing 1-on-1 coaching platforms (Preply, Chegg) charge commercial rates (₹500–₹2500/hr) unaffordable for college students.</a:t>
            </a:r>
          </a:p>
          <a:p>
            <a:pPr>
              <a:spcAft>
                <a:spcPts val="1000"/>
              </a:spcAft>
            </a:pPr>
            <a:r>
              <a:rPr sz="1050" b="1">
                <a:solidFill>
                  <a:srgbClr val="1A202C"/>
                </a:solidFill>
                <a:latin typeface="Calibri"/>
              </a:rPr>
              <a:t>• Fragmented Informal Channels: </a:t>
            </a:r>
            <a:r>
              <a:rPr sz="1000">
                <a:solidFill>
                  <a:srgbClr val="2D3748"/>
                </a:solidFill>
                <a:latin typeface="Calibri"/>
              </a:rPr>
              <a:t>Students arrange peer help across WhatsApp, Discord, and Google Calendar without proper coordination or centralized history.</a:t>
            </a:r>
          </a:p>
          <a:p>
            <a:pPr>
              <a:spcAft>
                <a:spcPts val="1000"/>
              </a:spcAft>
            </a:pPr>
            <a:r>
              <a:rPr sz="1050" b="1">
                <a:solidFill>
                  <a:srgbClr val="1A202C"/>
                </a:solidFill>
                <a:latin typeface="Calibri"/>
              </a:rPr>
              <a:t>• Ghosting &amp; Zero Accountability: </a:t>
            </a:r>
            <a:r>
              <a:rPr sz="1000">
                <a:solidFill>
                  <a:srgbClr val="2D3748"/>
                </a:solidFill>
                <a:latin typeface="Calibri"/>
              </a:rPr>
              <a:t>Informal peer sessions suffer frequent no-shows, delayed cancellations, and lack of scheduling commitment.</a:t>
            </a:r>
          </a:p>
          <a:p>
            <a:pPr>
              <a:spcAft>
                <a:spcPts val="1000"/>
              </a:spcAft>
            </a:pPr>
            <a:r>
              <a:rPr sz="1050" b="1">
                <a:solidFill>
                  <a:srgbClr val="1A202C"/>
                </a:solidFill>
                <a:latin typeface="Calibri"/>
              </a:rPr>
              <a:t>• Lack of Financial Transparency: </a:t>
            </a:r>
            <a:r>
              <a:rPr sz="1000">
                <a:solidFill>
                  <a:srgbClr val="2D3748"/>
                </a:solidFill>
                <a:latin typeface="Calibri"/>
              </a:rPr>
              <a:t>Students lack transparent pricing, receipts, and a secure way to track peer honorariums and mentor payouts.</a:t>
            </a:r>
          </a:p>
        </p:txBody>
      </p:sp>
      <p:sp>
        <p:nvSpPr>
          <p:cNvPr id="8" name="Rectangle 7"/>
          <p:cNvSpPr/>
          <p:nvPr/>
        </p:nvSpPr>
        <p:spPr>
          <a:xfrm>
            <a:off x="6245352" y="1325880"/>
            <a:ext cx="5212080" cy="4937760"/>
          </a:xfrm>
          <a:prstGeom prst="rect">
            <a:avLst/>
          </a:prstGeom>
          <a:solidFill>
            <a:srgbClr val="F2F7F4"/>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508760"/>
            <a:ext cx="4754880" cy="4572000"/>
          </a:xfrm>
          <a:prstGeom prst="rect">
            <a:avLst/>
          </a:prstGeom>
          <a:noFill/>
        </p:spPr>
        <p:txBody>
          <a:bodyPr wrap="square">
            <a:spAutoFit/>
          </a:bodyPr>
          <a:lstStyle/>
          <a:p>
            <a:pPr>
              <a:spcAft>
                <a:spcPts val="1200"/>
              </a:spcAft>
              <a:defRPr sz="1600" b="1">
                <a:solidFill>
                  <a:srgbClr val="176B4E"/>
                </a:solidFill>
                <a:latin typeface="Cambria"/>
              </a:defRPr>
            </a:pPr>
            <a:r>
              <a:t>Project Objectives &amp; Solutions</a:t>
            </a:r>
          </a:p>
          <a:p>
            <a:pPr>
              <a:spcAft>
                <a:spcPts val="800"/>
              </a:spcAft>
            </a:pPr>
            <a:r>
              <a:rPr sz="1050" b="1">
                <a:solidFill>
                  <a:srgbClr val="176B4E"/>
                </a:solidFill>
                <a:latin typeface="Calibri"/>
              </a:rPr>
              <a:t>✓ Unified Peer Platform: </a:t>
            </a:r>
            <a:r>
              <a:rPr sz="1000">
                <a:solidFill>
                  <a:srgbClr val="2D3748"/>
                </a:solidFill>
                <a:latin typeface="Calibri"/>
              </a:rPr>
              <a:t>Build a dedicated web portal where campus learners and mentors connect through verified university profiles.</a:t>
            </a:r>
          </a:p>
          <a:p>
            <a:pPr>
              <a:spcAft>
                <a:spcPts val="800"/>
              </a:spcAft>
            </a:pPr>
            <a:r>
              <a:rPr sz="1050" b="1">
                <a:solidFill>
                  <a:srgbClr val="176B4E"/>
                </a:solidFill>
                <a:latin typeface="Calibri"/>
              </a:rPr>
              <a:t>✓ Deterministic 5-Step Scheduling: </a:t>
            </a:r>
            <a:r>
              <a:rPr sz="1000">
                <a:solidFill>
                  <a:srgbClr val="2D3748"/>
                </a:solidFill>
                <a:latin typeface="Calibri"/>
              </a:rPr>
              <a:t>Provide intuitive duration chips, date selectors, slot validation, and a strict 4-hour automatic request expiration.</a:t>
            </a:r>
          </a:p>
          <a:p>
            <a:pPr>
              <a:spcAft>
                <a:spcPts val="800"/>
              </a:spcAft>
            </a:pPr>
            <a:r>
              <a:rPr sz="1050" b="1">
                <a:solidFill>
                  <a:srgbClr val="176B4E"/>
                </a:solidFill>
                <a:latin typeface="Calibri"/>
              </a:rPr>
              <a:t>✓ Real-Time WebSocket Communication: </a:t>
            </a:r>
            <a:r>
              <a:rPr sz="1000">
                <a:solidFill>
                  <a:srgbClr val="2D3748"/>
                </a:solidFill>
                <a:latin typeface="Calibri"/>
              </a:rPr>
              <a:t>Integrate Socket.io messaging for instant chat with a 5-free message anti-spam quota unlocked upon session booking.</a:t>
            </a:r>
          </a:p>
          <a:p>
            <a:pPr>
              <a:spcAft>
                <a:spcPts val="800"/>
              </a:spcAft>
            </a:pPr>
            <a:r>
              <a:rPr sz="1050" b="1">
                <a:solidFill>
                  <a:srgbClr val="176B4E"/>
                </a:solidFill>
                <a:latin typeface="Calibri"/>
              </a:rPr>
              <a:t>✓ Transparent Wallet &amp; Receipts: </a:t>
            </a:r>
            <a:r>
              <a:rPr sz="1000">
                <a:solidFill>
                  <a:srgbClr val="2D3748"/>
                </a:solidFill>
                <a:latin typeface="Calibri"/>
              </a:rPr>
              <a:t>Implement dual-balance wallet architecture (Top-Up vs Earned), simulated escrow, and 0% platform fee receipts.</a:t>
            </a:r>
          </a:p>
          <a:p>
            <a:pPr>
              <a:spcAft>
                <a:spcPts val="800"/>
              </a:spcAft>
            </a:pPr>
            <a:r>
              <a:rPr sz="1050" b="1">
                <a:solidFill>
                  <a:srgbClr val="176B4E"/>
                </a:solidFill>
                <a:latin typeface="Calibri"/>
              </a:rPr>
              <a:t>✓ Institutional Governance: </a:t>
            </a:r>
            <a:r>
              <a:rPr sz="1000">
                <a:solidFill>
                  <a:srgbClr val="2D3748"/>
                </a:solidFill>
                <a:latin typeface="Calibri"/>
              </a:rPr>
              <a:t>Provide administrators with platform KPIs, member verification/suspension controls, and auditable activity logs.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50" b="1">
                <a:solidFill>
                  <a:srgbClr val="176B4E"/>
                </a:solidFill>
                <a:latin typeface="Calibri"/>
              </a:defRPr>
            </a:pPr>
            <a:r>
              <a:t>TECHNICAL FOUNDATION</a:t>
            </a:r>
          </a:p>
        </p:txBody>
      </p:sp>
      <p:sp>
        <p:nvSpPr>
          <p:cNvPr id="3" name="TextBox 2"/>
          <p:cNvSpPr txBox="1"/>
          <p:nvPr/>
        </p:nvSpPr>
        <p:spPr>
          <a:xfrm>
            <a:off x="731520" y="603504"/>
            <a:ext cx="10698480" cy="502920"/>
          </a:xfrm>
          <a:prstGeom prst="rect">
            <a:avLst/>
          </a:prstGeom>
          <a:noFill/>
        </p:spPr>
        <p:txBody>
          <a:bodyPr wrap="square" lIns="0" tIns="0" rIns="0" bIns="0">
            <a:spAutoFit/>
          </a:bodyPr>
          <a:lstStyle/>
          <a:p>
            <a:pPr>
              <a:defRPr sz="2500" b="1">
                <a:solidFill>
                  <a:srgbClr val="176B4E"/>
                </a:solidFill>
                <a:latin typeface="Cambria"/>
              </a:defRPr>
            </a:pPr>
            <a:r>
              <a:t>System Architecture &amp; MERN Technology Stack</a:t>
            </a:r>
          </a:p>
        </p:txBody>
      </p:sp>
      <p:sp>
        <p:nvSpPr>
          <p:cNvPr id="4" name="TextBox 3"/>
          <p:cNvSpPr txBox="1"/>
          <p:nvPr/>
        </p:nvSpPr>
        <p:spPr>
          <a:xfrm>
            <a:off x="731520" y="6473952"/>
            <a:ext cx="7315200" cy="256032"/>
          </a:xfrm>
          <a:prstGeom prst="rect">
            <a:avLst/>
          </a:prstGeom>
          <a:noFill/>
        </p:spPr>
        <p:txBody>
          <a:bodyPr wrap="none" lIns="0" tIns="0" rIns="0" bIns="0">
            <a:spAutoFit/>
          </a:bodyPr>
          <a:lstStyle/>
          <a:p>
            <a:pPr>
              <a:defRPr sz="950">
                <a:solidFill>
                  <a:srgbClr val="5A6578"/>
                </a:solidFill>
                <a:latin typeface="Calibri"/>
              </a:defRPr>
            </a:pPr>
            <a:r>
              <a:t>Learn together.  Share knowledge.  Grow together.  •  Team CosmicCoders (Group 13)</a:t>
            </a:r>
          </a:p>
        </p:txBody>
      </p:sp>
      <p:sp>
        <p:nvSpPr>
          <p:cNvPr id="5" name="TextBox 4"/>
          <p:cNvSpPr txBox="1"/>
          <p:nvPr/>
        </p:nvSpPr>
        <p:spPr>
          <a:xfrm>
            <a:off x="9601200" y="6473952"/>
            <a:ext cx="1858975" cy="256032"/>
          </a:xfrm>
          <a:prstGeom prst="rect">
            <a:avLst/>
          </a:prstGeom>
          <a:noFill/>
        </p:spPr>
        <p:txBody>
          <a:bodyPr wrap="none" lIns="0" tIns="0" rIns="0" bIns="0">
            <a:spAutoFit/>
          </a:bodyPr>
          <a:lstStyle/>
          <a:p>
            <a:pPr algn="r">
              <a:defRPr sz="1000" b="1">
                <a:solidFill>
                  <a:srgbClr val="176B4E"/>
                </a:solidFill>
                <a:latin typeface="Calibri"/>
              </a:defRPr>
            </a:pPr>
            <a:r>
              <a:t>03 / 10</a:t>
            </a:r>
          </a:p>
        </p:txBody>
      </p:sp>
      <p:sp>
        <p:nvSpPr>
          <p:cNvPr id="6" name="Rectangle 5"/>
          <p:cNvSpPr/>
          <p:nvPr/>
        </p:nvSpPr>
        <p:spPr>
          <a:xfrm>
            <a:off x="731520" y="1325880"/>
            <a:ext cx="2542032" cy="214884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463040"/>
            <a:ext cx="2212848" cy="1874520"/>
          </a:xfrm>
          <a:prstGeom prst="rect">
            <a:avLst/>
          </a:prstGeom>
          <a:noFill/>
        </p:spPr>
        <p:txBody>
          <a:bodyPr wrap="square">
            <a:spAutoFit/>
          </a:bodyPr>
          <a:lstStyle/>
          <a:p>
            <a:pPr>
              <a:spcAft>
                <a:spcPts val="200"/>
              </a:spcAft>
              <a:defRPr sz="1200" b="1">
                <a:solidFill>
                  <a:srgbClr val="176B4E"/>
                </a:solidFill>
                <a:latin typeface="Cambria"/>
              </a:defRPr>
            </a:pPr>
            <a:r>
              <a:t>1. Client Frontend</a:t>
            </a:r>
          </a:p>
          <a:p>
            <a:pPr>
              <a:spcAft>
                <a:spcPts val="600"/>
              </a:spcAft>
              <a:defRPr sz="950" b="1">
                <a:solidFill>
                  <a:srgbClr val="1A202C"/>
                </a:solidFill>
                <a:latin typeface="Calibri"/>
              </a:defRPr>
            </a:pPr>
            <a:r>
              <a:t>React 19 &amp; Vite</a:t>
            </a:r>
          </a:p>
          <a:p>
            <a:pPr>
              <a:spcAft>
                <a:spcPts val="200"/>
              </a:spcAft>
              <a:defRPr sz="850">
                <a:solidFill>
                  <a:srgbClr val="2D3748"/>
                </a:solidFill>
                <a:latin typeface="Calibri"/>
              </a:defRPr>
            </a:pPr>
            <a:r>
              <a:t>• Component-driven SPA architecture</a:t>
            </a:r>
          </a:p>
          <a:p>
            <a:pPr>
              <a:spcAft>
                <a:spcPts val="200"/>
              </a:spcAft>
              <a:defRPr sz="850">
                <a:solidFill>
                  <a:srgbClr val="2D3748"/>
                </a:solidFill>
                <a:latin typeface="Calibri"/>
              </a:defRPr>
            </a:pPr>
            <a:r>
              <a:t>• Tailwind &amp; custom CSS with Light/Dark mode</a:t>
            </a:r>
          </a:p>
          <a:p>
            <a:pPr>
              <a:spcAft>
                <a:spcPts val="200"/>
              </a:spcAft>
              <a:defRPr sz="850">
                <a:solidFill>
                  <a:srgbClr val="2D3748"/>
                </a:solidFill>
                <a:latin typeface="Calibri"/>
              </a:defRPr>
            </a:pPr>
            <a:r>
              <a:t>• Role-based routing &amp; Socket.io client</a:t>
            </a:r>
          </a:p>
        </p:txBody>
      </p:sp>
      <p:sp>
        <p:nvSpPr>
          <p:cNvPr id="8" name="Rectangle 7"/>
          <p:cNvSpPr/>
          <p:nvPr/>
        </p:nvSpPr>
        <p:spPr>
          <a:xfrm>
            <a:off x="3447288" y="1325880"/>
            <a:ext cx="2542032" cy="214884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463040"/>
            <a:ext cx="2212848" cy="1874520"/>
          </a:xfrm>
          <a:prstGeom prst="rect">
            <a:avLst/>
          </a:prstGeom>
          <a:noFill/>
        </p:spPr>
        <p:txBody>
          <a:bodyPr wrap="square">
            <a:spAutoFit/>
          </a:bodyPr>
          <a:lstStyle/>
          <a:p>
            <a:pPr>
              <a:spcAft>
                <a:spcPts val="200"/>
              </a:spcAft>
              <a:defRPr sz="1200" b="1">
                <a:solidFill>
                  <a:srgbClr val="176B4E"/>
                </a:solidFill>
                <a:latin typeface="Cambria"/>
              </a:defRPr>
            </a:pPr>
            <a:r>
              <a:t>2. Application API</a:t>
            </a:r>
          </a:p>
          <a:p>
            <a:pPr>
              <a:spcAft>
                <a:spcPts val="600"/>
              </a:spcAft>
              <a:defRPr sz="950" b="1">
                <a:solidFill>
                  <a:srgbClr val="1A202C"/>
                </a:solidFill>
                <a:latin typeface="Calibri"/>
              </a:defRPr>
            </a:pPr>
            <a:r>
              <a:t>Node.js &amp; Express.js</a:t>
            </a:r>
          </a:p>
          <a:p>
            <a:pPr>
              <a:spcAft>
                <a:spcPts val="200"/>
              </a:spcAft>
              <a:defRPr sz="850">
                <a:solidFill>
                  <a:srgbClr val="2D3748"/>
                </a:solidFill>
                <a:latin typeface="Calibri"/>
              </a:defRPr>
            </a:pPr>
            <a:r>
              <a:t>• RESTful JSON controllers &amp; routes</a:t>
            </a:r>
          </a:p>
          <a:p>
            <a:pPr>
              <a:spcAft>
                <a:spcPts val="200"/>
              </a:spcAft>
              <a:defRPr sz="850">
                <a:solidFill>
                  <a:srgbClr val="2D3748"/>
                </a:solidFill>
                <a:latin typeface="Calibri"/>
              </a:defRPr>
            </a:pPr>
            <a:r>
              <a:t>• JWT bearer auth &amp; RBAC middleware</a:t>
            </a:r>
          </a:p>
          <a:p>
            <a:pPr>
              <a:spcAft>
                <a:spcPts val="200"/>
              </a:spcAft>
              <a:defRPr sz="850">
                <a:solidFill>
                  <a:srgbClr val="2D3748"/>
                </a:solidFill>
                <a:latin typeface="Calibri"/>
              </a:defRPr>
            </a:pPr>
            <a:r>
              <a:t>• Booking lifecycle engine &amp; fee calculators</a:t>
            </a:r>
          </a:p>
        </p:txBody>
      </p:sp>
      <p:sp>
        <p:nvSpPr>
          <p:cNvPr id="10" name="Rectangle 9"/>
          <p:cNvSpPr/>
          <p:nvPr/>
        </p:nvSpPr>
        <p:spPr>
          <a:xfrm>
            <a:off x="6163056" y="1325880"/>
            <a:ext cx="2542032" cy="214884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1463040"/>
            <a:ext cx="2212848" cy="1874520"/>
          </a:xfrm>
          <a:prstGeom prst="rect">
            <a:avLst/>
          </a:prstGeom>
          <a:noFill/>
        </p:spPr>
        <p:txBody>
          <a:bodyPr wrap="square">
            <a:spAutoFit/>
          </a:bodyPr>
          <a:lstStyle/>
          <a:p>
            <a:pPr>
              <a:spcAft>
                <a:spcPts val="200"/>
              </a:spcAft>
              <a:defRPr sz="1200" b="1">
                <a:solidFill>
                  <a:srgbClr val="176B4E"/>
                </a:solidFill>
                <a:latin typeface="Cambria"/>
              </a:defRPr>
            </a:pPr>
            <a:r>
              <a:t>3. Real-Time Engine</a:t>
            </a:r>
          </a:p>
          <a:p>
            <a:pPr>
              <a:spcAft>
                <a:spcPts val="600"/>
              </a:spcAft>
              <a:defRPr sz="950" b="1">
                <a:solidFill>
                  <a:srgbClr val="1A202C"/>
                </a:solidFill>
                <a:latin typeface="Calibri"/>
              </a:defRPr>
            </a:pPr>
            <a:r>
              <a:t>Socket.io WebSockets</a:t>
            </a:r>
          </a:p>
          <a:p>
            <a:pPr>
              <a:spcAft>
                <a:spcPts val="200"/>
              </a:spcAft>
              <a:defRPr sz="850">
                <a:solidFill>
                  <a:srgbClr val="2D3748"/>
                </a:solidFill>
                <a:latin typeface="Calibri"/>
              </a:defRPr>
            </a:pPr>
            <a:r>
              <a:t>• Bi-directional event-driven messaging</a:t>
            </a:r>
          </a:p>
          <a:p>
            <a:pPr>
              <a:spcAft>
                <a:spcPts val="200"/>
              </a:spcAft>
              <a:defRPr sz="850">
                <a:solidFill>
                  <a:srgbClr val="2D3748"/>
                </a:solidFill>
                <a:latin typeface="Calibri"/>
              </a:defRPr>
            </a:pPr>
            <a:r>
              <a:t>• Room-based chat sessions &amp; typing events</a:t>
            </a:r>
          </a:p>
          <a:p>
            <a:pPr>
              <a:spcAft>
                <a:spcPts val="200"/>
              </a:spcAft>
              <a:defRPr sz="850">
                <a:solidFill>
                  <a:srgbClr val="2D3748"/>
                </a:solidFill>
                <a:latin typeface="Calibri"/>
              </a:defRPr>
            </a:pPr>
            <a:r>
              <a:t>• Unread badge counters &amp; online status</a:t>
            </a:r>
          </a:p>
        </p:txBody>
      </p:sp>
      <p:sp>
        <p:nvSpPr>
          <p:cNvPr id="12" name="Rectangle 11"/>
          <p:cNvSpPr/>
          <p:nvPr/>
        </p:nvSpPr>
        <p:spPr>
          <a:xfrm>
            <a:off x="8878824" y="1325880"/>
            <a:ext cx="2542032" cy="214884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463040"/>
            <a:ext cx="2212848" cy="1874520"/>
          </a:xfrm>
          <a:prstGeom prst="rect">
            <a:avLst/>
          </a:prstGeom>
          <a:noFill/>
        </p:spPr>
        <p:txBody>
          <a:bodyPr wrap="square">
            <a:spAutoFit/>
          </a:bodyPr>
          <a:lstStyle/>
          <a:p>
            <a:pPr>
              <a:spcAft>
                <a:spcPts val="200"/>
              </a:spcAft>
              <a:defRPr sz="1200" b="1">
                <a:solidFill>
                  <a:srgbClr val="176B4E"/>
                </a:solidFill>
                <a:latin typeface="Cambria"/>
              </a:defRPr>
            </a:pPr>
            <a:r>
              <a:t>4. Database Cloud</a:t>
            </a:r>
          </a:p>
          <a:p>
            <a:pPr>
              <a:spcAft>
                <a:spcPts val="600"/>
              </a:spcAft>
              <a:defRPr sz="950" b="1">
                <a:solidFill>
                  <a:srgbClr val="1A202C"/>
                </a:solidFill>
                <a:latin typeface="Calibri"/>
              </a:defRPr>
            </a:pPr>
            <a:r>
              <a:t>MongoDB Atlas</a:t>
            </a:r>
          </a:p>
          <a:p>
            <a:pPr>
              <a:spcAft>
                <a:spcPts val="200"/>
              </a:spcAft>
              <a:defRPr sz="850">
                <a:solidFill>
                  <a:srgbClr val="2D3748"/>
                </a:solidFill>
                <a:latin typeface="Calibri"/>
              </a:defRPr>
            </a:pPr>
            <a:r>
              <a:t>• Mongoose ODM for robust schema indexing</a:t>
            </a:r>
          </a:p>
          <a:p>
            <a:pPr>
              <a:spcAft>
                <a:spcPts val="200"/>
              </a:spcAft>
              <a:defRPr sz="850">
                <a:solidFill>
                  <a:srgbClr val="2D3748"/>
                </a:solidFill>
                <a:latin typeface="Calibri"/>
              </a:defRPr>
            </a:pPr>
            <a:r>
              <a:t>• Collections: Users, Bookings, Messages,</a:t>
            </a:r>
          </a:p>
          <a:p>
            <a:pPr>
              <a:spcAft>
                <a:spcPts val="200"/>
              </a:spcAft>
              <a:defRPr sz="850">
                <a:solidFill>
                  <a:srgbClr val="2D3748"/>
                </a:solidFill>
                <a:latin typeface="Calibri"/>
              </a:defRPr>
            </a:pPr>
            <a:r>
              <a:t>• Reviews, Wallets, and Audit Logs</a:t>
            </a:r>
          </a:p>
        </p:txBody>
      </p:sp>
      <p:sp>
        <p:nvSpPr>
          <p:cNvPr id="14" name="Rectangle 13"/>
          <p:cNvSpPr/>
          <p:nvPr/>
        </p:nvSpPr>
        <p:spPr>
          <a:xfrm>
            <a:off x="731520" y="3611880"/>
            <a:ext cx="5257800" cy="2651760"/>
          </a:xfrm>
          <a:prstGeom prst="rect">
            <a:avLst/>
          </a:prstGeom>
          <a:solidFill>
            <a:srgbClr val="F2F7F4"/>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49040"/>
            <a:ext cx="4800600" cy="2377440"/>
          </a:xfrm>
          <a:prstGeom prst="rect">
            <a:avLst/>
          </a:prstGeom>
          <a:noFill/>
        </p:spPr>
        <p:txBody>
          <a:bodyPr wrap="square">
            <a:spAutoFit/>
          </a:bodyPr>
          <a:lstStyle/>
          <a:p>
            <a:pPr>
              <a:spcAft>
                <a:spcPts val="600"/>
              </a:spcAft>
              <a:defRPr sz="1300" b="1">
                <a:solidFill>
                  <a:srgbClr val="176B4E"/>
                </a:solidFill>
                <a:latin typeface="Cambria"/>
              </a:defRPr>
            </a:pPr>
            <a:r>
              <a:t>End-to-End Data Flow Pipeline</a:t>
            </a:r>
          </a:p>
          <a:p>
            <a:pPr>
              <a:spcAft>
                <a:spcPts val="300"/>
              </a:spcAft>
            </a:pPr>
            <a:r>
              <a:rPr sz="950" b="1">
                <a:solidFill>
                  <a:srgbClr val="1A202C"/>
                </a:solidFill>
                <a:latin typeface="Calibri"/>
              </a:rPr>
              <a:t>→ Client Request: </a:t>
            </a:r>
            <a:r>
              <a:rPr sz="900">
                <a:solidFill>
                  <a:srgbClr val="2D3748"/>
                </a:solidFill>
                <a:latin typeface="Calibri"/>
              </a:rPr>
              <a:t>React client dispatches REST HTTP requests via Axios interceptor with Bearer JWT.</a:t>
            </a:r>
          </a:p>
          <a:p>
            <a:pPr>
              <a:spcAft>
                <a:spcPts val="300"/>
              </a:spcAft>
            </a:pPr>
            <a:r>
              <a:rPr sz="950" b="1">
                <a:solidFill>
                  <a:srgbClr val="1A202C"/>
                </a:solidFill>
                <a:latin typeface="Calibri"/>
              </a:rPr>
              <a:t>→ Auth Validation: </a:t>
            </a:r>
            <a:r>
              <a:rPr sz="900">
                <a:solidFill>
                  <a:srgbClr val="2D3748"/>
                </a:solidFill>
                <a:latin typeface="Calibri"/>
              </a:rPr>
              <a:t>Express authMiddleware intercepts request, verifies JWT signature, and attaches req.user.</a:t>
            </a:r>
          </a:p>
          <a:p>
            <a:pPr>
              <a:spcAft>
                <a:spcPts val="300"/>
              </a:spcAft>
            </a:pPr>
            <a:r>
              <a:rPr sz="950" b="1">
                <a:solidFill>
                  <a:srgbClr val="1A202C"/>
                </a:solidFill>
                <a:latin typeface="Calibri"/>
              </a:rPr>
              <a:t>→ Business Logic: </a:t>
            </a:r>
            <a:r>
              <a:rPr sz="900">
                <a:solidFill>
                  <a:srgbClr val="2D3748"/>
                </a:solidFill>
                <a:latin typeface="Calibri"/>
              </a:rPr>
              <a:t>Dedicated controllers (booking, user, payment) execute slot checking, state changes, or calculations.</a:t>
            </a:r>
          </a:p>
          <a:p>
            <a:pPr>
              <a:spcAft>
                <a:spcPts val="300"/>
              </a:spcAft>
            </a:pPr>
            <a:r>
              <a:rPr sz="950" b="1">
                <a:solidFill>
                  <a:srgbClr val="1A202C"/>
                </a:solidFill>
                <a:latin typeface="Calibri"/>
              </a:rPr>
              <a:t>→ Persistence Layer: </a:t>
            </a:r>
            <a:r>
              <a:rPr sz="900">
                <a:solidFill>
                  <a:srgbClr val="2D3748"/>
                </a:solidFill>
                <a:latin typeface="Calibri"/>
              </a:rPr>
              <a:t>Mongoose models validate constraints, timestamps, and save documents into MongoDB Atlas.</a:t>
            </a:r>
          </a:p>
        </p:txBody>
      </p:sp>
      <p:sp>
        <p:nvSpPr>
          <p:cNvPr id="16" name="Rectangle 15"/>
          <p:cNvSpPr/>
          <p:nvPr/>
        </p:nvSpPr>
        <p:spPr>
          <a:xfrm>
            <a:off x="6199632" y="3611880"/>
            <a:ext cx="5257800" cy="265176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749040"/>
            <a:ext cx="4800600" cy="2377440"/>
          </a:xfrm>
          <a:prstGeom prst="rect">
            <a:avLst/>
          </a:prstGeom>
          <a:noFill/>
        </p:spPr>
        <p:txBody>
          <a:bodyPr wrap="square">
            <a:spAutoFit/>
          </a:bodyPr>
          <a:lstStyle/>
          <a:p>
            <a:pPr>
              <a:spcAft>
                <a:spcPts val="600"/>
              </a:spcAft>
              <a:defRPr sz="1300" b="1">
                <a:solidFill>
                  <a:srgbClr val="176B4E"/>
                </a:solidFill>
                <a:latin typeface="Cambria"/>
              </a:defRPr>
            </a:pPr>
            <a:r>
              <a:t>Security Standards &amp; Integrations</a:t>
            </a:r>
          </a:p>
          <a:p>
            <a:pPr>
              <a:spcAft>
                <a:spcPts val="300"/>
              </a:spcAft>
            </a:pPr>
            <a:r>
              <a:rPr sz="950" b="1">
                <a:solidFill>
                  <a:srgbClr val="1A202C"/>
                </a:solidFill>
                <a:latin typeface="Calibri"/>
              </a:rPr>
              <a:t>🔒 Cryptographic Hashing: </a:t>
            </a:r>
            <a:r>
              <a:rPr sz="900">
                <a:solidFill>
                  <a:srgbClr val="2D3748"/>
                </a:solidFill>
                <a:latin typeface="Calibri"/>
              </a:rPr>
              <a:t>Passwords hashed using 10-round salted Bcrypt prior to database insertion.</a:t>
            </a:r>
          </a:p>
          <a:p>
            <a:pPr>
              <a:spcAft>
                <a:spcPts val="300"/>
              </a:spcAft>
            </a:pPr>
            <a:r>
              <a:rPr sz="950" b="1">
                <a:solidFill>
                  <a:srgbClr val="1A202C"/>
                </a:solidFill>
                <a:latin typeface="Calibri"/>
              </a:rPr>
              <a:t>🔒 Stateless JWT Authorization: </a:t>
            </a:r>
            <a:r>
              <a:rPr sz="900">
                <a:solidFill>
                  <a:srgbClr val="2D3748"/>
                </a:solidFill>
                <a:latin typeface="Calibri"/>
              </a:rPr>
              <a:t>HS256 tokens carrying role claims (Learner, Mentor, Admin) preventing privilege escalation.</a:t>
            </a:r>
          </a:p>
          <a:p>
            <a:pPr>
              <a:spcAft>
                <a:spcPts val="300"/>
              </a:spcAft>
            </a:pPr>
            <a:r>
              <a:rPr sz="950" b="1">
                <a:solidFill>
                  <a:srgbClr val="1A202C"/>
                </a:solidFill>
                <a:latin typeface="Calibri"/>
              </a:rPr>
              <a:t>🔒 Payment Checkout Gateway: </a:t>
            </a:r>
            <a:r>
              <a:rPr sz="900">
                <a:solidFill>
                  <a:srgbClr val="2D3748"/>
                </a:solidFill>
                <a:latin typeface="Calibri"/>
              </a:rPr>
              <a:t>Razorpay integration supporting test card/UPI checkout, combined with wallet balances.</a:t>
            </a:r>
          </a:p>
          <a:p>
            <a:pPr>
              <a:spcAft>
                <a:spcPts val="300"/>
              </a:spcAft>
            </a:pPr>
            <a:r>
              <a:rPr sz="950" b="1">
                <a:solidFill>
                  <a:srgbClr val="1A202C"/>
                </a:solidFill>
                <a:latin typeface="Calibri"/>
              </a:rPr>
              <a:t>🔒 Simulated Escrow Protection: </a:t>
            </a:r>
            <a:r>
              <a:rPr sz="900">
                <a:solidFill>
                  <a:srgbClr val="2D3748"/>
                </a:solidFill>
                <a:latin typeface="Calibri"/>
              </a:rPr>
              <a:t>Transparent fee model: 0% platform fee, 0% tax, ₹0 extra convenience fees credited on completion.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50" b="1">
                <a:solidFill>
                  <a:srgbClr val="176B4E"/>
                </a:solidFill>
                <a:latin typeface="Calibri"/>
              </a:defRPr>
            </a:pPr>
            <a:r>
              <a:t>CORE FUNCTIONAL MODULE</a:t>
            </a:r>
          </a:p>
        </p:txBody>
      </p:sp>
      <p:sp>
        <p:nvSpPr>
          <p:cNvPr id="3" name="TextBox 2"/>
          <p:cNvSpPr txBox="1"/>
          <p:nvPr/>
        </p:nvSpPr>
        <p:spPr>
          <a:xfrm>
            <a:off x="731520" y="603504"/>
            <a:ext cx="10698480" cy="502920"/>
          </a:xfrm>
          <a:prstGeom prst="rect">
            <a:avLst/>
          </a:prstGeom>
          <a:noFill/>
        </p:spPr>
        <p:txBody>
          <a:bodyPr wrap="square" lIns="0" tIns="0" rIns="0" bIns="0">
            <a:spAutoFit/>
          </a:bodyPr>
          <a:lstStyle/>
          <a:p>
            <a:pPr>
              <a:defRPr sz="2500" b="1">
                <a:solidFill>
                  <a:srgbClr val="176B4E"/>
                </a:solidFill>
                <a:latin typeface="Cambria"/>
              </a:defRPr>
            </a:pPr>
            <a:r>
              <a:t>Module 01: Authentication, Profiles &amp; Skill Management</a:t>
            </a:r>
          </a:p>
        </p:txBody>
      </p:sp>
      <p:sp>
        <p:nvSpPr>
          <p:cNvPr id="4" name="TextBox 3"/>
          <p:cNvSpPr txBox="1"/>
          <p:nvPr/>
        </p:nvSpPr>
        <p:spPr>
          <a:xfrm>
            <a:off x="731520" y="6473952"/>
            <a:ext cx="7315200" cy="256032"/>
          </a:xfrm>
          <a:prstGeom prst="rect">
            <a:avLst/>
          </a:prstGeom>
          <a:noFill/>
        </p:spPr>
        <p:txBody>
          <a:bodyPr wrap="none" lIns="0" tIns="0" rIns="0" bIns="0">
            <a:spAutoFit/>
          </a:bodyPr>
          <a:lstStyle/>
          <a:p>
            <a:pPr>
              <a:defRPr sz="950">
                <a:solidFill>
                  <a:srgbClr val="5A6578"/>
                </a:solidFill>
                <a:latin typeface="Calibri"/>
              </a:defRPr>
            </a:pPr>
            <a:r>
              <a:t>Learn together.  Share knowledge.  Grow together.  •  Team CosmicCoders (Group 13)</a:t>
            </a:r>
          </a:p>
        </p:txBody>
      </p:sp>
      <p:sp>
        <p:nvSpPr>
          <p:cNvPr id="5" name="TextBox 4"/>
          <p:cNvSpPr txBox="1"/>
          <p:nvPr/>
        </p:nvSpPr>
        <p:spPr>
          <a:xfrm>
            <a:off x="9601200" y="6473952"/>
            <a:ext cx="1858975" cy="256032"/>
          </a:xfrm>
          <a:prstGeom prst="rect">
            <a:avLst/>
          </a:prstGeom>
          <a:noFill/>
        </p:spPr>
        <p:txBody>
          <a:bodyPr wrap="none" lIns="0" tIns="0" rIns="0" bIns="0">
            <a:spAutoFit/>
          </a:bodyPr>
          <a:lstStyle/>
          <a:p>
            <a:pPr algn="r">
              <a:defRPr sz="1000" b="1">
                <a:solidFill>
                  <a:srgbClr val="176B4E"/>
                </a:solidFill>
                <a:latin typeface="Calibri"/>
              </a:defRPr>
            </a:pPr>
            <a:r>
              <a:t>04 / 10</a:t>
            </a:r>
          </a:p>
        </p:txBody>
      </p:sp>
      <p:sp>
        <p:nvSpPr>
          <p:cNvPr id="6" name="Rectangle 5"/>
          <p:cNvSpPr/>
          <p:nvPr/>
        </p:nvSpPr>
        <p:spPr>
          <a:xfrm>
            <a:off x="731520" y="1325880"/>
            <a:ext cx="5120640" cy="493776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72000"/>
          </a:xfrm>
          <a:prstGeom prst="rect">
            <a:avLst/>
          </a:prstGeom>
          <a:noFill/>
        </p:spPr>
        <p:txBody>
          <a:bodyPr wrap="square">
            <a:spAutoFit/>
          </a:bodyPr>
          <a:lstStyle/>
          <a:p>
            <a:pPr>
              <a:spcAft>
                <a:spcPts val="800"/>
              </a:spcAft>
              <a:defRPr sz="1400" b="1">
                <a:solidFill>
                  <a:srgbClr val="176B4E"/>
                </a:solidFill>
                <a:latin typeface="Cambria"/>
              </a:defRPr>
            </a:pPr>
            <a:r>
              <a:t>Identity, Access &amp; Profile Capabilities</a:t>
            </a:r>
          </a:p>
          <a:p>
            <a:pPr>
              <a:spcAft>
                <a:spcPts val="600"/>
              </a:spcAft>
            </a:pPr>
            <a:r>
              <a:rPr sz="1000" b="1">
                <a:solidFill>
                  <a:srgbClr val="1A202C"/>
                </a:solidFill>
                <a:latin typeface="Calibri"/>
              </a:rPr>
              <a:t>• Dual-Role Registration: </a:t>
            </a:r>
            <a:r>
              <a:rPr sz="950">
                <a:solidFill>
                  <a:srgbClr val="2D3748"/>
                </a:solidFill>
                <a:latin typeface="Calibri"/>
              </a:rPr>
              <a:t>Users choose between 'Learn Skills' and 'Teach &amp; Mentor' during signup with specific validation schemas.</a:t>
            </a:r>
          </a:p>
          <a:p>
            <a:pPr>
              <a:spcAft>
                <a:spcPts val="600"/>
              </a:spcAft>
            </a:pPr>
            <a:r>
              <a:rPr sz="1000" b="1">
                <a:solidFill>
                  <a:srgbClr val="1A202C"/>
                </a:solidFill>
                <a:latin typeface="Calibri"/>
              </a:rPr>
              <a:t>• Cryptographic Security: </a:t>
            </a:r>
            <a:r>
              <a:rPr sz="950">
                <a:solidFill>
                  <a:srgbClr val="2D3748"/>
                </a:solidFill>
                <a:latin typeface="Calibri"/>
              </a:rPr>
              <a:t>Passwords hashed with Bcrypt (10 salt rounds); validated sessions return signed JWT bearer tokens stored in localStorage.</a:t>
            </a:r>
          </a:p>
          <a:p>
            <a:pPr>
              <a:spcAft>
                <a:spcPts val="600"/>
              </a:spcAft>
            </a:pPr>
            <a:r>
              <a:rPr sz="1000" b="1">
                <a:solidFill>
                  <a:srgbClr val="1A202C"/>
                </a:solidFill>
                <a:latin typeface="Calibri"/>
              </a:rPr>
              <a:t>• Learner Profile &amp; Goals: </a:t>
            </a:r>
            <a:r>
              <a:rPr sz="950">
                <a:solidFill>
                  <a:srgbClr val="2D3748"/>
                </a:solidFill>
                <a:latin typeface="Calibri"/>
              </a:rPr>
              <a:t>Learners maintain academic bios, learning goals (React, Node.js, System Design), and track profile completion percentages.</a:t>
            </a:r>
          </a:p>
          <a:p>
            <a:pPr>
              <a:spcAft>
                <a:spcPts val="600"/>
              </a:spcAft>
            </a:pPr>
            <a:r>
              <a:rPr sz="1000" b="1">
                <a:solidFill>
                  <a:srgbClr val="1A202C"/>
                </a:solidFill>
                <a:latin typeface="Calibri"/>
              </a:rPr>
              <a:t>• Mentor Skill Depth &amp; Rates: </a:t>
            </a:r>
            <a:r>
              <a:rPr sz="950">
                <a:solidFill>
                  <a:srgbClr val="2D3748"/>
                </a:solidFill>
                <a:latin typeface="Calibri"/>
              </a:rPr>
              <a:t>Mentors showcase domain expertise, granular skill proficiency ratings (Beginner to Expert), and set hourly rates (₹/hr).</a:t>
            </a:r>
          </a:p>
          <a:p>
            <a:pPr>
              <a:spcAft>
                <a:spcPts val="600"/>
              </a:spcAft>
            </a:pPr>
            <a:r>
              <a:rPr sz="1000" b="1">
                <a:solidFill>
                  <a:srgbClr val="1A202C"/>
                </a:solidFill>
                <a:latin typeface="Calibri"/>
              </a:rPr>
              <a:t>• Public Profile &amp; Trust Badges: </a:t>
            </a:r>
            <a:r>
              <a:rPr sz="950">
                <a:solidFill>
                  <a:srgbClr val="2D3748"/>
                </a:solidFill>
                <a:latin typeface="Calibri"/>
              </a:rPr>
              <a:t>Public profile showcase allows peers to inspect bios, verified university badges, average star ratings, and community reviews.</a:t>
            </a:r>
          </a:p>
          <a:p>
            <a:pPr>
              <a:spcBef>
                <a:spcPts val="800"/>
              </a:spcBef>
              <a:defRPr sz="900" b="1">
                <a:solidFill>
                  <a:srgbClr val="176B4E"/>
                </a:solidFill>
                <a:latin typeface="Calibri"/>
              </a:defRPr>
            </a:pPr>
            <a:r>
              <a:t>APIs: POST /api/register, POST /api/login, GET/PUT /api/profile | Model: UserSchema</a:t>
            </a:r>
          </a:p>
        </p:txBody>
      </p:sp>
      <p:pic>
        <p:nvPicPr>
          <p:cNvPr id="8" name="Picture 7" descr="02b_signup.png"/>
          <p:cNvPicPr>
            <a:picLocks noChangeAspect="1"/>
          </p:cNvPicPr>
          <p:nvPr/>
        </p:nvPicPr>
        <p:blipFill>
          <a:blip r:embed="rId2"/>
          <a:stretch>
            <a:fillRect/>
          </a:stretch>
        </p:blipFill>
        <p:spPr>
          <a:xfrm>
            <a:off x="6080760" y="1325880"/>
            <a:ext cx="5376672" cy="2395728"/>
          </a:xfrm>
          <a:prstGeom prst="rect">
            <a:avLst/>
          </a:prstGeom>
          <a:ln w="12700">
            <a:solidFill>
              <a:srgbClr val="D1E3D9"/>
            </a:solidFill>
          </a:ln>
        </p:spPr>
      </p:pic>
      <p:pic>
        <p:nvPicPr>
          <p:cNvPr id="9" name="Picture 8" descr="03a_my_profile.png"/>
          <p:cNvPicPr>
            <a:picLocks noChangeAspect="1"/>
          </p:cNvPicPr>
          <p:nvPr/>
        </p:nvPicPr>
        <p:blipFill>
          <a:blip r:embed="rId3"/>
          <a:stretch>
            <a:fillRect/>
          </a:stretch>
        </p:blipFill>
        <p:spPr>
          <a:xfrm>
            <a:off x="6080760" y="3867912"/>
            <a:ext cx="5376672" cy="2395728"/>
          </a:xfrm>
          <a:prstGeom prst="rect">
            <a:avLst/>
          </a:prstGeom>
          <a:ln w="12700">
            <a:solidFill>
              <a:srgbClr val="D1E3D9"/>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50" b="1">
                <a:solidFill>
                  <a:srgbClr val="176B4E"/>
                </a:solidFill>
                <a:latin typeface="Calibri"/>
              </a:defRPr>
            </a:pPr>
            <a:r>
              <a:t>CORE FUNCTIONAL MODULE</a:t>
            </a:r>
          </a:p>
        </p:txBody>
      </p:sp>
      <p:sp>
        <p:nvSpPr>
          <p:cNvPr id="3" name="TextBox 2"/>
          <p:cNvSpPr txBox="1"/>
          <p:nvPr/>
        </p:nvSpPr>
        <p:spPr>
          <a:xfrm>
            <a:off x="731520" y="603504"/>
            <a:ext cx="10698480" cy="502920"/>
          </a:xfrm>
          <a:prstGeom prst="rect">
            <a:avLst/>
          </a:prstGeom>
          <a:noFill/>
        </p:spPr>
        <p:txBody>
          <a:bodyPr wrap="square" lIns="0" tIns="0" rIns="0" bIns="0">
            <a:spAutoFit/>
          </a:bodyPr>
          <a:lstStyle/>
          <a:p>
            <a:pPr>
              <a:defRPr sz="2500" b="1">
                <a:solidFill>
                  <a:srgbClr val="176B4E"/>
                </a:solidFill>
                <a:latin typeface="Cambria"/>
              </a:defRPr>
            </a:pPr>
            <a:r>
              <a:t>Module 02: Peer Discovery &amp; Intelligent AI Matcher</a:t>
            </a:r>
          </a:p>
        </p:txBody>
      </p:sp>
      <p:sp>
        <p:nvSpPr>
          <p:cNvPr id="4" name="TextBox 3"/>
          <p:cNvSpPr txBox="1"/>
          <p:nvPr/>
        </p:nvSpPr>
        <p:spPr>
          <a:xfrm>
            <a:off x="731520" y="6473952"/>
            <a:ext cx="7315200" cy="256032"/>
          </a:xfrm>
          <a:prstGeom prst="rect">
            <a:avLst/>
          </a:prstGeom>
          <a:noFill/>
        </p:spPr>
        <p:txBody>
          <a:bodyPr wrap="none" lIns="0" tIns="0" rIns="0" bIns="0">
            <a:spAutoFit/>
          </a:bodyPr>
          <a:lstStyle/>
          <a:p>
            <a:pPr>
              <a:defRPr sz="950">
                <a:solidFill>
                  <a:srgbClr val="5A6578"/>
                </a:solidFill>
                <a:latin typeface="Calibri"/>
              </a:defRPr>
            </a:pPr>
            <a:r>
              <a:t>Learn together.  Share knowledge.  Grow together.  •  Team CosmicCoders (Group 13)</a:t>
            </a:r>
          </a:p>
        </p:txBody>
      </p:sp>
      <p:sp>
        <p:nvSpPr>
          <p:cNvPr id="5" name="TextBox 4"/>
          <p:cNvSpPr txBox="1"/>
          <p:nvPr/>
        </p:nvSpPr>
        <p:spPr>
          <a:xfrm>
            <a:off x="9601200" y="6473952"/>
            <a:ext cx="1858975" cy="256032"/>
          </a:xfrm>
          <a:prstGeom prst="rect">
            <a:avLst/>
          </a:prstGeom>
          <a:noFill/>
        </p:spPr>
        <p:txBody>
          <a:bodyPr wrap="none" lIns="0" tIns="0" rIns="0" bIns="0">
            <a:spAutoFit/>
          </a:bodyPr>
          <a:lstStyle/>
          <a:p>
            <a:pPr algn="r">
              <a:defRPr sz="1000" b="1">
                <a:solidFill>
                  <a:srgbClr val="176B4E"/>
                </a:solidFill>
                <a:latin typeface="Calibri"/>
              </a:defRPr>
            </a:pPr>
            <a:r>
              <a:t>05 / 10</a:t>
            </a:r>
          </a:p>
        </p:txBody>
      </p:sp>
      <p:sp>
        <p:nvSpPr>
          <p:cNvPr id="6" name="Rectangle 5"/>
          <p:cNvSpPr/>
          <p:nvPr/>
        </p:nvSpPr>
        <p:spPr>
          <a:xfrm>
            <a:off x="731520" y="1325880"/>
            <a:ext cx="5120640" cy="493776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72000"/>
          </a:xfrm>
          <a:prstGeom prst="rect">
            <a:avLst/>
          </a:prstGeom>
          <a:noFill/>
        </p:spPr>
        <p:txBody>
          <a:bodyPr wrap="square">
            <a:spAutoFit/>
          </a:bodyPr>
          <a:lstStyle/>
          <a:p>
            <a:pPr>
              <a:spcAft>
                <a:spcPts val="800"/>
              </a:spcAft>
              <a:defRPr sz="1400" b="1">
                <a:solidFill>
                  <a:srgbClr val="176B4E"/>
                </a:solidFill>
                <a:latin typeface="Cambria"/>
              </a:defRPr>
            </a:pPr>
            <a:r>
              <a:t>Search, Filtering &amp; AI Compatibility Engine</a:t>
            </a:r>
          </a:p>
          <a:p>
            <a:pPr>
              <a:spcAft>
                <a:spcPts val="600"/>
              </a:spcAft>
            </a:pPr>
            <a:r>
              <a:rPr sz="1000" b="1">
                <a:solidFill>
                  <a:srgbClr val="1A202C"/>
                </a:solidFill>
                <a:latin typeface="Calibri"/>
              </a:rPr>
              <a:t>• Searchable Community Catalog: </a:t>
            </a:r>
            <a:r>
              <a:rPr sz="950">
                <a:solidFill>
                  <a:srgbClr val="2D3748"/>
                </a:solidFill>
                <a:latin typeface="Calibri"/>
              </a:rPr>
              <a:t>Fast indexed directory listing verified mentors across modern technical stacks (React, Node.js, Python, System Design).</a:t>
            </a:r>
          </a:p>
          <a:p>
            <a:pPr>
              <a:spcAft>
                <a:spcPts val="600"/>
              </a:spcAft>
            </a:pPr>
            <a:r>
              <a:rPr sz="1000" b="1">
                <a:solidFill>
                  <a:srgbClr val="1A202C"/>
                </a:solidFill>
                <a:latin typeface="Calibri"/>
              </a:rPr>
              <a:t>• Live Multi-Parametric Filters: </a:t>
            </a:r>
            <a:r>
              <a:rPr sz="950">
                <a:solidFill>
                  <a:srgbClr val="2D3748"/>
                </a:solidFill>
                <a:latin typeface="Calibri"/>
              </a:rPr>
              <a:t>Instant client-side filtering by mentor name, skill tags, availability days, and fee ranges without page reloads.</a:t>
            </a:r>
          </a:p>
          <a:p>
            <a:pPr>
              <a:spcAft>
                <a:spcPts val="600"/>
              </a:spcAft>
            </a:pPr>
            <a:r>
              <a:rPr sz="1000" b="1">
                <a:solidFill>
                  <a:srgbClr val="1A202C"/>
                </a:solidFill>
                <a:latin typeface="Calibri"/>
              </a:rPr>
              <a:t>• Card Transparency: </a:t>
            </a:r>
            <a:r>
              <a:rPr sz="950">
                <a:solidFill>
                  <a:srgbClr val="2D3748"/>
                </a:solidFill>
                <a:latin typeface="Calibri"/>
              </a:rPr>
              <a:t>Each mentor card highlights teaching skills, verified university badge, hourly rate (e.g. ₹500/hr), and star reviews.</a:t>
            </a:r>
          </a:p>
          <a:p>
            <a:pPr>
              <a:spcAft>
                <a:spcPts val="600"/>
              </a:spcAft>
            </a:pPr>
            <a:r>
              <a:rPr sz="1000" b="1">
                <a:solidFill>
                  <a:srgbClr val="1A202C"/>
                </a:solidFill>
                <a:latin typeface="Calibri"/>
              </a:rPr>
              <a:t>• Gemini-Powered AI Matcher: </a:t>
            </a:r>
            <a:r>
              <a:rPr sz="950">
                <a:solidFill>
                  <a:srgbClr val="2D3748"/>
                </a:solidFill>
                <a:latin typeface="Calibri"/>
              </a:rPr>
              <a:t>Dedicated 'AI Matcher' modal analyzes learner's desired skills, learning rhythm, and mentor schedule compatibility to recommend optimal peers.</a:t>
            </a:r>
          </a:p>
          <a:p>
            <a:pPr>
              <a:spcAft>
                <a:spcPts val="600"/>
              </a:spcAft>
            </a:pPr>
            <a:r>
              <a:rPr sz="1000" b="1">
                <a:solidFill>
                  <a:srgbClr val="1A202C"/>
                </a:solidFill>
                <a:latin typeface="Calibri"/>
              </a:rPr>
              <a:t>• One-Click Profile Inspection: </a:t>
            </a:r>
            <a:r>
              <a:rPr sz="950">
                <a:solidFill>
                  <a:srgbClr val="2D3748"/>
                </a:solidFill>
                <a:latin typeface="Calibri"/>
              </a:rPr>
              <a:t>Learners can seamlessly navigate from discovery to detailed mentor profiles to review student testimonials and initiate booking.</a:t>
            </a:r>
          </a:p>
          <a:p>
            <a:pPr>
              <a:spcBef>
                <a:spcPts val="800"/>
              </a:spcBef>
              <a:defRPr sz="900" b="1">
                <a:solidFill>
                  <a:srgbClr val="176B4E"/>
                </a:solidFill>
                <a:latin typeface="Calibri"/>
              </a:defRPr>
            </a:pPr>
            <a:r>
              <a:t>APIs: GET /api/users/mentors, POST /api/ai/match | Components: DiscoverPage.jsx, AIMatcherModal.jsx</a:t>
            </a:r>
          </a:p>
        </p:txBody>
      </p:sp>
      <p:pic>
        <p:nvPicPr>
          <p:cNvPr id="8" name="Picture 7" descr="04_discover.png"/>
          <p:cNvPicPr>
            <a:picLocks noChangeAspect="1"/>
          </p:cNvPicPr>
          <p:nvPr/>
        </p:nvPicPr>
        <p:blipFill>
          <a:blip r:embed="rId2"/>
          <a:stretch>
            <a:fillRect/>
          </a:stretch>
        </p:blipFill>
        <p:spPr>
          <a:xfrm>
            <a:off x="6080760" y="1325880"/>
            <a:ext cx="5376672" cy="2395728"/>
          </a:xfrm>
          <a:prstGeom prst="rect">
            <a:avLst/>
          </a:prstGeom>
          <a:ln w="12700">
            <a:solidFill>
              <a:srgbClr val="D1E3D9"/>
            </a:solidFill>
          </a:ln>
        </p:spPr>
      </p:pic>
      <p:pic>
        <p:nvPicPr>
          <p:cNvPr id="9" name="Picture 8" descr="04b_ai_matcher.png"/>
          <p:cNvPicPr>
            <a:picLocks noChangeAspect="1"/>
          </p:cNvPicPr>
          <p:nvPr/>
        </p:nvPicPr>
        <p:blipFill>
          <a:blip r:embed="rId3"/>
          <a:stretch>
            <a:fillRect/>
          </a:stretch>
        </p:blipFill>
        <p:spPr>
          <a:xfrm>
            <a:off x="6080760" y="3867912"/>
            <a:ext cx="5376672" cy="2395728"/>
          </a:xfrm>
          <a:prstGeom prst="rect">
            <a:avLst/>
          </a:prstGeom>
          <a:ln w="12700">
            <a:solidFill>
              <a:srgbClr val="D1E3D9"/>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50" b="1">
                <a:solidFill>
                  <a:srgbClr val="176B4E"/>
                </a:solidFill>
                <a:latin typeface="Calibri"/>
              </a:defRPr>
            </a:pPr>
            <a:r>
              <a:t>SIGNATURE FEATURE</a:t>
            </a:r>
          </a:p>
        </p:txBody>
      </p:sp>
      <p:sp>
        <p:nvSpPr>
          <p:cNvPr id="3" name="TextBox 2"/>
          <p:cNvSpPr txBox="1"/>
          <p:nvPr/>
        </p:nvSpPr>
        <p:spPr>
          <a:xfrm>
            <a:off x="731520" y="603504"/>
            <a:ext cx="10698480" cy="502920"/>
          </a:xfrm>
          <a:prstGeom prst="rect">
            <a:avLst/>
          </a:prstGeom>
          <a:noFill/>
        </p:spPr>
        <p:txBody>
          <a:bodyPr wrap="square" lIns="0" tIns="0" rIns="0" bIns="0">
            <a:spAutoFit/>
          </a:bodyPr>
          <a:lstStyle/>
          <a:p>
            <a:pPr>
              <a:defRPr sz="2500" b="1">
                <a:solidFill>
                  <a:srgbClr val="176B4E"/>
                </a:solidFill>
                <a:latin typeface="Cambria"/>
              </a:defRPr>
            </a:pPr>
            <a:r>
              <a:t>Module 03: 5-Stage Session Booking &amp; Slot Negotiation</a:t>
            </a:r>
          </a:p>
        </p:txBody>
      </p:sp>
      <p:sp>
        <p:nvSpPr>
          <p:cNvPr id="4" name="TextBox 3"/>
          <p:cNvSpPr txBox="1"/>
          <p:nvPr/>
        </p:nvSpPr>
        <p:spPr>
          <a:xfrm>
            <a:off x="731520" y="6473952"/>
            <a:ext cx="7315200" cy="256032"/>
          </a:xfrm>
          <a:prstGeom prst="rect">
            <a:avLst/>
          </a:prstGeom>
          <a:noFill/>
        </p:spPr>
        <p:txBody>
          <a:bodyPr wrap="none" lIns="0" tIns="0" rIns="0" bIns="0">
            <a:spAutoFit/>
          </a:bodyPr>
          <a:lstStyle/>
          <a:p>
            <a:pPr>
              <a:defRPr sz="950">
                <a:solidFill>
                  <a:srgbClr val="5A6578"/>
                </a:solidFill>
                <a:latin typeface="Calibri"/>
              </a:defRPr>
            </a:pPr>
            <a:r>
              <a:t>Learn together.  Share knowledge.  Grow together.  •  Team CosmicCoders (Group 13)</a:t>
            </a:r>
          </a:p>
        </p:txBody>
      </p:sp>
      <p:sp>
        <p:nvSpPr>
          <p:cNvPr id="5" name="TextBox 4"/>
          <p:cNvSpPr txBox="1"/>
          <p:nvPr/>
        </p:nvSpPr>
        <p:spPr>
          <a:xfrm>
            <a:off x="9601200" y="6473952"/>
            <a:ext cx="1858975" cy="256032"/>
          </a:xfrm>
          <a:prstGeom prst="rect">
            <a:avLst/>
          </a:prstGeom>
          <a:noFill/>
        </p:spPr>
        <p:txBody>
          <a:bodyPr wrap="none" lIns="0" tIns="0" rIns="0" bIns="0">
            <a:spAutoFit/>
          </a:bodyPr>
          <a:lstStyle/>
          <a:p>
            <a:pPr algn="r">
              <a:defRPr sz="1000" b="1">
                <a:solidFill>
                  <a:srgbClr val="176B4E"/>
                </a:solidFill>
                <a:latin typeface="Calibri"/>
              </a:defRPr>
            </a:pPr>
            <a:r>
              <a:t>06 / 10</a:t>
            </a:r>
          </a:p>
        </p:txBody>
      </p:sp>
      <p:sp>
        <p:nvSpPr>
          <p:cNvPr id="6" name="Rectangle 5"/>
          <p:cNvSpPr/>
          <p:nvPr/>
        </p:nvSpPr>
        <p:spPr>
          <a:xfrm>
            <a:off x="731520" y="1325880"/>
            <a:ext cx="5120640" cy="493776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72000"/>
          </a:xfrm>
          <a:prstGeom prst="rect">
            <a:avLst/>
          </a:prstGeom>
          <a:noFill/>
        </p:spPr>
        <p:txBody>
          <a:bodyPr wrap="square">
            <a:spAutoFit/>
          </a:bodyPr>
          <a:lstStyle/>
          <a:p>
            <a:pPr>
              <a:spcAft>
                <a:spcPts val="800"/>
              </a:spcAft>
              <a:defRPr sz="1400" b="1">
                <a:solidFill>
                  <a:srgbClr val="176B4E"/>
                </a:solidFill>
                <a:latin typeface="Cambria"/>
              </a:defRPr>
            </a:pPr>
            <a:r>
              <a:t>Deterministic 5-Step Scheduling Lifecycle</a:t>
            </a:r>
          </a:p>
          <a:p>
            <a:pPr>
              <a:spcAft>
                <a:spcPts val="600"/>
              </a:spcAft>
            </a:pPr>
            <a:r>
              <a:rPr sz="1000" b="1">
                <a:solidFill>
                  <a:srgbClr val="1A202C"/>
                </a:solidFill>
                <a:latin typeface="Calibri"/>
              </a:rPr>
              <a:t>• Step 1: Duration &amp; Date Selection: </a:t>
            </a:r>
            <a:r>
              <a:rPr sz="950">
                <a:solidFill>
                  <a:srgbClr val="2D3748"/>
                </a:solidFill>
                <a:latin typeface="Calibri"/>
              </a:rPr>
              <a:t>Learner selects session duration (30m, 45m, 1h, 1.5h, 2h) and upcoming date chips with automatic cost calculation.</a:t>
            </a:r>
          </a:p>
          <a:p>
            <a:pPr>
              <a:spcAft>
                <a:spcPts val="600"/>
              </a:spcAft>
            </a:pPr>
            <a:r>
              <a:rPr sz="1000" b="1">
                <a:solidFill>
                  <a:srgbClr val="1A202C"/>
                </a:solidFill>
                <a:latin typeface="Calibri"/>
              </a:rPr>
              <a:t>• Step 2: Real-Time Slot Validation: </a:t>
            </a:r>
            <a:r>
              <a:rPr sz="950">
                <a:solidFill>
                  <a:srgbClr val="2D3748"/>
                </a:solidFill>
                <a:latin typeface="Calibri"/>
              </a:rPr>
              <a:t>System checks mentor's active calendar availability to eliminate double-booking conflicts before submission.</a:t>
            </a:r>
          </a:p>
          <a:p>
            <a:pPr>
              <a:spcAft>
                <a:spcPts val="600"/>
              </a:spcAft>
            </a:pPr>
            <a:r>
              <a:rPr sz="1000" b="1">
                <a:solidFill>
                  <a:srgbClr val="1A202C"/>
                </a:solidFill>
                <a:latin typeface="Calibri"/>
              </a:rPr>
              <a:t>• Step 3: Mentor Response Window: </a:t>
            </a:r>
            <a:r>
              <a:rPr sz="950">
                <a:solidFill>
                  <a:srgbClr val="2D3748"/>
                </a:solidFill>
                <a:latin typeface="Calibri"/>
              </a:rPr>
              <a:t>Mentor receives the request and can Approve, Propose Alternate Slots, or Decline with custom feedback.</a:t>
            </a:r>
          </a:p>
          <a:p>
            <a:pPr>
              <a:spcAft>
                <a:spcPts val="600"/>
              </a:spcAft>
            </a:pPr>
            <a:r>
              <a:rPr sz="1000" b="1">
                <a:solidFill>
                  <a:srgbClr val="1A202C"/>
                </a:solidFill>
                <a:latin typeface="Calibri"/>
              </a:rPr>
              <a:t>• Step 4: Automatic 4-Hour Expiration: </a:t>
            </a:r>
            <a:r>
              <a:rPr sz="950">
                <a:solidFill>
                  <a:srgbClr val="2D3748"/>
                </a:solidFill>
                <a:latin typeface="Calibri"/>
              </a:rPr>
              <a:t>Unanswered pending requests automatically expire after 4 hours, preventing stale bookings and scheduling deadlock.</a:t>
            </a:r>
          </a:p>
          <a:p>
            <a:pPr>
              <a:spcAft>
                <a:spcPts val="600"/>
              </a:spcAft>
            </a:pPr>
            <a:r>
              <a:rPr sz="1000" b="1">
                <a:solidFill>
                  <a:srgbClr val="1A202C"/>
                </a:solidFill>
                <a:latin typeface="Calibri"/>
              </a:rPr>
              <a:t>• Step 5: Escrow Payment &amp; Confirmation: </a:t>
            </a:r>
            <a:r>
              <a:rPr sz="950">
                <a:solidFill>
                  <a:srgbClr val="2D3748"/>
                </a:solidFill>
                <a:latin typeface="Calibri"/>
              </a:rPr>
              <a:t>Payment is authorized via wallet or checkout and held securely in escrow until the session is successfully conducted.</a:t>
            </a:r>
          </a:p>
          <a:p>
            <a:pPr>
              <a:spcBef>
                <a:spcPts val="800"/>
              </a:spcBef>
              <a:defRPr sz="900" b="1">
                <a:solidFill>
                  <a:srgbClr val="176B4E"/>
                </a:solidFill>
                <a:latin typeface="Calibri"/>
              </a:defRPr>
            </a:pPr>
            <a:r>
              <a:t>APIs: POST /api/bookings, PUT /api/bookings/:id/status | Model: BookingSchema (Enum status)</a:t>
            </a:r>
          </a:p>
        </p:txBody>
      </p:sp>
      <p:pic>
        <p:nvPicPr>
          <p:cNvPr id="8" name="Picture 7" descr="07_booking_flow.png"/>
          <p:cNvPicPr>
            <a:picLocks noChangeAspect="1"/>
          </p:cNvPicPr>
          <p:nvPr/>
        </p:nvPicPr>
        <p:blipFill>
          <a:blip r:embed="rId2"/>
          <a:stretch>
            <a:fillRect/>
          </a:stretch>
        </p:blipFill>
        <p:spPr>
          <a:xfrm>
            <a:off x="6080760" y="1325880"/>
            <a:ext cx="5376672" cy="2395728"/>
          </a:xfrm>
          <a:prstGeom prst="rect">
            <a:avLst/>
          </a:prstGeom>
          <a:ln w="12700">
            <a:solidFill>
              <a:srgbClr val="D1E3D9"/>
            </a:solidFill>
          </a:ln>
        </p:spPr>
      </p:pic>
      <p:pic>
        <p:nvPicPr>
          <p:cNvPr id="9" name="Picture 8" descr="07_payment_checkout.png"/>
          <p:cNvPicPr>
            <a:picLocks noChangeAspect="1"/>
          </p:cNvPicPr>
          <p:nvPr/>
        </p:nvPicPr>
        <p:blipFill>
          <a:blip r:embed="rId3"/>
          <a:stretch>
            <a:fillRect/>
          </a:stretch>
        </p:blipFill>
        <p:spPr>
          <a:xfrm>
            <a:off x="6080760" y="3867912"/>
            <a:ext cx="5376672" cy="2395728"/>
          </a:xfrm>
          <a:prstGeom prst="rect">
            <a:avLst/>
          </a:prstGeom>
          <a:ln w="12700">
            <a:solidFill>
              <a:srgbClr val="D1E3D9"/>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50" b="1">
                <a:solidFill>
                  <a:srgbClr val="176B4E"/>
                </a:solidFill>
                <a:latin typeface="Calibri"/>
              </a:defRPr>
            </a:pPr>
            <a:r>
              <a:t>CORE FUNCTIONAL MODULE</a:t>
            </a:r>
          </a:p>
        </p:txBody>
      </p:sp>
      <p:sp>
        <p:nvSpPr>
          <p:cNvPr id="3" name="TextBox 2"/>
          <p:cNvSpPr txBox="1"/>
          <p:nvPr/>
        </p:nvSpPr>
        <p:spPr>
          <a:xfrm>
            <a:off x="731520" y="603504"/>
            <a:ext cx="10698480" cy="502920"/>
          </a:xfrm>
          <a:prstGeom prst="rect">
            <a:avLst/>
          </a:prstGeom>
          <a:noFill/>
        </p:spPr>
        <p:txBody>
          <a:bodyPr wrap="square" lIns="0" tIns="0" rIns="0" bIns="0">
            <a:spAutoFit/>
          </a:bodyPr>
          <a:lstStyle/>
          <a:p>
            <a:pPr>
              <a:defRPr sz="2500" b="1">
                <a:solidFill>
                  <a:srgbClr val="176B4E"/>
                </a:solidFill>
                <a:latin typeface="Cambria"/>
              </a:defRPr>
            </a:pPr>
            <a:r>
              <a:t>Module 04: Real-Time Chat &amp; Wallet / Payment Engine</a:t>
            </a:r>
          </a:p>
        </p:txBody>
      </p:sp>
      <p:sp>
        <p:nvSpPr>
          <p:cNvPr id="4" name="TextBox 3"/>
          <p:cNvSpPr txBox="1"/>
          <p:nvPr/>
        </p:nvSpPr>
        <p:spPr>
          <a:xfrm>
            <a:off x="731520" y="6473952"/>
            <a:ext cx="7315200" cy="256032"/>
          </a:xfrm>
          <a:prstGeom prst="rect">
            <a:avLst/>
          </a:prstGeom>
          <a:noFill/>
        </p:spPr>
        <p:txBody>
          <a:bodyPr wrap="none" lIns="0" tIns="0" rIns="0" bIns="0">
            <a:spAutoFit/>
          </a:bodyPr>
          <a:lstStyle/>
          <a:p>
            <a:pPr>
              <a:defRPr sz="950">
                <a:solidFill>
                  <a:srgbClr val="5A6578"/>
                </a:solidFill>
                <a:latin typeface="Calibri"/>
              </a:defRPr>
            </a:pPr>
            <a:r>
              <a:t>Learn together.  Share knowledge.  Grow together.  •  Team CosmicCoders (Group 13)</a:t>
            </a:r>
          </a:p>
        </p:txBody>
      </p:sp>
      <p:sp>
        <p:nvSpPr>
          <p:cNvPr id="5" name="TextBox 4"/>
          <p:cNvSpPr txBox="1"/>
          <p:nvPr/>
        </p:nvSpPr>
        <p:spPr>
          <a:xfrm>
            <a:off x="9601200" y="6473952"/>
            <a:ext cx="1858975" cy="256032"/>
          </a:xfrm>
          <a:prstGeom prst="rect">
            <a:avLst/>
          </a:prstGeom>
          <a:noFill/>
        </p:spPr>
        <p:txBody>
          <a:bodyPr wrap="none" lIns="0" tIns="0" rIns="0" bIns="0">
            <a:spAutoFit/>
          </a:bodyPr>
          <a:lstStyle/>
          <a:p>
            <a:pPr algn="r">
              <a:defRPr sz="1000" b="1">
                <a:solidFill>
                  <a:srgbClr val="176B4E"/>
                </a:solidFill>
                <a:latin typeface="Calibri"/>
              </a:defRPr>
            </a:pPr>
            <a:r>
              <a:t>07 / 10</a:t>
            </a:r>
          </a:p>
        </p:txBody>
      </p:sp>
      <p:sp>
        <p:nvSpPr>
          <p:cNvPr id="6" name="Rectangle 5"/>
          <p:cNvSpPr/>
          <p:nvPr/>
        </p:nvSpPr>
        <p:spPr>
          <a:xfrm>
            <a:off x="731520" y="1325880"/>
            <a:ext cx="5120640" cy="493776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72000"/>
          </a:xfrm>
          <a:prstGeom prst="rect">
            <a:avLst/>
          </a:prstGeom>
          <a:noFill/>
        </p:spPr>
        <p:txBody>
          <a:bodyPr wrap="square">
            <a:spAutoFit/>
          </a:bodyPr>
          <a:lstStyle/>
          <a:p>
            <a:pPr>
              <a:spcAft>
                <a:spcPts val="800"/>
              </a:spcAft>
              <a:defRPr sz="1400" b="1">
                <a:solidFill>
                  <a:srgbClr val="176B4E"/>
                </a:solidFill>
                <a:latin typeface="Cambria"/>
              </a:defRPr>
            </a:pPr>
            <a:r>
              <a:t>WebSocket Messaging &amp; Dual-Balance Wallet</a:t>
            </a:r>
          </a:p>
          <a:p>
            <a:pPr>
              <a:spcAft>
                <a:spcPts val="600"/>
              </a:spcAft>
            </a:pPr>
            <a:r>
              <a:rPr sz="1000" b="1">
                <a:solidFill>
                  <a:srgbClr val="1A202C"/>
                </a:solidFill>
                <a:latin typeface="Calibri"/>
              </a:rPr>
              <a:t>• Socket.io Bi-Directional Messaging: </a:t>
            </a:r>
            <a:r>
              <a:rPr sz="950">
                <a:solidFill>
                  <a:srgbClr val="2D3748"/>
                </a:solidFill>
                <a:latin typeface="Calibri"/>
              </a:rPr>
              <a:t>Sub-100ms instant message delivery with live connection indicators, typing events, and unread counters.</a:t>
            </a:r>
          </a:p>
          <a:p>
            <a:pPr>
              <a:spcAft>
                <a:spcPts val="600"/>
              </a:spcAft>
            </a:pPr>
            <a:r>
              <a:rPr sz="1000" b="1">
                <a:solidFill>
                  <a:srgbClr val="1A202C"/>
                </a:solidFill>
                <a:latin typeface="Calibri"/>
              </a:rPr>
              <a:t>• Anti-Spam 5-Message Quota: </a:t>
            </a:r>
            <a:r>
              <a:rPr sz="950">
                <a:solidFill>
                  <a:srgbClr val="2D3748"/>
                </a:solidFill>
                <a:latin typeface="Calibri"/>
              </a:rPr>
              <a:t>To prevent mentor harassment, free direct chat is strictly capped at 5 messages until a 1-on-1 session is booked; booking unlocks unlimited messaging.</a:t>
            </a:r>
          </a:p>
          <a:p>
            <a:pPr>
              <a:spcAft>
                <a:spcPts val="600"/>
              </a:spcAft>
            </a:pPr>
            <a:r>
              <a:rPr sz="1000" b="1">
                <a:solidFill>
                  <a:srgbClr val="1A202C"/>
                </a:solidFill>
                <a:latin typeface="Calibri"/>
              </a:rPr>
              <a:t>• Dual-Balance Wallet Architecture: </a:t>
            </a:r>
            <a:r>
              <a:rPr sz="950">
                <a:solidFill>
                  <a:srgbClr val="2D3748"/>
                </a:solidFill>
                <a:latin typeface="Calibri"/>
              </a:rPr>
              <a:t>Separates spendable 'Top-Up Balance' (for purchasing sessions) from 'Earned Balance' (mentor revenue credited upon session completion).</a:t>
            </a:r>
          </a:p>
          <a:p>
            <a:pPr>
              <a:spcAft>
                <a:spcPts val="600"/>
              </a:spcAft>
            </a:pPr>
            <a:r>
              <a:rPr sz="1000" b="1">
                <a:solidFill>
                  <a:srgbClr val="1A202C"/>
                </a:solidFill>
                <a:latin typeface="Calibri"/>
              </a:rPr>
              <a:t>• Transparent Pricing &amp; 0% Fees: </a:t>
            </a:r>
            <a:r>
              <a:rPr sz="950">
                <a:solidFill>
                  <a:srgbClr val="2D3748"/>
                </a:solidFill>
                <a:latin typeface="Calibri"/>
              </a:rPr>
              <a:t>Clear session receipts with 0% platform deductions, 0% convenience fees, and 0% taxes; 100% of agreed fees credit to the mentor.</a:t>
            </a:r>
          </a:p>
          <a:p>
            <a:pPr>
              <a:spcAft>
                <a:spcPts val="600"/>
              </a:spcAft>
            </a:pPr>
            <a:r>
              <a:rPr sz="1000" b="1">
                <a:solidFill>
                  <a:srgbClr val="1A202C"/>
                </a:solidFill>
                <a:latin typeface="Calibri"/>
              </a:rPr>
              <a:t>• Manual Settlement &amp; Payout Tracking: </a:t>
            </a:r>
            <a:r>
              <a:rPr sz="950">
                <a:solidFill>
                  <a:srgbClr val="2D3748"/>
                </a:solidFill>
                <a:latin typeface="Calibri"/>
              </a:rPr>
              <a:t>Mentors configure registered UPI IDs to receive disbursed earnings tracked through life-time revenue and pending settlement cards.</a:t>
            </a:r>
          </a:p>
          <a:p>
            <a:pPr>
              <a:spcBef>
                <a:spcPts val="800"/>
              </a:spcBef>
              <a:defRPr sz="900" b="1">
                <a:solidFill>
                  <a:srgbClr val="176B4E"/>
                </a:solidFill>
                <a:latin typeface="Calibri"/>
              </a:defRPr>
            </a:pPr>
            <a:r>
              <a:t>Sockets: send_message, receive_message, typing | APIs: GET /api/wallet, POST /api/wallet/topup</a:t>
            </a:r>
          </a:p>
        </p:txBody>
      </p:sp>
      <p:pic>
        <p:nvPicPr>
          <p:cNvPr id="8" name="Picture 7" descr="08_chat.png"/>
          <p:cNvPicPr>
            <a:picLocks noChangeAspect="1"/>
          </p:cNvPicPr>
          <p:nvPr/>
        </p:nvPicPr>
        <p:blipFill>
          <a:blip r:embed="rId2"/>
          <a:stretch>
            <a:fillRect/>
          </a:stretch>
        </p:blipFill>
        <p:spPr>
          <a:xfrm>
            <a:off x="6080760" y="1325880"/>
            <a:ext cx="5376672" cy="2395728"/>
          </a:xfrm>
          <a:prstGeom prst="rect">
            <a:avLst/>
          </a:prstGeom>
          <a:ln w="12700">
            <a:solidFill>
              <a:srgbClr val="D1E3D9"/>
            </a:solidFill>
          </a:ln>
        </p:spPr>
      </p:pic>
      <p:pic>
        <p:nvPicPr>
          <p:cNvPr id="9" name="Picture 8" descr="06b_mentor_earnings.png"/>
          <p:cNvPicPr>
            <a:picLocks noChangeAspect="1"/>
          </p:cNvPicPr>
          <p:nvPr/>
        </p:nvPicPr>
        <p:blipFill>
          <a:blip r:embed="rId3"/>
          <a:stretch>
            <a:fillRect/>
          </a:stretch>
        </p:blipFill>
        <p:spPr>
          <a:xfrm>
            <a:off x="6080760" y="3867912"/>
            <a:ext cx="5376672" cy="2395728"/>
          </a:xfrm>
          <a:prstGeom prst="rect">
            <a:avLst/>
          </a:prstGeom>
          <a:ln w="12700">
            <a:solidFill>
              <a:srgbClr val="D1E3D9"/>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50" b="1">
                <a:solidFill>
                  <a:srgbClr val="176B4E"/>
                </a:solidFill>
                <a:latin typeface="Calibri"/>
              </a:defRPr>
            </a:pPr>
            <a:r>
              <a:t>CORE FUNCTIONAL MODULE</a:t>
            </a:r>
          </a:p>
        </p:txBody>
      </p:sp>
      <p:sp>
        <p:nvSpPr>
          <p:cNvPr id="3" name="TextBox 2"/>
          <p:cNvSpPr txBox="1"/>
          <p:nvPr/>
        </p:nvSpPr>
        <p:spPr>
          <a:xfrm>
            <a:off x="731520" y="603504"/>
            <a:ext cx="10698480" cy="502920"/>
          </a:xfrm>
          <a:prstGeom prst="rect">
            <a:avLst/>
          </a:prstGeom>
          <a:noFill/>
        </p:spPr>
        <p:txBody>
          <a:bodyPr wrap="square" lIns="0" tIns="0" rIns="0" bIns="0">
            <a:spAutoFit/>
          </a:bodyPr>
          <a:lstStyle/>
          <a:p>
            <a:pPr>
              <a:defRPr sz="2500" b="1">
                <a:solidFill>
                  <a:srgbClr val="176B4E"/>
                </a:solidFill>
                <a:latin typeface="Cambria"/>
              </a:defRPr>
            </a:pPr>
            <a:r>
              <a:t>Module 05: Role Dashboards, Analytics &amp; Community Trust</a:t>
            </a:r>
          </a:p>
        </p:txBody>
      </p:sp>
      <p:sp>
        <p:nvSpPr>
          <p:cNvPr id="4" name="TextBox 3"/>
          <p:cNvSpPr txBox="1"/>
          <p:nvPr/>
        </p:nvSpPr>
        <p:spPr>
          <a:xfrm>
            <a:off x="731520" y="6473952"/>
            <a:ext cx="7315200" cy="256032"/>
          </a:xfrm>
          <a:prstGeom prst="rect">
            <a:avLst/>
          </a:prstGeom>
          <a:noFill/>
        </p:spPr>
        <p:txBody>
          <a:bodyPr wrap="none" lIns="0" tIns="0" rIns="0" bIns="0">
            <a:spAutoFit/>
          </a:bodyPr>
          <a:lstStyle/>
          <a:p>
            <a:pPr>
              <a:defRPr sz="950">
                <a:solidFill>
                  <a:srgbClr val="5A6578"/>
                </a:solidFill>
                <a:latin typeface="Calibri"/>
              </a:defRPr>
            </a:pPr>
            <a:r>
              <a:t>Learn together.  Share knowledge.  Grow together.  •  Team CosmicCoders (Group 13)</a:t>
            </a:r>
          </a:p>
        </p:txBody>
      </p:sp>
      <p:sp>
        <p:nvSpPr>
          <p:cNvPr id="5" name="TextBox 4"/>
          <p:cNvSpPr txBox="1"/>
          <p:nvPr/>
        </p:nvSpPr>
        <p:spPr>
          <a:xfrm>
            <a:off x="9601200" y="6473952"/>
            <a:ext cx="1858975" cy="256032"/>
          </a:xfrm>
          <a:prstGeom prst="rect">
            <a:avLst/>
          </a:prstGeom>
          <a:noFill/>
        </p:spPr>
        <p:txBody>
          <a:bodyPr wrap="none" lIns="0" tIns="0" rIns="0" bIns="0">
            <a:spAutoFit/>
          </a:bodyPr>
          <a:lstStyle/>
          <a:p>
            <a:pPr algn="r">
              <a:defRPr sz="1000" b="1">
                <a:solidFill>
                  <a:srgbClr val="176B4E"/>
                </a:solidFill>
                <a:latin typeface="Calibri"/>
              </a:defRPr>
            </a:pPr>
            <a:r>
              <a:t>08 / 10</a:t>
            </a:r>
          </a:p>
        </p:txBody>
      </p:sp>
      <p:sp>
        <p:nvSpPr>
          <p:cNvPr id="6" name="Rectangle 5"/>
          <p:cNvSpPr/>
          <p:nvPr/>
        </p:nvSpPr>
        <p:spPr>
          <a:xfrm>
            <a:off x="731520" y="1325880"/>
            <a:ext cx="5120640" cy="493776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72000"/>
          </a:xfrm>
          <a:prstGeom prst="rect">
            <a:avLst/>
          </a:prstGeom>
          <a:noFill/>
        </p:spPr>
        <p:txBody>
          <a:bodyPr wrap="square">
            <a:spAutoFit/>
          </a:bodyPr>
          <a:lstStyle/>
          <a:p>
            <a:pPr>
              <a:spcAft>
                <a:spcPts val="800"/>
              </a:spcAft>
              <a:defRPr sz="1400" b="1">
                <a:solidFill>
                  <a:srgbClr val="176B4E"/>
                </a:solidFill>
                <a:latin typeface="Cambria"/>
              </a:defRPr>
            </a:pPr>
            <a:r>
              <a:t>Role-Tailored Dashboards &amp; Feedback</a:t>
            </a:r>
          </a:p>
          <a:p>
            <a:pPr>
              <a:spcAft>
                <a:spcPts val="600"/>
              </a:spcAft>
            </a:pPr>
            <a:r>
              <a:rPr sz="1000" b="1">
                <a:solidFill>
                  <a:srgbClr val="1A202C"/>
                </a:solidFill>
                <a:latin typeface="Calibri"/>
              </a:rPr>
              <a:t>• Learner Mastery Workspace: </a:t>
            </a:r>
            <a:r>
              <a:rPr sz="950">
                <a:solidFill>
                  <a:srgbClr val="2D3748"/>
                </a:solidFill>
                <a:latin typeface="Calibri"/>
              </a:rPr>
              <a:t>Visualizes learning momentum with key metrics: Sessions Attended, Hours of Live Learning, Mentors Connected, and Skills Explored.</a:t>
            </a:r>
          </a:p>
          <a:p>
            <a:pPr>
              <a:spcAft>
                <a:spcPts val="600"/>
              </a:spcAft>
            </a:pPr>
            <a:r>
              <a:rPr sz="1000" b="1">
                <a:solidFill>
                  <a:srgbClr val="1A202C"/>
                </a:solidFill>
                <a:latin typeface="Calibri"/>
              </a:rPr>
              <a:t>• Milestone Progress Bars: </a:t>
            </a:r>
            <a:r>
              <a:rPr sz="950">
                <a:solidFill>
                  <a:srgbClr val="2D3748"/>
                </a:solidFill>
                <a:latin typeface="Calibri"/>
              </a:rPr>
              <a:t>Tracks active curriculum targets (e.g. Node.js 90%, System Design 72%) to keep students motivated toward their academic goals.</a:t>
            </a:r>
          </a:p>
          <a:p>
            <a:pPr>
              <a:spcAft>
                <a:spcPts val="600"/>
              </a:spcAft>
            </a:pPr>
            <a:r>
              <a:rPr sz="1000" b="1">
                <a:solidFill>
                  <a:srgbClr val="1A202C"/>
                </a:solidFill>
                <a:latin typeface="Calibri"/>
              </a:rPr>
              <a:t>• Mentor Teaching Studio: </a:t>
            </a:r>
            <a:r>
              <a:rPr sz="950">
                <a:solidFill>
                  <a:srgbClr val="2D3748"/>
                </a:solidFill>
                <a:latin typeface="Calibri"/>
              </a:rPr>
              <a:t>Comprehensive overview of learners taught, sessions completed, average star rating, and granular skill depth across listed technologies.</a:t>
            </a:r>
          </a:p>
          <a:p>
            <a:pPr>
              <a:spcAft>
                <a:spcPts val="600"/>
              </a:spcAft>
            </a:pPr>
            <a:r>
              <a:rPr sz="1000" b="1">
                <a:solidFill>
                  <a:srgbClr val="1A202C"/>
                </a:solidFill>
                <a:latin typeface="Calibri"/>
              </a:rPr>
              <a:t>• Community Star Ratings &amp; Reviews: </a:t>
            </a:r>
            <a:r>
              <a:rPr sz="950">
                <a:solidFill>
                  <a:srgbClr val="2D3748"/>
                </a:solidFill>
                <a:latin typeface="Calibri"/>
              </a:rPr>
              <a:t>One-review-per-completed-session policy ensures 100% verified student testimonials and eliminates fake feedback.</a:t>
            </a:r>
          </a:p>
          <a:p>
            <a:pPr>
              <a:spcAft>
                <a:spcPts val="600"/>
              </a:spcAft>
            </a:pPr>
            <a:r>
              <a:rPr sz="1000" b="1">
                <a:solidFill>
                  <a:srgbClr val="1A202C"/>
                </a:solidFill>
                <a:latin typeface="Calibri"/>
              </a:rPr>
              <a:t>• Trust &amp; Reputation Cycle: </a:t>
            </a:r>
            <a:r>
              <a:rPr sz="950">
                <a:solidFill>
                  <a:srgbClr val="2D3748"/>
                </a:solidFill>
                <a:latin typeface="Calibri"/>
              </a:rPr>
              <a:t>Positive student reviews boost mentor rankings in the search directory, driving a self-sustaining cycle of quality education.</a:t>
            </a:r>
          </a:p>
          <a:p>
            <a:pPr>
              <a:spcBef>
                <a:spcPts val="800"/>
              </a:spcBef>
              <a:defRPr sz="900" b="1">
                <a:solidFill>
                  <a:srgbClr val="176B4E"/>
                </a:solidFill>
                <a:latin typeface="Calibri"/>
              </a:defRPr>
            </a:pPr>
            <a:r>
              <a:t>APIs: GET /api/dashboard/learner, GET /api/dashboard/mentor, POST /api/reviews | Model: ReviewSchema</a:t>
            </a:r>
          </a:p>
        </p:txBody>
      </p:sp>
      <p:pic>
        <p:nvPicPr>
          <p:cNvPr id="8" name="Picture 7" descr="05_learner_dashboard.png"/>
          <p:cNvPicPr>
            <a:picLocks noChangeAspect="1"/>
          </p:cNvPicPr>
          <p:nvPr/>
        </p:nvPicPr>
        <p:blipFill>
          <a:blip r:embed="rId2"/>
          <a:stretch>
            <a:fillRect/>
          </a:stretch>
        </p:blipFill>
        <p:spPr>
          <a:xfrm>
            <a:off x="6080760" y="1325880"/>
            <a:ext cx="5376672" cy="2395728"/>
          </a:xfrm>
          <a:prstGeom prst="rect">
            <a:avLst/>
          </a:prstGeom>
          <a:ln w="12700">
            <a:solidFill>
              <a:srgbClr val="D1E3D9"/>
            </a:solidFill>
          </a:ln>
        </p:spPr>
      </p:pic>
      <p:pic>
        <p:nvPicPr>
          <p:cNvPr id="9" name="Picture 8" descr="06_mentor_dashboard.png"/>
          <p:cNvPicPr>
            <a:picLocks noChangeAspect="1"/>
          </p:cNvPicPr>
          <p:nvPr/>
        </p:nvPicPr>
        <p:blipFill>
          <a:blip r:embed="rId3"/>
          <a:stretch>
            <a:fillRect/>
          </a:stretch>
        </p:blipFill>
        <p:spPr>
          <a:xfrm>
            <a:off x="6080760" y="3867912"/>
            <a:ext cx="5376672" cy="2395728"/>
          </a:xfrm>
          <a:prstGeom prst="rect">
            <a:avLst/>
          </a:prstGeom>
          <a:ln w="12700">
            <a:solidFill>
              <a:srgbClr val="D1E3D9"/>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sp>
        <p:nvSpPr>
          <p:cNvPr id="2" name="TextBox 1"/>
          <p:cNvSpPr txBox="1"/>
          <p:nvPr/>
        </p:nvSpPr>
        <p:spPr>
          <a:xfrm>
            <a:off x="731520" y="347472"/>
            <a:ext cx="10698480" cy="256032"/>
          </a:xfrm>
          <a:prstGeom prst="rect">
            <a:avLst/>
          </a:prstGeom>
          <a:noFill/>
        </p:spPr>
        <p:txBody>
          <a:bodyPr wrap="square" lIns="0" tIns="0" rIns="0" bIns="0">
            <a:spAutoFit/>
          </a:bodyPr>
          <a:lstStyle/>
          <a:p>
            <a:pPr>
              <a:defRPr sz="950" b="1">
                <a:solidFill>
                  <a:srgbClr val="176B4E"/>
                </a:solidFill>
                <a:latin typeface="Calibri"/>
              </a:defRPr>
            </a:pPr>
            <a:r>
              <a:t>GOVERNANCE &amp; TESTING</a:t>
            </a:r>
          </a:p>
        </p:txBody>
      </p:sp>
      <p:sp>
        <p:nvSpPr>
          <p:cNvPr id="3" name="TextBox 2"/>
          <p:cNvSpPr txBox="1"/>
          <p:nvPr/>
        </p:nvSpPr>
        <p:spPr>
          <a:xfrm>
            <a:off x="731520" y="603504"/>
            <a:ext cx="10698480" cy="502920"/>
          </a:xfrm>
          <a:prstGeom prst="rect">
            <a:avLst/>
          </a:prstGeom>
          <a:noFill/>
        </p:spPr>
        <p:txBody>
          <a:bodyPr wrap="square" lIns="0" tIns="0" rIns="0" bIns="0">
            <a:spAutoFit/>
          </a:bodyPr>
          <a:lstStyle/>
          <a:p>
            <a:pPr>
              <a:defRPr sz="2500" b="1">
                <a:solidFill>
                  <a:srgbClr val="176B4E"/>
                </a:solidFill>
                <a:latin typeface="Cambria"/>
              </a:defRPr>
            </a:pPr>
            <a:r>
              <a:t>Module 06: Admin Governance &amp; System Verification</a:t>
            </a:r>
          </a:p>
        </p:txBody>
      </p:sp>
      <p:sp>
        <p:nvSpPr>
          <p:cNvPr id="4" name="TextBox 3"/>
          <p:cNvSpPr txBox="1"/>
          <p:nvPr/>
        </p:nvSpPr>
        <p:spPr>
          <a:xfrm>
            <a:off x="731520" y="6473952"/>
            <a:ext cx="7315200" cy="256032"/>
          </a:xfrm>
          <a:prstGeom prst="rect">
            <a:avLst/>
          </a:prstGeom>
          <a:noFill/>
        </p:spPr>
        <p:txBody>
          <a:bodyPr wrap="none" lIns="0" tIns="0" rIns="0" bIns="0">
            <a:spAutoFit/>
          </a:bodyPr>
          <a:lstStyle/>
          <a:p>
            <a:pPr>
              <a:defRPr sz="950">
                <a:solidFill>
                  <a:srgbClr val="5A6578"/>
                </a:solidFill>
                <a:latin typeface="Calibri"/>
              </a:defRPr>
            </a:pPr>
            <a:r>
              <a:t>Learn together.  Share knowledge.  Grow together.  •  Team CosmicCoders (Group 13)</a:t>
            </a:r>
          </a:p>
        </p:txBody>
      </p:sp>
      <p:sp>
        <p:nvSpPr>
          <p:cNvPr id="5" name="TextBox 4"/>
          <p:cNvSpPr txBox="1"/>
          <p:nvPr/>
        </p:nvSpPr>
        <p:spPr>
          <a:xfrm>
            <a:off x="9601200" y="6473952"/>
            <a:ext cx="1858975" cy="256032"/>
          </a:xfrm>
          <a:prstGeom prst="rect">
            <a:avLst/>
          </a:prstGeom>
          <a:noFill/>
        </p:spPr>
        <p:txBody>
          <a:bodyPr wrap="none" lIns="0" tIns="0" rIns="0" bIns="0">
            <a:spAutoFit/>
          </a:bodyPr>
          <a:lstStyle/>
          <a:p>
            <a:pPr algn="r">
              <a:defRPr sz="1000" b="1">
                <a:solidFill>
                  <a:srgbClr val="176B4E"/>
                </a:solidFill>
                <a:latin typeface="Calibri"/>
              </a:defRPr>
            </a:pPr>
            <a:r>
              <a:t>09 / 10</a:t>
            </a:r>
          </a:p>
        </p:txBody>
      </p:sp>
      <p:sp>
        <p:nvSpPr>
          <p:cNvPr id="6" name="Rectangle 5"/>
          <p:cNvSpPr/>
          <p:nvPr/>
        </p:nvSpPr>
        <p:spPr>
          <a:xfrm>
            <a:off x="731520" y="1325880"/>
            <a:ext cx="5120640" cy="493776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72000"/>
          </a:xfrm>
          <a:prstGeom prst="rect">
            <a:avLst/>
          </a:prstGeom>
          <a:noFill/>
        </p:spPr>
        <p:txBody>
          <a:bodyPr wrap="square">
            <a:spAutoFit/>
          </a:bodyPr>
          <a:lstStyle/>
          <a:p>
            <a:pPr>
              <a:spcAft>
                <a:spcPts val="800"/>
              </a:spcAft>
              <a:defRPr sz="1400" b="1">
                <a:solidFill>
                  <a:srgbClr val="176B4E"/>
                </a:solidFill>
                <a:latin typeface="Cambria"/>
              </a:defRPr>
            </a:pPr>
            <a:r>
              <a:t>Platform Oversight &amp; Quality Assurance</a:t>
            </a:r>
          </a:p>
          <a:p>
            <a:pPr>
              <a:spcAft>
                <a:spcPts val="600"/>
              </a:spcAft>
            </a:pPr>
            <a:r>
              <a:rPr sz="1000" b="1">
                <a:solidFill>
                  <a:srgbClr val="1A202C"/>
                </a:solidFill>
                <a:latin typeface="Calibri"/>
              </a:rPr>
              <a:t>• Institutional Overview KPIs: </a:t>
            </a:r>
            <a:r>
              <a:rPr sz="950">
                <a:solidFill>
                  <a:srgbClr val="2D3748"/>
                </a:solidFill>
                <a:latin typeface="Calibri"/>
              </a:rPr>
              <a:t>Live executive counters tracking Total Users, Verified Mentors, Active Learners, Pending Verifications, and Total Sessions.</a:t>
            </a:r>
          </a:p>
          <a:p>
            <a:pPr>
              <a:spcAft>
                <a:spcPts val="600"/>
              </a:spcAft>
            </a:pPr>
            <a:r>
              <a:rPr sz="1000" b="1">
                <a:solidFill>
                  <a:srgbClr val="1A202C"/>
                </a:solidFill>
                <a:latin typeface="Calibri"/>
              </a:rPr>
              <a:t>• Member Moderation Controls: </a:t>
            </a:r>
            <a:r>
              <a:rPr sz="950">
                <a:solidFill>
                  <a:srgbClr val="2D3748"/>
                </a:solidFill>
                <a:latin typeface="Calibri"/>
              </a:rPr>
              <a:t>Administrators can review profiles, approve unverified accounts, suspend bad actors, or delete fraudulent accounts.</a:t>
            </a:r>
          </a:p>
          <a:p>
            <a:pPr>
              <a:spcAft>
                <a:spcPts val="600"/>
              </a:spcAft>
            </a:pPr>
            <a:r>
              <a:rPr sz="1000" b="1">
                <a:solidFill>
                  <a:srgbClr val="1A202C"/>
                </a:solidFill>
                <a:latin typeface="Calibri"/>
              </a:rPr>
              <a:t>• Auditable Activity Logs: </a:t>
            </a:r>
            <a:r>
              <a:rPr sz="950">
                <a:solidFill>
                  <a:srgbClr val="2D3748"/>
                </a:solidFill>
                <a:latin typeface="Calibri"/>
              </a:rPr>
              <a:t>All critical actions (role updates, booking cancellations, financial settlements) are stored in immutable MongoDB activity logs.</a:t>
            </a:r>
          </a:p>
          <a:p>
            <a:pPr>
              <a:spcAft>
                <a:spcPts val="600"/>
              </a:spcAft>
            </a:pPr>
            <a:r>
              <a:rPr sz="1000" b="1">
                <a:solidFill>
                  <a:srgbClr val="1A202C"/>
                </a:solidFill>
                <a:latin typeface="Calibri"/>
              </a:rPr>
              <a:t>• Comprehensive Testing Suite: </a:t>
            </a:r>
            <a:r>
              <a:rPr sz="950">
                <a:solidFill>
                  <a:srgbClr val="2D3748"/>
                </a:solidFill>
                <a:latin typeface="Calibri"/>
              </a:rPr>
              <a:t>End-to-end user flows validated with automated Playwright browser tests; backend endpoints verified via Postman test collections.</a:t>
            </a:r>
          </a:p>
          <a:p>
            <a:pPr>
              <a:spcAft>
                <a:spcPts val="600"/>
              </a:spcAft>
            </a:pPr>
            <a:r>
              <a:rPr sz="1000" b="1">
                <a:solidFill>
                  <a:srgbClr val="1A202C"/>
                </a:solidFill>
                <a:latin typeface="Calibri"/>
              </a:rPr>
              <a:t>• Responsive &amp; Dark Mode UI: </a:t>
            </a:r>
            <a:r>
              <a:rPr sz="950">
                <a:solidFill>
                  <a:srgbClr val="2D3748"/>
                </a:solidFill>
                <a:latin typeface="Calibri"/>
              </a:rPr>
              <a:t>Seamless CSS theming tested across light/dark contrast standards and fully responsive down to 390px mobile viewports.</a:t>
            </a:r>
          </a:p>
          <a:p>
            <a:pPr>
              <a:spcBef>
                <a:spcPts val="800"/>
              </a:spcBef>
              <a:defRPr sz="900" b="1">
                <a:solidFill>
                  <a:srgbClr val="176B4E"/>
                </a:solidFill>
                <a:latin typeface="Calibri"/>
              </a:defRPr>
            </a:pPr>
            <a:r>
              <a:t>APIs: GET /api/admin/stats, PUT /api/admin/users/:id/status | Security: AdminRBACGuard</a:t>
            </a:r>
          </a:p>
        </p:txBody>
      </p:sp>
      <p:pic>
        <p:nvPicPr>
          <p:cNvPr id="8" name="Picture 7" descr="10_admin_dashboard.png"/>
          <p:cNvPicPr>
            <a:picLocks noChangeAspect="1"/>
          </p:cNvPicPr>
          <p:nvPr/>
        </p:nvPicPr>
        <p:blipFill>
          <a:blip r:embed="rId2"/>
          <a:stretch>
            <a:fillRect/>
          </a:stretch>
        </p:blipFill>
        <p:spPr>
          <a:xfrm>
            <a:off x="6080760" y="1325880"/>
            <a:ext cx="5376672" cy="2395728"/>
          </a:xfrm>
          <a:prstGeom prst="rect">
            <a:avLst/>
          </a:prstGeom>
          <a:ln w="12700">
            <a:solidFill>
              <a:srgbClr val="D1E3D9"/>
            </a:solidFill>
          </a:ln>
        </p:spPr>
      </p:pic>
      <p:pic>
        <p:nvPicPr>
          <p:cNvPr id="9" name="Picture 8" descr="10b_admin_members.png"/>
          <p:cNvPicPr>
            <a:picLocks noChangeAspect="1"/>
          </p:cNvPicPr>
          <p:nvPr/>
        </p:nvPicPr>
        <p:blipFill>
          <a:blip r:embed="rId3"/>
          <a:stretch>
            <a:fillRect/>
          </a:stretch>
        </p:blipFill>
        <p:spPr>
          <a:xfrm>
            <a:off x="6080760" y="3867912"/>
            <a:ext cx="5376672" cy="2395728"/>
          </a:xfrm>
          <a:prstGeom prst="rect">
            <a:avLst/>
          </a:prstGeom>
          <a:ln w="12700">
            <a:solidFill>
              <a:srgbClr val="D1E3D9"/>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BF9"/>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731520" y="640080"/>
            <a:ext cx="594360" cy="594360"/>
          </a:xfrm>
          <a:prstGeom prst="rect">
            <a:avLst/>
          </a:prstGeom>
        </p:spPr>
      </p:pic>
      <p:sp>
        <p:nvSpPr>
          <p:cNvPr id="3" name="TextBox 2"/>
          <p:cNvSpPr txBox="1"/>
          <p:nvPr/>
        </p:nvSpPr>
        <p:spPr>
          <a:xfrm>
            <a:off x="1417320" y="594360"/>
            <a:ext cx="4114800" cy="640080"/>
          </a:xfrm>
          <a:prstGeom prst="rect">
            <a:avLst/>
          </a:prstGeom>
          <a:noFill/>
        </p:spPr>
        <p:txBody>
          <a:bodyPr wrap="none">
            <a:spAutoFit/>
          </a:bodyPr>
          <a:lstStyle/>
          <a:p>
            <a:pPr>
              <a:defRPr sz="2200" b="1">
                <a:solidFill>
                  <a:srgbClr val="176B4E"/>
                </a:solidFill>
                <a:latin typeface="Cambria"/>
              </a:defRPr>
            </a:pPr>
            <a:r>
              <a:t>SkillExchange</a:t>
            </a:r>
          </a:p>
          <a:p>
            <a:pPr>
              <a:defRPr sz="1000" b="1">
                <a:solidFill>
                  <a:srgbClr val="5A6578"/>
                </a:solidFill>
                <a:latin typeface="Calibri"/>
              </a:defRPr>
            </a:pPr>
            <a:r>
              <a:t>TEAM COSMICCODERS  •  GROUP 13</a:t>
            </a:r>
          </a:p>
        </p:txBody>
      </p:sp>
      <p:sp>
        <p:nvSpPr>
          <p:cNvPr id="4" name="TextBox 3"/>
          <p:cNvSpPr txBox="1"/>
          <p:nvPr/>
        </p:nvSpPr>
        <p:spPr>
          <a:xfrm>
            <a:off x="731520" y="1417320"/>
            <a:ext cx="5303520" cy="4572000"/>
          </a:xfrm>
          <a:prstGeom prst="rect">
            <a:avLst/>
          </a:prstGeom>
          <a:noFill/>
        </p:spPr>
        <p:txBody>
          <a:bodyPr wrap="square">
            <a:spAutoFit/>
          </a:bodyPr>
          <a:lstStyle/>
          <a:p>
            <a:pPr>
              <a:spcAft>
                <a:spcPts val="200"/>
              </a:spcAft>
              <a:defRPr sz="4000" b="1">
                <a:solidFill>
                  <a:srgbClr val="176B4E"/>
                </a:solidFill>
                <a:latin typeface="Cambria"/>
              </a:defRPr>
            </a:pPr>
            <a:r>
              <a:t>Thank You!</a:t>
            </a:r>
          </a:p>
          <a:p>
            <a:pPr>
              <a:spcAft>
                <a:spcPts val="1400"/>
              </a:spcAft>
              <a:defRPr sz="1600">
                <a:solidFill>
                  <a:srgbClr val="1A202C"/>
                </a:solidFill>
                <a:latin typeface="Calibri"/>
              </a:defRPr>
            </a:pPr>
            <a:r>
              <a:t>Questions &amp; Technical Discussion</a:t>
            </a:r>
          </a:p>
          <a:p>
            <a:pPr>
              <a:spcAft>
                <a:spcPts val="600"/>
              </a:spcAft>
            </a:pPr>
            <a:r>
              <a:rPr sz="1000" b="1">
                <a:solidFill>
                  <a:srgbClr val="176B4E"/>
                </a:solidFill>
                <a:latin typeface="Calibri"/>
              </a:rPr>
              <a:t>• Working Full-Stack Solution: </a:t>
            </a:r>
            <a:r>
              <a:rPr sz="950">
                <a:solidFill>
                  <a:srgbClr val="2D3748"/>
                </a:solidFill>
                <a:latin typeface="Calibri"/>
              </a:rPr>
              <a:t>Engineered and deployed a functional MERN platform solving campus peer tutoring friction.</a:t>
            </a:r>
          </a:p>
          <a:p>
            <a:pPr>
              <a:spcAft>
                <a:spcPts val="600"/>
              </a:spcAft>
            </a:pPr>
            <a:r>
              <a:rPr sz="1000" b="1">
                <a:solidFill>
                  <a:srgbClr val="176B4E"/>
                </a:solidFill>
                <a:latin typeface="Calibri"/>
              </a:rPr>
              <a:t>• Zero Scheduling Friction: </a:t>
            </a:r>
            <a:r>
              <a:rPr sz="950">
                <a:solidFill>
                  <a:srgbClr val="2D3748"/>
                </a:solidFill>
                <a:latin typeface="Calibri"/>
              </a:rPr>
              <a:t>Integrated Socket.io chat and deterministic 5-stage calendar scheduling with 4-hour auto-expiration.</a:t>
            </a:r>
          </a:p>
          <a:p>
            <a:pPr>
              <a:spcAft>
                <a:spcPts val="600"/>
              </a:spcAft>
            </a:pPr>
            <a:r>
              <a:rPr sz="1000" b="1">
                <a:solidFill>
                  <a:srgbClr val="176B4E"/>
                </a:solidFill>
                <a:latin typeface="Calibri"/>
              </a:rPr>
              <a:t>• In-Browser WebRTC Calling: </a:t>
            </a:r>
            <a:r>
              <a:rPr sz="950">
                <a:solidFill>
                  <a:srgbClr val="2D3748"/>
                </a:solidFill>
                <a:latin typeface="Calibri"/>
              </a:rPr>
              <a:t>Future enhancement: Native peer-to-peer audio/video calling without external Google Meet links.</a:t>
            </a:r>
          </a:p>
          <a:p>
            <a:pPr>
              <a:spcAft>
                <a:spcPts val="600"/>
              </a:spcAft>
            </a:pPr>
            <a:r>
              <a:rPr sz="1000" b="1">
                <a:solidFill>
                  <a:srgbClr val="176B4E"/>
                </a:solidFill>
                <a:latin typeface="Calibri"/>
              </a:rPr>
              <a:t>• Automated Payouts &amp; Alerts: </a:t>
            </a:r>
            <a:r>
              <a:rPr sz="950">
                <a:solidFill>
                  <a:srgbClr val="2D3748"/>
                </a:solidFill>
                <a:latin typeface="Calibri"/>
              </a:rPr>
              <a:t>Future roadmap: Razorpay Route automated disbursements and browser push reminders 15 mins prior to sessions.</a:t>
            </a:r>
          </a:p>
        </p:txBody>
      </p:sp>
      <p:sp>
        <p:nvSpPr>
          <p:cNvPr id="5" name="Rectangle 4"/>
          <p:cNvSpPr/>
          <p:nvPr/>
        </p:nvSpPr>
        <p:spPr>
          <a:xfrm>
            <a:off x="6309360" y="1417320"/>
            <a:ext cx="5120640" cy="4389120"/>
          </a:xfrm>
          <a:prstGeom prst="rect">
            <a:avLst/>
          </a:prstGeom>
          <a:solidFill>
            <a:srgbClr val="FFFFFF"/>
          </a:solidFill>
          <a:ln w="12700">
            <a:solidFill>
              <a:srgbClr val="D1E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1737360"/>
            <a:ext cx="4389120" cy="3749040"/>
          </a:xfrm>
          <a:prstGeom prst="rect">
            <a:avLst/>
          </a:prstGeom>
          <a:noFill/>
        </p:spPr>
        <p:txBody>
          <a:bodyPr wrap="square">
            <a:spAutoFit/>
          </a:bodyPr>
          <a:lstStyle/>
          <a:p>
            <a:pPr>
              <a:spcAft>
                <a:spcPts val="1200"/>
              </a:spcAft>
              <a:defRPr sz="1100" b="1">
                <a:solidFill>
                  <a:srgbClr val="176B4E"/>
                </a:solidFill>
                <a:latin typeface="Calibri"/>
              </a:defRPr>
            </a:pPr>
            <a:r>
              <a:t>PROJECT REPOSITORY &amp; DEMO</a:t>
            </a:r>
          </a:p>
          <a:p>
            <a:pPr>
              <a:defRPr sz="1050" b="1">
                <a:solidFill>
                  <a:srgbClr val="1A202C"/>
                </a:solidFill>
                <a:latin typeface="Calibri"/>
              </a:defRPr>
            </a:pPr>
            <a:r>
              <a:t>GitHub Source Code:</a:t>
            </a:r>
          </a:p>
          <a:p>
            <a:pPr>
              <a:spcAft>
                <a:spcPts val="1400"/>
              </a:spcAft>
              <a:defRPr sz="1100">
                <a:solidFill>
                  <a:srgbClr val="176B4E"/>
                </a:solidFill>
                <a:latin typeface="Calibri"/>
              </a:defRPr>
            </a:pPr>
            <a:r>
              <a:t>github.com/CosmicCoder06/Skill-Exchange</a:t>
            </a:r>
          </a:p>
          <a:p>
            <a:pPr>
              <a:defRPr sz="1050" b="1">
                <a:solidFill>
                  <a:srgbClr val="1A202C"/>
                </a:solidFill>
                <a:latin typeface="Calibri"/>
              </a:defRPr>
            </a:pPr>
            <a:r>
              <a:t>Live Cloud Deployment:</a:t>
            </a:r>
          </a:p>
          <a:p>
            <a:pPr>
              <a:spcAft>
                <a:spcPts val="1600"/>
              </a:spcAft>
              <a:defRPr sz="1100">
                <a:solidFill>
                  <a:srgbClr val="176B4E"/>
                </a:solidFill>
                <a:latin typeface="Calibri"/>
              </a:defRPr>
            </a:pPr>
            <a:r>
              <a:t>skill-exchange-one-eta.vercel.app</a:t>
            </a:r>
          </a:p>
          <a:p>
            <a:pPr>
              <a:defRPr sz="1000">
                <a:solidFill>
                  <a:srgbClr val="5A6578"/>
                </a:solidFill>
                <a:latin typeface="Calibri"/>
              </a:defRPr>
            </a:pPr>
            <a:r>
              <a:t>GLA University, Mathura  •  B.Tech CSE Capstone Project</a:t>
            </a:r>
          </a:p>
          <a:p>
            <a:pPr>
              <a:defRPr sz="1000">
                <a:solidFill>
                  <a:srgbClr val="5A6578"/>
                </a:solidFill>
                <a:latin typeface="Calibri"/>
              </a:defRPr>
            </a:pPr>
            <a:r>
              <a:t>Internship Project at Codroid Hub Pvt. Ltd. (October 2026)</a:t>
            </a:r>
          </a:p>
        </p:txBody>
      </p:sp>
      <p:sp>
        <p:nvSpPr>
          <p:cNvPr id="7" name="TextBox 6"/>
          <p:cNvSpPr txBox="1"/>
          <p:nvPr/>
        </p:nvSpPr>
        <p:spPr>
          <a:xfrm>
            <a:off x="731520" y="6355080"/>
            <a:ext cx="7315200" cy="274320"/>
          </a:xfrm>
          <a:prstGeom prst="rect">
            <a:avLst/>
          </a:prstGeom>
          <a:noFill/>
        </p:spPr>
        <p:txBody>
          <a:bodyPr wrap="none">
            <a:spAutoFit/>
          </a:bodyPr>
          <a:lstStyle/>
          <a:p>
            <a:pPr>
              <a:defRPr sz="1100" i="1">
                <a:solidFill>
                  <a:srgbClr val="5A6578"/>
                </a:solidFill>
                <a:latin typeface="Calibri"/>
              </a:defRPr>
            </a:pPr>
            <a:r>
              <a:t>Learn together.  Share knowledge.  Grow together.</a:t>
            </a:r>
          </a:p>
        </p:txBody>
      </p:sp>
      <p:sp>
        <p:nvSpPr>
          <p:cNvPr id="8" name="TextBox 7"/>
          <p:cNvSpPr txBox="1"/>
          <p:nvPr/>
        </p:nvSpPr>
        <p:spPr>
          <a:xfrm>
            <a:off x="10515600" y="6355080"/>
            <a:ext cx="914400" cy="274320"/>
          </a:xfrm>
          <a:prstGeom prst="rect">
            <a:avLst/>
          </a:prstGeom>
          <a:noFill/>
        </p:spPr>
        <p:txBody>
          <a:bodyPr wrap="none">
            <a:spAutoFit/>
          </a:bodyPr>
          <a:lstStyle/>
          <a:p>
            <a:pPr algn="r">
              <a:defRPr sz="1400" b="1">
                <a:solidFill>
                  <a:srgbClr val="176B4E"/>
                </a:solidFill>
                <a:latin typeface="Calibri"/>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