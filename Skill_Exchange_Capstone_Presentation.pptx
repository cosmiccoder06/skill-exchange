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241280" y="731520"/>
            <a:ext cx="1097280" cy="1097280"/>
          </a:xfrm>
          <a:prstGeom prst="rect">
            <a:avLst/>
          </a:prstGeom>
        </p:spPr>
      </p:pic>
      <p:sp>
        <p:nvSpPr>
          <p:cNvPr id="4" name="TextBox 3"/>
          <p:cNvSpPr txBox="1"/>
          <p:nvPr/>
        </p:nvSpPr>
        <p:spPr>
          <a:xfrm>
            <a:off x="822960" y="822960"/>
            <a:ext cx="9144000" cy="5303520"/>
          </a:xfrm>
          <a:prstGeom prst="rect">
            <a:avLst/>
          </a:prstGeom>
          <a:noFill/>
        </p:spPr>
        <p:txBody>
          <a:bodyPr wrap="square">
            <a:spAutoFit/>
          </a:bodyPr>
          <a:lstStyle/>
          <a:p>
            <a:pPr>
              <a:spcAft>
                <a:spcPts val="800"/>
              </a:spcAft>
              <a:defRPr sz="1200" b="1">
                <a:solidFill>
                  <a:srgbClr val="A5E0C8"/>
                </a:solidFill>
                <a:latin typeface="Calibri"/>
              </a:defRPr>
            </a:pPr>
            <a:r>
              <a:t>CAPSTONE PROJECT · MERN STACK</a:t>
            </a:r>
          </a:p>
          <a:p>
            <a:pPr>
              <a:spcAft>
                <a:spcPts val="400"/>
              </a:spcAft>
              <a:defRPr sz="4600" b="1">
                <a:solidFill>
                  <a:srgbClr val="FFFFFF"/>
                </a:solidFill>
                <a:latin typeface="Cambria"/>
              </a:defRPr>
            </a:pPr>
            <a:r>
              <a:t>Skill Exchange</a:t>
            </a:r>
          </a:p>
          <a:p>
            <a:pPr>
              <a:spcAft>
                <a:spcPts val="2000"/>
              </a:spcAft>
              <a:defRPr sz="2000">
                <a:solidFill>
                  <a:srgbClr val="DFF0E8"/>
                </a:solidFill>
                <a:latin typeface="Calibri"/>
              </a:defRPr>
            </a:pPr>
            <a:r>
              <a:t>A platform connecting mentors and learners</a:t>
            </a:r>
          </a:p>
          <a:p>
            <a:pPr>
              <a:spcAft>
                <a:spcPts val="400"/>
              </a:spcAft>
              <a:defRPr sz="1400">
                <a:solidFill>
                  <a:srgbClr val="FFFFFF"/>
                </a:solidFill>
                <a:latin typeface="Calibri"/>
              </a:defRPr>
            </a:pPr>
            <a:r>
              <a:t>Team CosmicCoders · Group 13 | B.Tech CSE, GLA University, Mathura</a:t>
            </a:r>
          </a:p>
          <a:p>
            <a:pPr>
              <a:spcAft>
                <a:spcPts val="2600"/>
              </a:spcAft>
              <a:defRPr sz="1300">
                <a:solidFill>
                  <a:srgbClr val="CDE5DC"/>
                </a:solidFill>
                <a:latin typeface="Calibri"/>
              </a:defRPr>
            </a:pPr>
            <a:r>
              <a:t>Internship Project at Codroid Hub Pvt. Ltd. | October 2026</a:t>
            </a:r>
          </a:p>
          <a:p>
            <a:pPr>
              <a:spcAft>
                <a:spcPts val="1000"/>
              </a:spcAft>
              <a:defRPr sz="1400">
                <a:solidFill>
                  <a:srgbClr val="FFFFFF"/>
                </a:solidFill>
                <a:latin typeface="Calibri"/>
              </a:defRPr>
            </a:pPr>
            <a:r>
              <a:t>Team Leader:   __________________________________________________</a:t>
            </a:r>
          </a:p>
          <a:p>
            <a:pPr>
              <a:spcAft>
                <a:spcPts val="1000"/>
              </a:spcAft>
              <a:defRPr sz="1400">
                <a:solidFill>
                  <a:srgbClr val="FFFFFF"/>
                </a:solidFill>
                <a:latin typeface="Calibri"/>
              </a:defRPr>
            </a:pPr>
            <a:r>
              <a:t>Team Members: __________________________________________________</a:t>
            </a:r>
          </a:p>
          <a:p>
            <a:pPr>
              <a:spcAft>
                <a:spcPts val="1000"/>
              </a:spcAft>
              <a:defRPr sz="1400">
                <a:solidFill>
                  <a:srgbClr val="FFFFFF"/>
                </a:solidFill>
                <a:latin typeface="Calibri"/>
              </a:defRPr>
            </a:pPr>
            <a:r>
              <a:t>Project Guide: __________________________________________________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OVERVIEW</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Presentation Agenda</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2 of 15</a:t>
            </a:r>
          </a:p>
        </p:txBody>
      </p:sp>
      <p:sp>
        <p:nvSpPr>
          <p:cNvPr id="6" name="Rectangle 5"/>
          <p:cNvSpPr/>
          <p:nvPr/>
        </p:nvSpPr>
        <p:spPr>
          <a:xfrm>
            <a:off x="731520" y="1280160"/>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444752"/>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01</a:t>
            </a:r>
          </a:p>
        </p:txBody>
      </p:sp>
      <p:sp>
        <p:nvSpPr>
          <p:cNvPr id="8" name="TextBox 7"/>
          <p:cNvSpPr txBox="1"/>
          <p:nvPr/>
        </p:nvSpPr>
        <p:spPr>
          <a:xfrm>
            <a:off x="1737360" y="1389888"/>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t>Problem &amp; Objectives</a:t>
            </a:r>
          </a:p>
          <a:p>
            <a:pPr>
              <a:defRPr sz="1300">
                <a:solidFill>
                  <a:srgbClr val="222222"/>
                </a:solidFill>
                <a:latin typeface="Calibri"/>
              </a:defRPr>
            </a:pPr>
            <a:r>
              <a:t>Campus peer learning challenges, informal study friction, and core project goals.</a:t>
            </a:r>
          </a:p>
        </p:txBody>
      </p:sp>
      <p:sp>
        <p:nvSpPr>
          <p:cNvPr id="9" name="Rectangle 8"/>
          <p:cNvSpPr/>
          <p:nvPr/>
        </p:nvSpPr>
        <p:spPr>
          <a:xfrm>
            <a:off x="731520" y="2267712"/>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32304"/>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02</a:t>
            </a:r>
          </a:p>
        </p:txBody>
      </p:sp>
      <p:sp>
        <p:nvSpPr>
          <p:cNvPr id="11" name="TextBox 10"/>
          <p:cNvSpPr txBox="1"/>
          <p:nvPr/>
        </p:nvSpPr>
        <p:spPr>
          <a:xfrm>
            <a:off x="1737360" y="2377440"/>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t>Architecture &amp; Schemas</a:t>
            </a:r>
          </a:p>
          <a:p>
            <a:pPr>
              <a:defRPr sz="1300">
                <a:solidFill>
                  <a:srgbClr val="222222"/>
                </a:solidFill>
                <a:latin typeface="Calibri"/>
              </a:defRPr>
            </a:pPr>
            <a:r>
              <a:t>Full-stack MERN ecosystem, bi-directional WebSockets, and Mongoose database design.</a:t>
            </a:r>
          </a:p>
        </p:txBody>
      </p:sp>
      <p:sp>
        <p:nvSpPr>
          <p:cNvPr id="12" name="Rectangle 11"/>
          <p:cNvSpPr/>
          <p:nvPr/>
        </p:nvSpPr>
        <p:spPr>
          <a:xfrm>
            <a:off x="731520" y="3255264"/>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3419856"/>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03</a:t>
            </a:r>
          </a:p>
        </p:txBody>
      </p:sp>
      <p:sp>
        <p:nvSpPr>
          <p:cNvPr id="14" name="TextBox 13"/>
          <p:cNvSpPr txBox="1"/>
          <p:nvPr/>
        </p:nvSpPr>
        <p:spPr>
          <a:xfrm>
            <a:off x="1737360" y="3364992"/>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t>Signature Booking Flow</a:t>
            </a:r>
          </a:p>
          <a:p>
            <a:pPr>
              <a:defRPr sz="1300">
                <a:solidFill>
                  <a:srgbClr val="222222"/>
                </a:solidFill>
                <a:latin typeface="Calibri"/>
              </a:defRPr>
            </a:pPr>
            <a:r>
              <a:t>5-stage deterministic session lifecycle with automatic 4-hour expiration policy.</a:t>
            </a:r>
          </a:p>
        </p:txBody>
      </p:sp>
      <p:sp>
        <p:nvSpPr>
          <p:cNvPr id="15" name="Rectangle 14"/>
          <p:cNvSpPr/>
          <p:nvPr/>
        </p:nvSpPr>
        <p:spPr>
          <a:xfrm>
            <a:off x="731520" y="4242816"/>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4407408"/>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04</a:t>
            </a:r>
          </a:p>
        </p:txBody>
      </p:sp>
      <p:sp>
        <p:nvSpPr>
          <p:cNvPr id="17" name="TextBox 16"/>
          <p:cNvSpPr txBox="1"/>
          <p:nvPr/>
        </p:nvSpPr>
        <p:spPr>
          <a:xfrm>
            <a:off x="1737360" y="4352544"/>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t>Live System Walkthrough</a:t>
            </a:r>
          </a:p>
          <a:p>
            <a:pPr>
              <a:defRPr sz="1300">
                <a:solidFill>
                  <a:srgbClr val="222222"/>
                </a:solidFill>
                <a:latin typeface="Calibri"/>
              </a:defRPr>
            </a:pPr>
            <a:r>
              <a:t>UI tour across Home, Auth, Profiles, Directory, Dashboards, Chat, and Admin Console.</a:t>
            </a:r>
          </a:p>
        </p:txBody>
      </p:sp>
      <p:sp>
        <p:nvSpPr>
          <p:cNvPr id="18" name="Rectangle 17"/>
          <p:cNvSpPr/>
          <p:nvPr/>
        </p:nvSpPr>
        <p:spPr>
          <a:xfrm>
            <a:off x="731520" y="5230368"/>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394960"/>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05</a:t>
            </a:r>
          </a:p>
        </p:txBody>
      </p:sp>
      <p:sp>
        <p:nvSpPr>
          <p:cNvPr id="20" name="TextBox 19"/>
          <p:cNvSpPr txBox="1"/>
          <p:nvPr/>
        </p:nvSpPr>
        <p:spPr>
          <a:xfrm>
            <a:off x="1737360" y="5340096"/>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t>Engineering &amp; Future Scope</a:t>
            </a:r>
          </a:p>
          <a:p>
            <a:pPr>
              <a:defRPr sz="1300">
                <a:solidFill>
                  <a:srgbClr val="222222"/>
                </a:solidFill>
                <a:latin typeface="Calibri"/>
              </a:defRPr>
            </a:pPr>
            <a:r>
              <a:t>Dark theme CSS specificity resolution, technical constraints, and future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CONTEXT &amp; BACKGROUND</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Problem Statement: Challenges in Peer Learning</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3 of 15</a:t>
            </a:r>
          </a:p>
        </p:txBody>
      </p:sp>
      <p:sp>
        <p:nvSpPr>
          <p:cNvPr id="6" name="Rectangle 5"/>
          <p:cNvSpPr/>
          <p:nvPr/>
        </p:nvSpPr>
        <p:spPr>
          <a:xfrm>
            <a:off x="731520"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t>HIGH COST</a:t>
            </a:r>
          </a:p>
          <a:p>
            <a:pPr>
              <a:defRPr sz="1200">
                <a:solidFill>
                  <a:srgbClr val="222222"/>
                </a:solidFill>
                <a:latin typeface="Calibri"/>
              </a:defRPr>
            </a:pPr>
            <a:r>
              <a:t>Commercial 1-on-1 tutoring charges steep hourly rates unaffordable for college students.</a:t>
            </a:r>
          </a:p>
        </p:txBody>
      </p:sp>
      <p:sp>
        <p:nvSpPr>
          <p:cNvPr id="8" name="Rectangle 7"/>
          <p:cNvSpPr/>
          <p:nvPr/>
        </p:nvSpPr>
        <p:spPr>
          <a:xfrm>
            <a:off x="4379976"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t>FRAGMENTED</a:t>
            </a:r>
          </a:p>
          <a:p>
            <a:pPr>
              <a:defRPr sz="1200">
                <a:solidFill>
                  <a:srgbClr val="222222"/>
                </a:solidFill>
                <a:latin typeface="Calibri"/>
              </a:defRPr>
            </a:pPr>
            <a:r>
              <a:t>Peer coordination is scattered across WhatsApp, Discord, and Google Calendar.</a:t>
            </a:r>
          </a:p>
        </p:txBody>
      </p:sp>
      <p:sp>
        <p:nvSpPr>
          <p:cNvPr id="10" name="Rectangle 9"/>
          <p:cNvSpPr/>
          <p:nvPr/>
        </p:nvSpPr>
        <p:spPr>
          <a:xfrm>
            <a:off x="8028432"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t>ZERO SAFETY</a:t>
            </a:r>
          </a:p>
          <a:p>
            <a:pPr>
              <a:defRPr sz="1200">
                <a:solidFill>
                  <a:srgbClr val="222222"/>
                </a:solidFill>
                <a:latin typeface="Calibri"/>
              </a:defRPr>
            </a:pPr>
            <a:r>
              <a:t>Informal peer swaps suffer from ghosting, no-shows, and lack of accountability.</a:t>
            </a:r>
          </a:p>
        </p:txBody>
      </p:sp>
      <p:sp>
        <p:nvSpPr>
          <p:cNvPr id="12" name="Rectangle 11"/>
          <p:cNvSpPr/>
          <p:nvPr/>
        </p:nvSpPr>
        <p:spPr>
          <a:xfrm>
            <a:off x="731520" y="288036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4495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t>1. Expensive Professional Tutoring</a:t>
            </a:r>
          </a:p>
          <a:p>
            <a:pPr>
              <a:defRPr sz="1300">
                <a:solidFill>
                  <a:srgbClr val="222222"/>
                </a:solidFill>
                <a:latin typeface="Calibri"/>
              </a:defRPr>
            </a:pPr>
            <a:r>
              <a:t>Commercial EdTech platforms focus on corporate professionals, charging fees beyond average student budgets.</a:t>
            </a:r>
          </a:p>
        </p:txBody>
      </p:sp>
      <p:sp>
        <p:nvSpPr>
          <p:cNvPr id="14" name="Rectangle 13"/>
          <p:cNvSpPr/>
          <p:nvPr/>
        </p:nvSpPr>
        <p:spPr>
          <a:xfrm>
            <a:off x="6248095" y="288036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304495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t>2. Disconnected Communication Tools</a:t>
            </a:r>
          </a:p>
          <a:p>
            <a:pPr>
              <a:defRPr sz="1300">
                <a:solidFill>
                  <a:srgbClr val="222222"/>
                </a:solidFill>
                <a:latin typeface="Calibri"/>
              </a:defRPr>
            </a:pPr>
            <a:r>
              <a:t>Arranging sessions through chat apps leads to missed links, scheduling clashes, and lost notes without tracking.</a:t>
            </a:r>
          </a:p>
        </p:txBody>
      </p:sp>
      <p:sp>
        <p:nvSpPr>
          <p:cNvPr id="16" name="Rectangle 15"/>
          <p:cNvSpPr/>
          <p:nvPr/>
        </p:nvSpPr>
        <p:spPr>
          <a:xfrm>
            <a:off x="731520" y="452628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9087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t>3. High Ghosting &amp; No-Show Rates</a:t>
            </a:r>
          </a:p>
          <a:p>
            <a:pPr>
              <a:defRPr sz="1300">
                <a:solidFill>
                  <a:srgbClr val="222222"/>
                </a:solidFill>
                <a:latin typeface="Calibri"/>
              </a:defRPr>
            </a:pPr>
            <a:r>
              <a:t>Free peer-to-peer knowledge sharing lacks formal commitment; learners or mentors cancel last-minute with zero recourse.</a:t>
            </a:r>
          </a:p>
        </p:txBody>
      </p:sp>
      <p:sp>
        <p:nvSpPr>
          <p:cNvPr id="18" name="Rectangle 17"/>
          <p:cNvSpPr/>
          <p:nvPr/>
        </p:nvSpPr>
        <p:spPr>
          <a:xfrm>
            <a:off x="6248095" y="452628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0975" y="469087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t>4. Awkward Transaction Transparency</a:t>
            </a:r>
          </a:p>
          <a:p>
            <a:pPr>
              <a:defRPr sz="1300">
                <a:solidFill>
                  <a:srgbClr val="222222"/>
                </a:solidFill>
                <a:latin typeface="Calibri"/>
              </a:defRPr>
            </a:pPr>
            <a:r>
              <a:t>Students helping students hesitate to discuss hourly rates informally; lack of a clear fee ledger creates friction.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SCOPE &amp; ROLES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Project Objectives &amp; Core Modules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4 of 15</a:t>
            </a:r>
          </a:p>
        </p:txBody>
      </p:sp>
      <p:sp>
        <p:nvSpPr>
          <p:cNvPr id="6" name="Rectangle 5"/>
          <p:cNvSpPr/>
          <p:nvPr/>
        </p:nvSpPr>
        <p:spPr>
          <a:xfrm>
            <a:off x="731520" y="1234440"/>
            <a:ext cx="10728655" cy="86868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362895" cy="685800"/>
          </a:xfrm>
          <a:prstGeom prst="rect">
            <a:avLst/>
          </a:prstGeom>
          <a:noFill/>
        </p:spPr>
        <p:txBody>
          <a:bodyPr wrap="square">
            <a:spAutoFit/>
          </a:bodyPr>
          <a:lstStyle/>
          <a:p>
            <a:pPr>
              <a:spcAft>
                <a:spcPts val="200"/>
              </a:spcAft>
              <a:defRPr sz="1600" b="1">
                <a:solidFill>
                  <a:srgbClr val="176B4E"/>
                </a:solidFill>
                <a:latin typeface="Cambria"/>
              </a:defRPr>
            </a:pPr>
            <a:r>
              <a:t>Primary Goal: A trusted campus ecosystem for affordable 1-on-1 peer mentoring.</a:t>
            </a:r>
          </a:p>
          <a:p>
            <a:pPr>
              <a:defRPr sz="1300">
                <a:solidFill>
                  <a:srgbClr val="222222"/>
                </a:solidFill>
                <a:latin typeface="Calibri"/>
              </a:defRPr>
            </a:pPr>
            <a:r>
              <a:t>Empower students to monetize their domain expertise while enabling peers to book structured, verified learning sessions.</a:t>
            </a:r>
          </a:p>
        </p:txBody>
      </p:sp>
      <p:sp>
        <p:nvSpPr>
          <p:cNvPr id="8" name="Rectangle 7"/>
          <p:cNvSpPr/>
          <p:nvPr/>
        </p:nvSpPr>
        <p:spPr>
          <a:xfrm>
            <a:off x="731520"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t>Learner Module</a:t>
            </a:r>
          </a:p>
          <a:p>
            <a:pPr>
              <a:spcAft>
                <a:spcPts val="1400"/>
              </a:spcAft>
              <a:defRPr sz="1100">
                <a:solidFill>
                  <a:srgbClr val="666666"/>
                </a:solidFill>
                <a:latin typeface="Calibri"/>
              </a:defRPr>
            </a:pPr>
            <a:r>
              <a:t>For Students Seeking Guidance</a:t>
            </a:r>
          </a:p>
          <a:p>
            <a:pPr>
              <a:spcAft>
                <a:spcPts val="800"/>
              </a:spcAft>
              <a:defRPr sz="1300">
                <a:solidFill>
                  <a:srgbClr val="222222"/>
                </a:solidFill>
                <a:latin typeface="Calibri"/>
              </a:defRPr>
            </a:pPr>
            <a:r>
              <a:t>• Discover verified mentors by skill tags &amp; hourly rate</a:t>
            </a:r>
          </a:p>
          <a:p>
            <a:pPr>
              <a:spcAft>
                <a:spcPts val="800"/>
              </a:spcAft>
              <a:defRPr sz="1300">
                <a:solidFill>
                  <a:srgbClr val="222222"/>
                </a:solidFill>
                <a:latin typeface="Calibri"/>
              </a:defRPr>
            </a:pPr>
            <a:r>
              <a:t>• 3-step session scheduling with open date/time chips</a:t>
            </a:r>
          </a:p>
          <a:p>
            <a:pPr>
              <a:spcAft>
                <a:spcPts val="800"/>
              </a:spcAft>
              <a:defRPr sz="1300">
                <a:solidFill>
                  <a:srgbClr val="222222"/>
                </a:solidFill>
                <a:latin typeface="Calibri"/>
              </a:defRPr>
            </a:pPr>
            <a:r>
              <a:t>• Real-time 1-on-1 chat (5 free messages anti-spam)</a:t>
            </a:r>
          </a:p>
          <a:p>
            <a:pPr>
              <a:spcAft>
                <a:spcPts val="800"/>
              </a:spcAft>
              <a:defRPr sz="1300">
                <a:solidFill>
                  <a:srgbClr val="222222"/>
                </a:solidFill>
                <a:latin typeface="Calibri"/>
              </a:defRPr>
            </a:pPr>
            <a:r>
              <a:t>• Track live learning hours, attended sessions &amp; milestones</a:t>
            </a:r>
          </a:p>
        </p:txBody>
      </p:sp>
      <p:sp>
        <p:nvSpPr>
          <p:cNvPr id="10" name="Rectangle 9"/>
          <p:cNvSpPr/>
          <p:nvPr/>
        </p:nvSpPr>
        <p:spPr>
          <a:xfrm>
            <a:off x="4379976"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t>Mentor Module</a:t>
            </a:r>
          </a:p>
          <a:p>
            <a:pPr>
              <a:spcAft>
                <a:spcPts val="1400"/>
              </a:spcAft>
              <a:defRPr sz="1100">
                <a:solidFill>
                  <a:srgbClr val="666666"/>
                </a:solidFill>
                <a:latin typeface="Calibri"/>
              </a:defRPr>
            </a:pPr>
            <a:r>
              <a:t>For Student Practitioners &amp; Tutors</a:t>
            </a:r>
          </a:p>
          <a:p>
            <a:pPr>
              <a:spcAft>
                <a:spcPts val="800"/>
              </a:spcAft>
              <a:defRPr sz="1300">
                <a:solidFill>
                  <a:srgbClr val="222222"/>
                </a:solidFill>
                <a:latin typeface="Calibri"/>
              </a:defRPr>
            </a:pPr>
            <a:r>
              <a:t>• Set custom hourly rates &amp; define availability slots</a:t>
            </a:r>
          </a:p>
          <a:p>
            <a:pPr>
              <a:spcAft>
                <a:spcPts val="800"/>
              </a:spcAft>
              <a:defRPr sz="1300">
                <a:solidFill>
                  <a:srgbClr val="222222"/>
                </a:solidFill>
                <a:latin typeface="Calibri"/>
              </a:defRPr>
            </a:pPr>
            <a:r>
              <a:t>• Showcase skills with depth ratings (Beginner to Expert)</a:t>
            </a:r>
          </a:p>
          <a:p>
            <a:pPr>
              <a:spcAft>
                <a:spcPts val="800"/>
              </a:spcAft>
              <a:defRPr sz="1300">
                <a:solidFill>
                  <a:srgbClr val="222222"/>
                </a:solidFill>
                <a:latin typeface="Calibri"/>
              </a:defRPr>
            </a:pPr>
            <a:r>
              <a:t>• Accept, decline, or propose alternate session times</a:t>
            </a:r>
          </a:p>
          <a:p>
            <a:pPr>
              <a:spcAft>
                <a:spcPts val="800"/>
              </a:spcAft>
              <a:defRPr sz="1300">
                <a:solidFill>
                  <a:srgbClr val="222222"/>
                </a:solidFill>
                <a:latin typeface="Calibri"/>
              </a:defRPr>
            </a:pPr>
            <a:r>
              <a:t>• Teaching Studio analytics &amp; transparent earnings ledger</a:t>
            </a:r>
          </a:p>
        </p:txBody>
      </p:sp>
      <p:sp>
        <p:nvSpPr>
          <p:cNvPr id="12" name="Rectangle 11"/>
          <p:cNvSpPr/>
          <p:nvPr/>
        </p:nvSpPr>
        <p:spPr>
          <a:xfrm>
            <a:off x="8028432"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t>Admin Governance</a:t>
            </a:r>
          </a:p>
          <a:p>
            <a:pPr>
              <a:spcAft>
                <a:spcPts val="1400"/>
              </a:spcAft>
              <a:defRPr sz="1100">
                <a:solidFill>
                  <a:srgbClr val="666666"/>
                </a:solidFill>
                <a:latin typeface="Calibri"/>
              </a:defRPr>
            </a:pPr>
            <a:r>
              <a:t>For Platform Integrity &amp; Moderation</a:t>
            </a:r>
          </a:p>
          <a:p>
            <a:pPr>
              <a:spcAft>
                <a:spcPts val="800"/>
              </a:spcAft>
              <a:defRPr sz="1300">
                <a:solidFill>
                  <a:srgbClr val="222222"/>
                </a:solidFill>
                <a:latin typeface="Calibri"/>
              </a:defRPr>
            </a:pPr>
            <a:r>
              <a:t>• Central KPI console: user counts, sessions, pending checks</a:t>
            </a:r>
          </a:p>
          <a:p>
            <a:pPr>
              <a:spcAft>
                <a:spcPts val="800"/>
              </a:spcAft>
              <a:defRPr sz="1300">
                <a:solidFill>
                  <a:srgbClr val="222222"/>
                </a:solidFill>
                <a:latin typeface="Calibri"/>
              </a:defRPr>
            </a:pPr>
            <a:r>
              <a:t>• Member management: verify accounts, suspend bad actors</a:t>
            </a:r>
          </a:p>
          <a:p>
            <a:pPr>
              <a:spcAft>
                <a:spcPts val="800"/>
              </a:spcAft>
              <a:defRPr sz="1300">
                <a:solidFill>
                  <a:srgbClr val="222222"/>
                </a:solidFill>
                <a:latin typeface="Calibri"/>
              </a:defRPr>
            </a:pPr>
            <a:r>
              <a:t>• Audit session lifecycle logs &amp; manage dispute reports</a:t>
            </a:r>
          </a:p>
          <a:p>
            <a:pPr>
              <a:spcAft>
                <a:spcPts val="800"/>
              </a:spcAft>
              <a:defRPr sz="1300">
                <a:solidFill>
                  <a:srgbClr val="222222"/>
                </a:solidFill>
                <a:latin typeface="Calibri"/>
              </a:defRPr>
            </a:pPr>
            <a:r>
              <a:t>• Financial transparency with downloadable CSV ledgers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ENGINEERING FOUNDATION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Technology Stack &amp; Database Architecture</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5 of 15</a:t>
            </a:r>
          </a:p>
        </p:txBody>
      </p:sp>
      <p:sp>
        <p:nvSpPr>
          <p:cNvPr id="6" name="Rectangle 5"/>
          <p:cNvSpPr/>
          <p:nvPr/>
        </p:nvSpPr>
        <p:spPr>
          <a:xfrm>
            <a:off x="731520"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Frontend: React 19 + Vite</a:t>
            </a:r>
          </a:p>
          <a:p>
            <a:pPr>
              <a:defRPr sz="1100">
                <a:solidFill>
                  <a:srgbClr val="222222"/>
                </a:solidFill>
                <a:latin typeface="Calibri"/>
              </a:defRPr>
            </a:pPr>
            <a:r>
              <a:t>Component architecture, client routing, Lucide icons, responsive CSS variables.</a:t>
            </a:r>
          </a:p>
        </p:txBody>
      </p:sp>
      <p:sp>
        <p:nvSpPr>
          <p:cNvPr id="8" name="Rectangle 7"/>
          <p:cNvSpPr/>
          <p:nvPr/>
        </p:nvSpPr>
        <p:spPr>
          <a:xfrm>
            <a:off x="4379976"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Backend: Node.js + Express</a:t>
            </a:r>
          </a:p>
          <a:p>
            <a:pPr>
              <a:defRPr sz="1100">
                <a:solidFill>
                  <a:srgbClr val="222222"/>
                </a:solidFill>
                <a:latin typeface="Calibri"/>
              </a:defRPr>
            </a:pPr>
            <a:r>
              <a:t>RESTful controllers, modular routes, error handling, and request validation.</a:t>
            </a:r>
          </a:p>
        </p:txBody>
      </p:sp>
      <p:sp>
        <p:nvSpPr>
          <p:cNvPr id="10" name="Rectangle 9"/>
          <p:cNvSpPr/>
          <p:nvPr/>
        </p:nvSpPr>
        <p:spPr>
          <a:xfrm>
            <a:off x="8028432"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Database: MongoDB Atlas</a:t>
            </a:r>
          </a:p>
          <a:p>
            <a:pPr>
              <a:defRPr sz="1100">
                <a:solidFill>
                  <a:srgbClr val="222222"/>
                </a:solidFill>
                <a:latin typeface="Calibri"/>
              </a:defRPr>
            </a:pPr>
            <a:r>
              <a:t>Cloud NoSQL cluster with Mongoose ODM schemas, indexing, and references.</a:t>
            </a:r>
          </a:p>
        </p:txBody>
      </p:sp>
      <p:sp>
        <p:nvSpPr>
          <p:cNvPr id="12" name="Rectangle 11"/>
          <p:cNvSpPr/>
          <p:nvPr/>
        </p:nvSpPr>
        <p:spPr>
          <a:xfrm>
            <a:off x="731520"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Real-Time: Socket.io</a:t>
            </a:r>
          </a:p>
          <a:p>
            <a:pPr>
              <a:defRPr sz="1100">
                <a:solidFill>
                  <a:srgbClr val="222222"/>
                </a:solidFill>
                <a:latin typeface="Calibri"/>
              </a:defRPr>
            </a:pPr>
            <a:r>
              <a:t>Persistent bi-directional WebSocket channels for instant messaging &amp; read status.</a:t>
            </a:r>
          </a:p>
        </p:txBody>
      </p:sp>
      <p:sp>
        <p:nvSpPr>
          <p:cNvPr id="14" name="Rectangle 13"/>
          <p:cNvSpPr/>
          <p:nvPr/>
        </p:nvSpPr>
        <p:spPr>
          <a:xfrm>
            <a:off x="4379976"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Auth: JWT &amp; Bcrypt</a:t>
            </a:r>
          </a:p>
          <a:p>
            <a:pPr>
              <a:defRPr sz="1100">
                <a:solidFill>
                  <a:srgbClr val="222222"/>
                </a:solidFill>
                <a:latin typeface="Calibri"/>
              </a:defRPr>
            </a:pPr>
            <a:r>
              <a:t>Stateless bearer token authorization with 10-round salted password hashing.</a:t>
            </a:r>
          </a:p>
        </p:txBody>
      </p:sp>
      <p:sp>
        <p:nvSpPr>
          <p:cNvPr id="16" name="Rectangle 15"/>
          <p:cNvSpPr/>
          <p:nvPr/>
        </p:nvSpPr>
        <p:spPr>
          <a:xfrm>
            <a:off x="8028432"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t>Ledger: Simulated Escrow</a:t>
            </a:r>
          </a:p>
          <a:p>
            <a:pPr>
              <a:defRPr sz="1100">
                <a:solidFill>
                  <a:srgbClr val="222222"/>
                </a:solidFill>
                <a:latin typeface="Calibri"/>
              </a:defRPr>
            </a:pPr>
            <a:r>
              <a:t>0% platform fee, 0% tax, transparent hourly billing &amp; manual admin settlements.</a:t>
            </a:r>
          </a:p>
        </p:txBody>
      </p:sp>
      <p:sp>
        <p:nvSpPr>
          <p:cNvPr id="18" name="Rectangle 17"/>
          <p:cNvSpPr/>
          <p:nvPr/>
        </p:nvSpPr>
        <p:spPr>
          <a:xfrm>
            <a:off x="731520"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t>User Model</a:t>
            </a:r>
          </a:p>
          <a:p>
            <a:pPr>
              <a:lnSpc>
                <a:spcPct val="115000"/>
              </a:lnSpc>
              <a:defRPr sz="1100">
                <a:solidFill>
                  <a:srgbClr val="222222"/>
                </a:solidFill>
                <a:latin typeface="Calibri"/>
              </a:defRPr>
            </a:pPr>
            <a:r>
              <a:t>name, email, password, role ('learner'|'mentor'|'admin'), bio, skillsToTeach, skillsToLearn, hourlyRate, availability, payoutUpiId, profileCompleted, isActive</a:t>
            </a:r>
          </a:p>
        </p:txBody>
      </p:sp>
      <p:sp>
        <p:nvSpPr>
          <p:cNvPr id="20" name="Rectangle 19"/>
          <p:cNvSpPr/>
          <p:nvPr/>
        </p:nvSpPr>
        <p:spPr>
          <a:xfrm>
            <a:off x="3456432"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t>Booking Model</a:t>
            </a:r>
          </a:p>
          <a:p>
            <a:pPr>
              <a:lnSpc>
                <a:spcPct val="115000"/>
              </a:lnSpc>
              <a:defRPr sz="1100">
                <a:solidFill>
                  <a:srgbClr val="222222"/>
                </a:solidFill>
                <a:latin typeface="Calibri"/>
              </a:defRPr>
            </a:pPr>
            <a:r>
              <a:t>learner (Ref), mentor (Ref), date, time, duration (30-120m), status ('pending'|'confirmed'|'completed'|'cancelled'), actionExpiresAt (4h), meetingUrl</a:t>
            </a:r>
          </a:p>
        </p:txBody>
      </p:sp>
      <p:sp>
        <p:nvSpPr>
          <p:cNvPr id="22" name="Rectangle 21"/>
          <p:cNvSpPr/>
          <p:nvPr/>
        </p:nvSpPr>
        <p:spPr>
          <a:xfrm>
            <a:off x="6181344"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t>Chat Models</a:t>
            </a:r>
          </a:p>
          <a:p>
            <a:pPr>
              <a:lnSpc>
                <a:spcPct val="115000"/>
              </a:lnSpc>
              <a:defRPr sz="1100">
                <a:solidFill>
                  <a:srgbClr val="222222"/>
                </a:solidFill>
                <a:latin typeface="Calibri"/>
              </a:defRPr>
            </a:pPr>
            <a:r>
              <a:t>Conversation: participants, bookingId, lastMessage, lastActivityAt</a:t>
            </a:r>
            <a:br/>
            <a:r>
              <a:t>Message: conversationId, sender, text, isEdited, readBy</a:t>
            </a:r>
          </a:p>
        </p:txBody>
      </p:sp>
      <p:sp>
        <p:nvSpPr>
          <p:cNvPr id="24" name="Rectangle 23"/>
          <p:cNvSpPr/>
          <p:nvPr/>
        </p:nvSpPr>
        <p:spPr>
          <a:xfrm>
            <a:off x="8906256"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6"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t>Review &amp; Wallet</a:t>
            </a:r>
          </a:p>
          <a:p>
            <a:pPr>
              <a:lnSpc>
                <a:spcPct val="115000"/>
              </a:lnSpc>
              <a:defRPr sz="1100">
                <a:solidFill>
                  <a:srgbClr val="222222"/>
                </a:solidFill>
                <a:latin typeface="Calibri"/>
              </a:defRPr>
            </a:pPr>
            <a:r>
              <a:t>Review: mentor, learner, rating (1-5), comment</a:t>
            </a:r>
            <a:br/>
            <a:r>
              <a:t>Wallet: balance (simulated top-up), user, transactions ledger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HIGH-LEVEL DESIGN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System Architecture: End-to-End Data Flow</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6 of 15</a:t>
            </a:r>
          </a:p>
        </p:txBody>
      </p:sp>
      <p:sp>
        <p:nvSpPr>
          <p:cNvPr id="6" name="Rectangle 5"/>
          <p:cNvSpPr/>
          <p:nvPr/>
        </p:nvSpPr>
        <p:spPr>
          <a:xfrm>
            <a:off x="822960" y="1645920"/>
            <a:ext cx="292608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t>React Client (Frontend)</a:t>
            </a:r>
            <a:br/>
          </a:p>
          <a:p>
            <a:pPr>
              <a:spcAft>
                <a:spcPts val="600"/>
              </a:spcAft>
              <a:defRPr sz="1300">
                <a:solidFill>
                  <a:srgbClr val="000000"/>
                </a:solidFill>
                <a:latin typeface="Calibri"/>
              </a:defRPr>
            </a:pPr>
            <a:r>
              <a:t>• Vite Development &amp; Bundling</a:t>
            </a:r>
          </a:p>
          <a:p>
            <a:pPr>
              <a:spcAft>
                <a:spcPts val="600"/>
              </a:spcAft>
              <a:defRPr sz="1300">
                <a:solidFill>
                  <a:srgbClr val="000000"/>
                </a:solidFill>
                <a:latin typeface="Calibri"/>
              </a:defRPr>
            </a:pPr>
            <a:r>
              <a:t>• React Router Navigation</a:t>
            </a:r>
          </a:p>
          <a:p>
            <a:pPr>
              <a:spcAft>
                <a:spcPts val="600"/>
              </a:spcAft>
              <a:defRPr sz="1300">
                <a:solidFill>
                  <a:srgbClr val="000000"/>
                </a:solidFill>
                <a:latin typeface="Calibri"/>
              </a:defRPr>
            </a:pPr>
            <a:r>
              <a:t>• Learner &amp; Mentor Views</a:t>
            </a:r>
          </a:p>
          <a:p>
            <a:pPr>
              <a:spcAft>
                <a:spcPts val="600"/>
              </a:spcAft>
              <a:defRPr sz="1300">
                <a:solidFill>
                  <a:srgbClr val="000000"/>
                </a:solidFill>
                <a:latin typeface="Calibri"/>
              </a:defRPr>
            </a:pPr>
            <a:r>
              <a:t>• Socket.io Client Listener</a:t>
            </a:r>
          </a:p>
          <a:p>
            <a:pPr>
              <a:spcAft>
                <a:spcPts val="600"/>
              </a:spcAft>
              <a:defRPr sz="1300">
                <a:solidFill>
                  <a:srgbClr val="000000"/>
                </a:solidFill>
                <a:latin typeface="Calibri"/>
              </a:defRPr>
            </a:pPr>
            <a:r>
              <a:t>• LocalStorage Token Persistence</a:t>
            </a:r>
          </a:p>
        </p:txBody>
      </p:sp>
      <p:sp>
        <p:nvSpPr>
          <p:cNvPr id="7" name="Right Arrow 6"/>
          <p:cNvSpPr/>
          <p:nvPr/>
        </p:nvSpPr>
        <p:spPr>
          <a:xfrm>
            <a:off x="3931920" y="2377440"/>
            <a:ext cx="1188720" cy="411480"/>
          </a:xfrm>
          <a:prstGeom prs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920240"/>
            <a:ext cx="1554480" cy="411480"/>
          </a:xfrm>
          <a:prstGeom prst="rect">
            <a:avLst/>
          </a:prstGeom>
          <a:noFill/>
        </p:spPr>
        <p:txBody>
          <a:bodyPr wrap="none">
            <a:spAutoFit/>
          </a:bodyPr>
          <a:lstStyle/>
          <a:p>
            <a:pPr algn="ctr">
              <a:defRPr sz="1200" b="1">
                <a:solidFill>
                  <a:srgbClr val="000000"/>
                </a:solidFill>
                <a:latin typeface="Calibri"/>
              </a:defRPr>
            </a:pPr>
            <a:r>
              <a:t>RESTful HTTP</a:t>
            </a:r>
          </a:p>
        </p:txBody>
      </p:sp>
      <p:sp>
        <p:nvSpPr>
          <p:cNvPr id="9" name="Left-Right Arrow 8"/>
          <p:cNvSpPr/>
          <p:nvPr/>
        </p:nvSpPr>
        <p:spPr>
          <a:xfrm>
            <a:off x="3931920" y="4389120"/>
            <a:ext cx="1188720" cy="411480"/>
          </a:xfrm>
          <a:prstGeom prst="lef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4892040"/>
            <a:ext cx="1554480" cy="411480"/>
          </a:xfrm>
          <a:prstGeom prst="rect">
            <a:avLst/>
          </a:prstGeom>
          <a:noFill/>
        </p:spPr>
        <p:txBody>
          <a:bodyPr wrap="none">
            <a:spAutoFit/>
          </a:bodyPr>
          <a:lstStyle/>
          <a:p>
            <a:pPr algn="ctr">
              <a:defRPr sz="1200" b="1">
                <a:solidFill>
                  <a:srgbClr val="000000"/>
                </a:solidFill>
                <a:latin typeface="Calibri"/>
              </a:defRPr>
            </a:pPr>
            <a:r>
              <a:t>WebSocket (Chat)</a:t>
            </a:r>
          </a:p>
        </p:txBody>
      </p:sp>
      <p:sp>
        <p:nvSpPr>
          <p:cNvPr id="11" name="Rectangle 10"/>
          <p:cNvSpPr/>
          <p:nvPr/>
        </p:nvSpPr>
        <p:spPr>
          <a:xfrm>
            <a:off x="5303520" y="1645920"/>
            <a:ext cx="310896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t>Node.js / Express API</a:t>
            </a:r>
            <a:br/>
          </a:p>
          <a:p>
            <a:pPr>
              <a:spcAft>
                <a:spcPts val="600"/>
              </a:spcAft>
              <a:defRPr sz="1300">
                <a:solidFill>
                  <a:srgbClr val="000000"/>
                </a:solidFill>
                <a:latin typeface="Calibri"/>
              </a:defRPr>
            </a:pPr>
            <a:r>
              <a:t>• JWT Auth &amp; Role Protection</a:t>
            </a:r>
          </a:p>
          <a:p>
            <a:pPr>
              <a:spcAft>
                <a:spcPts val="600"/>
              </a:spcAft>
              <a:defRPr sz="1300">
                <a:solidFill>
                  <a:srgbClr val="000000"/>
                </a:solidFill>
                <a:latin typeface="Calibri"/>
              </a:defRPr>
            </a:pPr>
            <a:r>
              <a:t>• Booking Lifecycle Controller</a:t>
            </a:r>
          </a:p>
          <a:p>
            <a:pPr>
              <a:spcAft>
                <a:spcPts val="600"/>
              </a:spcAft>
              <a:defRPr sz="1300">
                <a:solidFill>
                  <a:srgbClr val="000000"/>
                </a:solidFill>
                <a:latin typeface="Calibri"/>
              </a:defRPr>
            </a:pPr>
            <a:r>
              <a:t>• Socket.io Server Event Bus</a:t>
            </a:r>
          </a:p>
          <a:p>
            <a:pPr>
              <a:spcAft>
                <a:spcPts val="600"/>
              </a:spcAft>
              <a:defRPr sz="1300">
                <a:solidFill>
                  <a:srgbClr val="000000"/>
                </a:solidFill>
                <a:latin typeface="Calibri"/>
              </a:defRPr>
            </a:pPr>
            <a:r>
              <a:t>• Google Meet Link Generator</a:t>
            </a:r>
          </a:p>
          <a:p>
            <a:pPr>
              <a:spcAft>
                <a:spcPts val="600"/>
              </a:spcAft>
              <a:defRPr sz="1300">
                <a:solidFill>
                  <a:srgbClr val="000000"/>
                </a:solidFill>
                <a:latin typeface="Calibri"/>
              </a:defRPr>
            </a:pPr>
            <a:r>
              <a:t>• Admin Moderation Endpoints</a:t>
            </a:r>
          </a:p>
        </p:txBody>
      </p:sp>
      <p:sp>
        <p:nvSpPr>
          <p:cNvPr id="12" name="Left-Right Arrow 11"/>
          <p:cNvSpPr/>
          <p:nvPr/>
        </p:nvSpPr>
        <p:spPr>
          <a:xfrm>
            <a:off x="8595360" y="3383280"/>
            <a:ext cx="822960" cy="411480"/>
          </a:xfrm>
          <a:prstGeom prst="lef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880360"/>
            <a:ext cx="1371600" cy="411480"/>
          </a:xfrm>
          <a:prstGeom prst="rect">
            <a:avLst/>
          </a:prstGeom>
          <a:noFill/>
        </p:spPr>
        <p:txBody>
          <a:bodyPr wrap="none">
            <a:spAutoFit/>
          </a:bodyPr>
          <a:lstStyle/>
          <a:p>
            <a:pPr algn="ctr">
              <a:defRPr sz="1200" b="1">
                <a:solidFill>
                  <a:srgbClr val="000000"/>
                </a:solidFill>
                <a:latin typeface="Calibri"/>
              </a:defRPr>
            </a:pPr>
            <a:r>
              <a:t>Mongoose ODM</a:t>
            </a:r>
          </a:p>
        </p:txBody>
      </p:sp>
      <p:sp>
        <p:nvSpPr>
          <p:cNvPr id="14" name="Rectangle 13"/>
          <p:cNvSpPr/>
          <p:nvPr/>
        </p:nvSpPr>
        <p:spPr>
          <a:xfrm>
            <a:off x="9601200" y="1645920"/>
            <a:ext cx="182880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t>MongoDB Atlas</a:t>
            </a:r>
            <a:br/>
          </a:p>
          <a:p>
            <a:pPr>
              <a:spcAft>
                <a:spcPts val="800"/>
              </a:spcAft>
              <a:defRPr sz="1300">
                <a:solidFill>
                  <a:srgbClr val="000000"/>
                </a:solidFill>
                <a:latin typeface="Calibri"/>
              </a:defRPr>
            </a:pPr>
            <a:r>
              <a:t>• Users</a:t>
            </a:r>
          </a:p>
          <a:p>
            <a:pPr>
              <a:spcAft>
                <a:spcPts val="800"/>
              </a:spcAft>
              <a:defRPr sz="1300">
                <a:solidFill>
                  <a:srgbClr val="000000"/>
                </a:solidFill>
                <a:latin typeface="Calibri"/>
              </a:defRPr>
            </a:pPr>
            <a:r>
              <a:t>• Bookings</a:t>
            </a:r>
          </a:p>
          <a:p>
            <a:pPr>
              <a:spcAft>
                <a:spcPts val="800"/>
              </a:spcAft>
              <a:defRPr sz="1300">
                <a:solidFill>
                  <a:srgbClr val="000000"/>
                </a:solidFill>
                <a:latin typeface="Calibri"/>
              </a:defRPr>
            </a:pPr>
            <a:r>
              <a:t>• Messages</a:t>
            </a:r>
          </a:p>
          <a:p>
            <a:pPr>
              <a:spcAft>
                <a:spcPts val="800"/>
              </a:spcAft>
              <a:defRPr sz="1300">
                <a:solidFill>
                  <a:srgbClr val="000000"/>
                </a:solidFill>
                <a:latin typeface="Calibri"/>
              </a:defRPr>
            </a:pPr>
            <a:r>
              <a:t>• Reviews</a:t>
            </a:r>
          </a:p>
          <a:p>
            <a:pPr>
              <a:spcAft>
                <a:spcPts val="800"/>
              </a:spcAft>
              <a:defRPr sz="1300">
                <a:solidFill>
                  <a:srgbClr val="000000"/>
                </a:solidFill>
                <a:latin typeface="Calibri"/>
              </a:defRPr>
            </a:pPr>
            <a:r>
              <a:t>•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CORE INNOVATION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Signature Feature: 5-Stage Session Booking Lifecycle</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7 of 15</a:t>
            </a:r>
          </a:p>
        </p:txBody>
      </p:sp>
      <p:sp>
        <p:nvSpPr>
          <p:cNvPr id="6" name="Rectangle 5"/>
          <p:cNvSpPr/>
          <p:nvPr/>
        </p:nvSpPr>
        <p:spPr>
          <a:xfrm>
            <a:off x="73152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t>STEP 1</a:t>
            </a:r>
          </a:p>
          <a:p>
            <a:pPr>
              <a:spcAft>
                <a:spcPts val="1000"/>
              </a:spcAft>
              <a:defRPr sz="1800" b="1">
                <a:solidFill>
                  <a:srgbClr val="222222"/>
                </a:solidFill>
                <a:latin typeface="Cambria"/>
              </a:defRPr>
            </a:pPr>
            <a:r>
              <a:t>Choose</a:t>
            </a:r>
          </a:p>
          <a:p>
            <a:pPr>
              <a:lnSpc>
                <a:spcPct val="120000"/>
              </a:lnSpc>
              <a:defRPr sz="1300">
                <a:solidFill>
                  <a:srgbClr val="222222"/>
                </a:solidFill>
                <a:latin typeface="Calibri"/>
              </a:defRPr>
            </a:pPr>
            <a:r>
              <a:t>Learner selects duration (30-120m), date chip, and available time slot.</a:t>
            </a:r>
          </a:p>
        </p:txBody>
      </p:sp>
      <p:sp>
        <p:nvSpPr>
          <p:cNvPr id="8" name="Right Arrow 7"/>
          <p:cNvSpPr/>
          <p:nvPr/>
        </p:nvSpPr>
        <p:spPr>
          <a:xfrm>
            <a:off x="273405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t>STEP 2</a:t>
            </a:r>
          </a:p>
          <a:p>
            <a:pPr>
              <a:spcAft>
                <a:spcPts val="1000"/>
              </a:spcAft>
              <a:defRPr sz="1800" b="1">
                <a:solidFill>
                  <a:srgbClr val="222222"/>
                </a:solidFill>
                <a:latin typeface="Cambria"/>
              </a:defRPr>
            </a:pPr>
            <a:r>
              <a:t>Validate</a:t>
            </a:r>
          </a:p>
          <a:p>
            <a:pPr>
              <a:lnSpc>
                <a:spcPct val="120000"/>
              </a:lnSpc>
              <a:defRPr sz="1300">
                <a:solidFill>
                  <a:srgbClr val="222222"/>
                </a:solidFill>
                <a:latin typeface="Calibri"/>
              </a:defRPr>
            </a:pPr>
            <a:r>
              <a:t>System checks mentor schedule, prevents self-booking, sets 4h expiry.</a:t>
            </a:r>
          </a:p>
        </p:txBody>
      </p:sp>
      <p:sp>
        <p:nvSpPr>
          <p:cNvPr id="11" name="Right Arrow 10"/>
          <p:cNvSpPr/>
          <p:nvPr/>
        </p:nvSpPr>
        <p:spPr>
          <a:xfrm>
            <a:off x="492861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2064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t>STEP 3</a:t>
            </a:r>
          </a:p>
          <a:p>
            <a:pPr>
              <a:spcAft>
                <a:spcPts val="1000"/>
              </a:spcAft>
              <a:defRPr sz="1800" b="1">
                <a:solidFill>
                  <a:srgbClr val="222222"/>
                </a:solidFill>
                <a:latin typeface="Cambria"/>
              </a:defRPr>
            </a:pPr>
            <a:r>
              <a:t>Respond</a:t>
            </a:r>
          </a:p>
          <a:p>
            <a:pPr>
              <a:lnSpc>
                <a:spcPct val="120000"/>
              </a:lnSpc>
              <a:defRPr sz="1300">
                <a:solidFill>
                  <a:srgbClr val="222222"/>
                </a:solidFill>
                <a:latin typeface="Calibri"/>
              </a:defRPr>
            </a:pPr>
            <a:r>
              <a:t>Mentor reviews request to Accept, Propose Alternate Slots, or Decline.</a:t>
            </a:r>
          </a:p>
        </p:txBody>
      </p:sp>
      <p:sp>
        <p:nvSpPr>
          <p:cNvPr id="14" name="Right Arrow 13"/>
          <p:cNvSpPr/>
          <p:nvPr/>
        </p:nvSpPr>
        <p:spPr>
          <a:xfrm>
            <a:off x="712317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t>STEP 4</a:t>
            </a:r>
          </a:p>
          <a:p>
            <a:pPr>
              <a:spcAft>
                <a:spcPts val="1000"/>
              </a:spcAft>
              <a:defRPr sz="1800" b="1">
                <a:solidFill>
                  <a:srgbClr val="222222"/>
                </a:solidFill>
                <a:latin typeface="Cambria"/>
              </a:defRPr>
            </a:pPr>
            <a:r>
              <a:t>Confirm</a:t>
            </a:r>
          </a:p>
          <a:p>
            <a:pPr>
              <a:lnSpc>
                <a:spcPct val="120000"/>
              </a:lnSpc>
              <a:defRPr sz="1300">
                <a:solidFill>
                  <a:srgbClr val="222222"/>
                </a:solidFill>
                <a:latin typeface="Calibri"/>
              </a:defRPr>
            </a:pPr>
            <a:r>
              <a:t>Session locked; Google Meet link attached; unlimited chat unlocked.</a:t>
            </a:r>
          </a:p>
        </p:txBody>
      </p:sp>
      <p:sp>
        <p:nvSpPr>
          <p:cNvPr id="17" name="Right Arrow 16"/>
          <p:cNvSpPr/>
          <p:nvPr/>
        </p:nvSpPr>
        <p:spPr>
          <a:xfrm>
            <a:off x="931773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t>STEP 5</a:t>
            </a:r>
          </a:p>
          <a:p>
            <a:pPr>
              <a:spcAft>
                <a:spcPts val="1000"/>
              </a:spcAft>
              <a:defRPr sz="1800" b="1">
                <a:solidFill>
                  <a:srgbClr val="222222"/>
                </a:solidFill>
                <a:latin typeface="Cambria"/>
              </a:defRPr>
            </a:pPr>
            <a:r>
              <a:t>Complete</a:t>
            </a:r>
          </a:p>
          <a:p>
            <a:pPr>
              <a:lnSpc>
                <a:spcPct val="120000"/>
              </a:lnSpc>
              <a:defRPr sz="1300">
                <a:solidFill>
                  <a:srgbClr val="222222"/>
                </a:solidFill>
                <a:latin typeface="Calibri"/>
              </a:defRPr>
            </a:pPr>
            <a:r>
              <a:t>Session held; earnings credited to ledger; mutual reviews submitted.</a:t>
            </a:r>
          </a:p>
        </p:txBody>
      </p:sp>
      <p:sp>
        <p:nvSpPr>
          <p:cNvPr id="20" name="Rectangle 19"/>
          <p:cNvSpPr/>
          <p:nvPr/>
        </p:nvSpPr>
        <p:spPr>
          <a:xfrm>
            <a:off x="731520" y="4754880"/>
            <a:ext cx="10728655" cy="128016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92040"/>
            <a:ext cx="10362895" cy="1005840"/>
          </a:xfrm>
          <a:prstGeom prst="rect">
            <a:avLst/>
          </a:prstGeom>
          <a:noFill/>
        </p:spPr>
        <p:txBody>
          <a:bodyPr wrap="square">
            <a:spAutoFit/>
          </a:bodyPr>
          <a:lstStyle/>
          <a:p>
            <a:pPr>
              <a:spcAft>
                <a:spcPts val="400"/>
              </a:spcAft>
              <a:defRPr sz="1600" b="1">
                <a:solidFill>
                  <a:srgbClr val="176B4E"/>
                </a:solidFill>
                <a:latin typeface="Cambria"/>
              </a:defRPr>
            </a:pPr>
            <a:r>
              <a:t>Strict 4-Hour Action Window &amp; Counter-Proposal Protocol</a:t>
            </a:r>
          </a:p>
          <a:p>
            <a:pPr>
              <a:defRPr sz="1300">
                <a:solidFill>
                  <a:srgbClr val="222222"/>
                </a:solidFill>
                <a:latin typeface="Calibri"/>
              </a:defRPr>
            </a:pPr>
            <a:r>
              <a:t>• If a mentor does not respond within 4 hours, the request automatically expires to free the learner's schedule.</a:t>
            </a:r>
          </a:p>
          <a:p>
            <a:pPr>
              <a:defRPr sz="1300">
                <a:solidFill>
                  <a:srgbClr val="222222"/>
                </a:solidFill>
                <a:latin typeface="Calibri"/>
              </a:defRPr>
            </a:pPr>
            <a:r>
              <a:t>• Mentors can counter-propose up to 3 alternative time slots directly without declining the learner.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USER ONBOARDING</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Live Walkthrough: Landing &amp; Authentication</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8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t>• Dual-Path Landing: Welcomes users with 'Share what you know' (mentor) and 'Learn something new' (learner).</a:t>
            </a:r>
          </a:p>
          <a:p>
            <a:pPr>
              <a:spcAft>
                <a:spcPts val="300"/>
              </a:spcAft>
              <a:defRPr sz="1300">
                <a:solidFill>
                  <a:srgbClr val="222222"/>
                </a:solidFill>
                <a:latin typeface="Calibri"/>
              </a:defRPr>
            </a:pPr>
            <a:r>
              <a:t>• Role-Based Registration: Simple choice between 'Learn Skills' and 'Teach &amp; Mentor' with terms validation.</a:t>
            </a:r>
          </a:p>
          <a:p>
            <a:pPr>
              <a:defRPr sz="1300">
                <a:solidFill>
                  <a:srgbClr val="222222"/>
                </a:solidFill>
                <a:latin typeface="Calibri"/>
              </a:defRPr>
            </a:pPr>
            <a:r>
              <a:t>• Secure Access: Bcrypt salted password encryption, JWT local storage, and instant redirection to role dashboards.</a:t>
            </a:r>
          </a:p>
        </p:txBody>
      </p:sp>
      <p:pic>
        <p:nvPicPr>
          <p:cNvPr id="7" name="Picture 6" descr="01_home.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2a_login.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PEER MATCHING</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Live Walkthrough: Discovery &amp; Profile Management</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9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t>• Searchable Directory: Real-time search across peers and mentors by name, role, or technical skill tags.</a:t>
            </a:r>
          </a:p>
          <a:p>
            <a:pPr>
              <a:spcAft>
                <a:spcPts val="300"/>
              </a:spcAft>
              <a:defRPr sz="1300">
                <a:solidFill>
                  <a:srgbClr val="222222"/>
                </a:solidFill>
                <a:latin typeface="Calibri"/>
              </a:defRPr>
            </a:pPr>
            <a:r>
              <a:t>• Complete Profiles: Showcase bio, skills to teach, skills to learn, and weekly schedule availability.</a:t>
            </a:r>
          </a:p>
          <a:p>
            <a:pPr>
              <a:defRPr sz="1300">
                <a:solidFill>
                  <a:srgbClr val="222222"/>
                </a:solidFill>
                <a:latin typeface="Calibri"/>
              </a:defRPr>
            </a:pPr>
            <a:r>
              <a:t>• Public Mentor Portfolio: Displays verified badge, hourly rates (e.g. ₹400/hr), and direct 'Book Session' action.</a:t>
            </a:r>
          </a:p>
        </p:txBody>
      </p:sp>
      <p:pic>
        <p:nvPicPr>
          <p:cNvPr id="7" name="Picture 6" descr="04_discover.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3b_other_user_profile.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PROGRESS &amp; EARNINGS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Live Walkthrough: Role-Based Dashboards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10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t>• Learner Growth Tracker: Monitors live learning hours, attended sessions, mentors connected, and topic milestones.</a:t>
            </a:r>
          </a:p>
          <a:p>
            <a:pPr>
              <a:spcAft>
                <a:spcPts val="300"/>
              </a:spcAft>
              <a:defRPr sz="1300">
                <a:solidFill>
                  <a:srgbClr val="222222"/>
                </a:solidFill>
                <a:latin typeface="Calibri"/>
              </a:defRPr>
            </a:pPr>
            <a:r>
              <a:t>• Mentor Teaching Studio: Live session request flow, skill depth meters (Beginner-Expert), and student counts.</a:t>
            </a:r>
          </a:p>
          <a:p>
            <a:pPr>
              <a:defRPr sz="1300">
                <a:solidFill>
                  <a:srgbClr val="222222"/>
                </a:solidFill>
                <a:latin typeface="Calibri"/>
              </a:defRPr>
            </a:pPr>
            <a:r>
              <a:t>• Transparent Earnings Ledger: Tracks lifetime revenue, pending disbursements, and inline UPI ID payout setup.</a:t>
            </a:r>
          </a:p>
        </p:txBody>
      </p:sp>
      <p:pic>
        <p:nvPicPr>
          <p:cNvPr id="7" name="Picture 6" descr="05_learner_dashboard.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6_mentor_dashboard.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CORE COLLABORATION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Live Walkthrough: Session Booking &amp; Live Chat</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11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t>• 3-Step Booking Wizard: Select duration (30-120 mins), choose upcoming date chip, and pick morning/evening slots.</a:t>
            </a:r>
          </a:p>
          <a:p>
            <a:pPr>
              <a:spcAft>
                <a:spcPts val="300"/>
              </a:spcAft>
              <a:defRPr sz="1300">
                <a:solidFill>
                  <a:srgbClr val="222222"/>
                </a:solidFill>
                <a:latin typeface="Calibri"/>
              </a:defRPr>
            </a:pPr>
            <a:r>
              <a:t>• Transparent Fee Model: 0% platform fee, 0% tax, transparent hourly calculation, and escrow protection notice.</a:t>
            </a:r>
          </a:p>
          <a:p>
            <a:pPr>
              <a:defRPr sz="1300">
                <a:solidFill>
                  <a:srgbClr val="222222"/>
                </a:solidFill>
                <a:latin typeface="Calibri"/>
              </a:defRPr>
            </a:pPr>
            <a:r>
              <a:t>• Socket.io Duplex Chat: Real-time messaging with 5-free message anti-spam barrier until session is booked.</a:t>
            </a:r>
          </a:p>
        </p:txBody>
      </p:sp>
      <p:pic>
        <p:nvPicPr>
          <p:cNvPr id="7" name="Picture 6" descr="07_booking_flow.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8_chat.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GOVERNANCE</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Live Walkthrough: Admin Governance &amp; Quality Control</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12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t>• Platform Overview KPIs: Live tracking of total members (14), mentors (8), learners (5), and sessions (29).</a:t>
            </a:r>
          </a:p>
          <a:p>
            <a:pPr>
              <a:spcAft>
                <a:spcPts val="300"/>
              </a:spcAft>
              <a:defRPr sz="1300">
                <a:solidFill>
                  <a:srgbClr val="222222"/>
                </a:solidFill>
                <a:latin typeface="Calibri"/>
              </a:defRPr>
            </a:pPr>
            <a:r>
              <a:t>• Member Management: Administrator controls to verify student credentials, change roles, or suspend bad actors.</a:t>
            </a:r>
          </a:p>
          <a:p>
            <a:pPr>
              <a:defRPr sz="1300">
                <a:solidFill>
                  <a:srgbClr val="222222"/>
                </a:solidFill>
                <a:latin typeface="Calibri"/>
              </a:defRPr>
            </a:pPr>
            <a:r>
              <a:t>• Quality &amp; Audits: Verified post-session 1-5 star reviews, feedback collection, and downloadable financial CSV ledgers.</a:t>
            </a:r>
          </a:p>
        </p:txBody>
      </p:sp>
      <p:pic>
        <p:nvPicPr>
          <p:cNvPr id="7" name="Picture 6" descr="10_admin_dashboard.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10b_admin_members.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TECHNICAL DEEP DIVE</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Engineering Challenge: Dark Theme CSS Specificity</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13 of 15</a:t>
            </a:r>
          </a:p>
        </p:txBody>
      </p:sp>
      <p:sp>
        <p:nvSpPr>
          <p:cNvPr id="6" name="Rectangle 5"/>
          <p:cNvSpPr/>
          <p:nvPr/>
        </p:nvSpPr>
        <p:spPr>
          <a:xfrm>
            <a:off x="731520" y="1234440"/>
            <a:ext cx="5212080" cy="4892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4480560"/>
          </a:xfrm>
          <a:prstGeom prst="rect">
            <a:avLst/>
          </a:prstGeom>
          <a:noFill/>
        </p:spPr>
        <p:txBody>
          <a:bodyPr wrap="square">
            <a:spAutoFit/>
          </a:bodyPr>
          <a:lstStyle/>
          <a:p>
            <a:pPr>
              <a:spcAft>
                <a:spcPts val="400"/>
              </a:spcAft>
              <a:defRPr sz="1800" b="1">
                <a:solidFill>
                  <a:srgbClr val="176B4E"/>
                </a:solidFill>
                <a:latin typeface="Cambria"/>
              </a:defRPr>
            </a:pPr>
            <a:r>
              <a:t>The Problem</a:t>
            </a:r>
          </a:p>
          <a:p>
            <a:pPr>
              <a:spcAft>
                <a:spcPts val="1400"/>
              </a:spcAft>
              <a:defRPr sz="1300">
                <a:solidFill>
                  <a:srgbClr val="222222"/>
                </a:solidFill>
                <a:latin typeface="Calibri"/>
              </a:defRPr>
            </a:pPr>
            <a:r>
              <a:t>During the initial dark mode rollout, the global CSS rule inverted app root variables. While public pages rendered well, the Admin Workspace sidebar and data tables broke completely, rendering pale white backgrounds with illegible text.</a:t>
            </a:r>
          </a:p>
          <a:p>
            <a:pPr>
              <a:spcAft>
                <a:spcPts val="400"/>
              </a:spcAft>
              <a:defRPr sz="1800" b="1">
                <a:solidFill>
                  <a:srgbClr val="176B4E"/>
                </a:solidFill>
                <a:latin typeface="Cambria"/>
              </a:defRPr>
            </a:pPr>
            <a:r>
              <a:t>Root Cause Analysis</a:t>
            </a:r>
          </a:p>
          <a:p>
            <a:pPr>
              <a:spcAft>
                <a:spcPts val="1400"/>
              </a:spcAft>
              <a:defRPr sz="1300">
                <a:solidFill>
                  <a:srgbClr val="222222"/>
                </a:solidFill>
                <a:latin typeface="Calibri"/>
              </a:defRPr>
            </a:pPr>
            <a:r>
              <a:t>Unscoped `!important` declarations in `index.css` collided with admin styling variables, overriding dark slate palettes with inverted root styles.</a:t>
            </a:r>
          </a:p>
          <a:p>
            <a:pPr>
              <a:spcAft>
                <a:spcPts val="400"/>
              </a:spcAft>
              <a:defRPr sz="1800" b="1">
                <a:solidFill>
                  <a:srgbClr val="176B4E"/>
                </a:solidFill>
                <a:latin typeface="Cambria"/>
              </a:defRPr>
            </a:pPr>
            <a:r>
              <a:t>The Architectural Fix</a:t>
            </a:r>
          </a:p>
          <a:p>
            <a:pPr>
              <a:defRPr sz="1300">
                <a:solidFill>
                  <a:srgbClr val="222222"/>
                </a:solidFill>
                <a:latin typeface="Calibri"/>
              </a:defRPr>
            </a:pPr>
            <a:r>
              <a:t>Refactored administrative styling by strictly scoping them under `html[data-theme='dark'] .admin-page` and `.admin-sidebar`, guaranteeing consistent contrast without breaking public theme toggles.</a:t>
            </a:r>
          </a:p>
        </p:txBody>
      </p:sp>
      <p:sp>
        <p:nvSpPr>
          <p:cNvPr id="8" name="Rectangle 7"/>
          <p:cNvSpPr/>
          <p:nvPr/>
        </p:nvSpPr>
        <p:spPr>
          <a:xfrm>
            <a:off x="6248095" y="1234440"/>
            <a:ext cx="5212080" cy="4892040"/>
          </a:xfrm>
          <a:prstGeom prst="rect">
            <a:avLst/>
          </a:prstGeom>
          <a:solidFill>
            <a:srgbClr val="1E242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4846320" cy="4480560"/>
          </a:xfrm>
          <a:prstGeom prst="rect">
            <a:avLst/>
          </a:prstGeom>
          <a:noFill/>
        </p:spPr>
        <p:txBody>
          <a:bodyPr wrap="square">
            <a:spAutoFit/>
          </a:bodyPr>
          <a:lstStyle/>
          <a:p>
            <a:pPr>
              <a:spcAft>
                <a:spcPts val="800"/>
              </a:spcAft>
              <a:defRPr sz="1100">
                <a:solidFill>
                  <a:srgbClr val="666666"/>
                </a:solidFill>
                <a:latin typeface="Consolas"/>
              </a:defRPr>
            </a:pPr>
            <a:r>
              <a:t>/* client/src/Pages/Admin Page/admin.css */</a:t>
            </a:r>
          </a:p>
          <a:p>
            <a:pPr>
              <a:spcAft>
                <a:spcPts val="200"/>
              </a:spcAft>
              <a:defRPr sz="1100">
                <a:solidFill>
                  <a:srgbClr val="666666"/>
                </a:solidFill>
                <a:latin typeface="Consolas"/>
              </a:defRPr>
            </a:pPr>
            <a:r>
              <a:t>/* Preserves intended dark emerald sidebar */</a:t>
            </a:r>
          </a:p>
          <a:p>
            <a:pPr>
              <a:spcAft>
                <a:spcPts val="200"/>
              </a:spcAft>
              <a:defRPr sz="1100">
                <a:solidFill>
                  <a:srgbClr val="FFFFFF"/>
                </a:solidFill>
                <a:latin typeface="Consolas"/>
              </a:defRPr>
            </a:pPr>
            <a:r>
              <a:t>html[data-theme="dark"] .admin-sidebar,</a:t>
            </a:r>
          </a:p>
          <a:p>
            <a:pPr>
              <a:spcAft>
                <a:spcPts val="200"/>
              </a:spcAft>
              <a:defRPr sz="1100">
                <a:solidFill>
                  <a:srgbClr val="FFFFFF"/>
                </a:solidFill>
                <a:latin typeface="Consolas"/>
              </a:defRPr>
            </a:pPr>
            <a:r>
              <a:t>html.dark .admin-sidebar {</a:t>
            </a:r>
          </a:p>
          <a:p>
            <a:pPr>
              <a:spcAft>
                <a:spcPts val="200"/>
              </a:spcAft>
              <a:defRPr sz="1100">
                <a:solidFill>
                  <a:srgbClr val="7ED4AD"/>
                </a:solidFill>
                <a:latin typeface="Consolas"/>
              </a:defRPr>
            </a:pPr>
            <a:r>
              <a:t>    background-color: #091712 !important;</a:t>
            </a:r>
          </a:p>
          <a:p>
            <a:pPr>
              <a:spcAft>
                <a:spcPts val="200"/>
              </a:spcAft>
              <a:defRPr sz="1100">
                <a:solidFill>
                  <a:srgbClr val="FFFFFF"/>
                </a:solidFill>
                <a:latin typeface="Consolas"/>
              </a:defRPr>
            </a:pPr>
            <a:r>
              <a:t>    border-right: 1px solid #1e3a2f;</a:t>
            </a:r>
          </a:p>
          <a:p>
            <a:pPr>
              <a:spcAft>
                <a:spcPts val="200"/>
              </a:spcAft>
              <a:defRPr sz="1100">
                <a:solidFill>
                  <a:srgbClr val="FFFFFF"/>
                </a:solidFill>
                <a:latin typeface="Consolas"/>
              </a:defRPr>
            </a:pPr>
            <a:r>
              <a:t>}</a:t>
            </a:r>
          </a:p>
          <a:p>
            <a:pPr>
              <a:spcAft>
                <a:spcPts val="200"/>
              </a:spcAft>
              <a:defRPr sz="1100">
                <a:solidFill>
                  <a:srgbClr val="FFFFFF"/>
                </a:solidFill>
                <a:latin typeface="Consolas"/>
              </a:defRPr>
            </a:pPr>
          </a:p>
          <a:p>
            <a:pPr>
              <a:spcAft>
                <a:spcPts val="200"/>
              </a:spcAft>
              <a:defRPr sz="1100">
                <a:solidFill>
                  <a:srgbClr val="666666"/>
                </a:solidFill>
                <a:latin typeface="Consolas"/>
              </a:defRPr>
            </a:pPr>
            <a:r>
              <a:t>/* Scoped workspace background &amp; text */</a:t>
            </a:r>
          </a:p>
          <a:p>
            <a:pPr>
              <a:spcAft>
                <a:spcPts val="200"/>
              </a:spcAft>
              <a:defRPr sz="1100">
                <a:solidFill>
                  <a:srgbClr val="FFFFFF"/>
                </a:solidFill>
                <a:latin typeface="Consolas"/>
              </a:defRPr>
            </a:pPr>
            <a:r>
              <a:t>html[data-theme="dark"] .admin-page {</a:t>
            </a:r>
          </a:p>
          <a:p>
            <a:pPr>
              <a:spcAft>
                <a:spcPts val="200"/>
              </a:spcAft>
              <a:defRPr sz="1100">
                <a:solidFill>
                  <a:srgbClr val="7ED4AD"/>
                </a:solidFill>
                <a:latin typeface="Consolas"/>
              </a:defRPr>
            </a:pPr>
            <a:r>
              <a:t>    background-color: #0d1f18;</a:t>
            </a:r>
          </a:p>
          <a:p>
            <a:pPr>
              <a:spcAft>
                <a:spcPts val="200"/>
              </a:spcAft>
              <a:defRPr sz="1100">
                <a:solidFill>
                  <a:srgbClr val="7ED4AD"/>
                </a:solidFill>
                <a:latin typeface="Consolas"/>
              </a:defRPr>
            </a:pPr>
            <a:r>
              <a:t>    color: #e2f0ea;</a:t>
            </a:r>
          </a:p>
          <a:p>
            <a:pPr>
              <a:spcAft>
                <a:spcPts val="200"/>
              </a:spcAft>
              <a:defRPr sz="1100">
                <a:solidFill>
                  <a:srgbClr val="FFFFFF"/>
                </a:solidFill>
                <a:latin typeface="Consolas"/>
              </a:defRPr>
            </a:pPr>
            <a:r>
              <a:t>}</a:t>
            </a:r>
          </a:p>
          <a:p>
            <a:pPr>
              <a:spcAft>
                <a:spcPts val="200"/>
              </a:spcAft>
              <a:defRPr sz="1100">
                <a:solidFill>
                  <a:srgbClr val="FFFFFF"/>
                </a:solidFill>
                <a:latin typeface="Consolas"/>
              </a:defRPr>
            </a:pPr>
          </a:p>
          <a:p>
            <a:pPr>
              <a:spcAft>
                <a:spcPts val="200"/>
              </a:spcAft>
              <a:defRPr sz="1100">
                <a:solidFill>
                  <a:srgbClr val="FFFFFF"/>
                </a:solidFill>
                <a:latin typeface="Consolas"/>
              </a:defRPr>
            </a:pPr>
            <a:r>
              <a:t>html[data-theme="dark"] .admin-workspace {</a:t>
            </a:r>
          </a:p>
          <a:p>
            <a:pPr>
              <a:spcAft>
                <a:spcPts val="200"/>
              </a:spcAft>
              <a:defRPr sz="1100">
                <a:solidFill>
                  <a:srgbClr val="7ED4AD"/>
                </a:solidFill>
                <a:latin typeface="Consolas"/>
              </a:defRPr>
            </a:pPr>
            <a:r>
              <a:t>    background-color: #0d1f18 !important;</a:t>
            </a:r>
          </a:p>
          <a:p>
            <a:pPr>
              <a:spcAft>
                <a:spcPts val="200"/>
              </a:spcAft>
              <a:defRPr sz="1100">
                <a:solidFill>
                  <a:srgbClr val="FFFFFF"/>
                </a:solidFill>
                <a:latin typeface="Consolas"/>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t>SUMMARY &amp; NEXT STEPS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t>Project Conclusion &amp; Future Roadmap</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14 of 15</a:t>
            </a:r>
          </a:p>
        </p:txBody>
      </p:sp>
      <p:sp>
        <p:nvSpPr>
          <p:cNvPr id="6" name="Rectangle 5"/>
          <p:cNvSpPr/>
          <p:nvPr/>
        </p:nvSpPr>
        <p:spPr>
          <a:xfrm>
            <a:off x="731520" y="1234440"/>
            <a:ext cx="5212080" cy="4892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4480560"/>
          </a:xfrm>
          <a:prstGeom prst="rect">
            <a:avLst/>
          </a:prstGeom>
          <a:noFill/>
        </p:spPr>
        <p:txBody>
          <a:bodyPr wrap="square">
            <a:spAutoFit/>
          </a:bodyPr>
          <a:lstStyle/>
          <a:p>
            <a:pPr>
              <a:spcAft>
                <a:spcPts val="1400"/>
              </a:spcAft>
              <a:defRPr sz="2000" b="1">
                <a:solidFill>
                  <a:srgbClr val="176B4E"/>
                </a:solidFill>
                <a:latin typeface="Cambria"/>
              </a:defRPr>
            </a:pPr>
            <a:r>
              <a:t>Key Project Achievements</a:t>
            </a:r>
          </a:p>
          <a:p>
            <a:pPr>
              <a:spcAft>
                <a:spcPts val="1000"/>
              </a:spcAft>
              <a:defRPr sz="1300">
                <a:solidFill>
                  <a:srgbClr val="222222"/>
                </a:solidFill>
                <a:latin typeface="Calibri"/>
              </a:defRPr>
            </a:pPr>
            <a:r>
              <a:t>• Production-Grade MERN Platform: Solved peer tutoring coordination friction with modern React 19, Express REST APIs, and MongoDB Atlas.</a:t>
            </a:r>
          </a:p>
          <a:p>
            <a:pPr>
              <a:spcAft>
                <a:spcPts val="1000"/>
              </a:spcAft>
              <a:defRPr sz="1300">
                <a:solidFill>
                  <a:srgbClr val="222222"/>
                </a:solidFill>
                <a:latin typeface="Calibri"/>
              </a:defRPr>
            </a:pPr>
            <a:r>
              <a:t>• Zero-Fee Knowledge Economy: Enabled fair knowledge exchange with 0% platform fee and transparent session tracking.</a:t>
            </a:r>
          </a:p>
          <a:p>
            <a:pPr>
              <a:spcAft>
                <a:spcPts val="1000"/>
              </a:spcAft>
              <a:defRPr sz="1300">
                <a:solidFill>
                  <a:srgbClr val="222222"/>
                </a:solidFill>
                <a:latin typeface="Calibri"/>
              </a:defRPr>
            </a:pPr>
            <a:r>
              <a:t>• Deterministic Session Lifecycle: Built-in 4-hour auto-expiration and slot counter-proposals to prevent ghosting.</a:t>
            </a:r>
          </a:p>
          <a:p>
            <a:pPr>
              <a:spcAft>
                <a:spcPts val="1000"/>
              </a:spcAft>
              <a:defRPr sz="1300">
                <a:solidFill>
                  <a:srgbClr val="222222"/>
                </a:solidFill>
                <a:latin typeface="Calibri"/>
              </a:defRPr>
            </a:pPr>
            <a:r>
              <a:t>• Real-Time Collaboration: Integrated persistent Socket.io chat and automatic Google Meet video room attachment.</a:t>
            </a:r>
          </a:p>
          <a:p>
            <a:pPr>
              <a:spcAft>
                <a:spcPts val="1000"/>
              </a:spcAft>
              <a:defRPr sz="1300">
                <a:solidFill>
                  <a:srgbClr val="222222"/>
                </a:solidFill>
                <a:latin typeface="Calibri"/>
              </a:defRPr>
            </a:pPr>
            <a:r>
              <a:t>• Undergraduate Internship Success: Built collaboratively by Team CosmicCoders (Group 13) during internship at Codroid Hub Pvt. Ltd.</a:t>
            </a:r>
          </a:p>
        </p:txBody>
      </p:sp>
      <p:sp>
        <p:nvSpPr>
          <p:cNvPr id="8" name="Rectangle 7"/>
          <p:cNvSpPr/>
          <p:nvPr/>
        </p:nvSpPr>
        <p:spPr>
          <a:xfrm>
            <a:off x="6248095" y="1234440"/>
            <a:ext cx="5212080" cy="489204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4846320" cy="4480560"/>
          </a:xfrm>
          <a:prstGeom prst="rect">
            <a:avLst/>
          </a:prstGeom>
          <a:noFill/>
        </p:spPr>
        <p:txBody>
          <a:bodyPr wrap="square">
            <a:spAutoFit/>
          </a:bodyPr>
          <a:lstStyle/>
          <a:p>
            <a:pPr>
              <a:spcAft>
                <a:spcPts val="1400"/>
              </a:spcAft>
              <a:defRPr sz="2000" b="1">
                <a:solidFill>
                  <a:srgbClr val="176B4E"/>
                </a:solidFill>
                <a:latin typeface="Cambria"/>
              </a:defRPr>
            </a:pPr>
            <a:r>
              <a:t>Future Technical Scope</a:t>
            </a:r>
          </a:p>
          <a:p>
            <a:pPr>
              <a:spcAft>
                <a:spcPts val="200"/>
              </a:spcAft>
              <a:defRPr sz="1400" b="1">
                <a:solidFill>
                  <a:srgbClr val="176B4E"/>
                </a:solidFill>
                <a:latin typeface="Calibri"/>
              </a:defRPr>
            </a:pPr>
            <a:r>
              <a:t>• In-Browser WebRTC Video Calling:</a:t>
            </a:r>
          </a:p>
          <a:p>
            <a:pPr>
              <a:spcAft>
                <a:spcPts val="800"/>
              </a:spcAft>
              <a:defRPr sz="1200">
                <a:solidFill>
                  <a:srgbClr val="222222"/>
                </a:solidFill>
                <a:latin typeface="Calibri"/>
              </a:defRPr>
            </a:pPr>
            <a:r>
              <a:t>Build native peer-to-peer audio/video streaming directly inside the platform without external meeting providers.</a:t>
            </a:r>
          </a:p>
          <a:p>
            <a:pPr>
              <a:spcAft>
                <a:spcPts val="200"/>
              </a:spcAft>
              <a:defRPr sz="1400" b="1">
                <a:solidFill>
                  <a:srgbClr val="176B4E"/>
                </a:solidFill>
                <a:latin typeface="Calibri"/>
              </a:defRPr>
            </a:pPr>
            <a:r>
              <a:t>• Automated Razorpay Webhooks:</a:t>
            </a:r>
          </a:p>
          <a:p>
            <a:pPr>
              <a:spcAft>
                <a:spcPts val="800"/>
              </a:spcAft>
              <a:defRPr sz="1200">
                <a:solidFill>
                  <a:srgbClr val="222222"/>
                </a:solidFill>
                <a:latin typeface="Calibri"/>
              </a:defRPr>
            </a:pPr>
            <a:r>
              <a:t>Implement automated bank payout webhooks and automatic refund triggers for dispute arbitration.</a:t>
            </a:r>
          </a:p>
          <a:p>
            <a:pPr>
              <a:spcAft>
                <a:spcPts val="200"/>
              </a:spcAft>
              <a:defRPr sz="1400" b="1">
                <a:solidFill>
                  <a:srgbClr val="176B4E"/>
                </a:solidFill>
                <a:latin typeface="Calibri"/>
              </a:defRPr>
            </a:pPr>
            <a:r>
              <a:t>• Push &amp; Calendar Synchronization:</a:t>
            </a:r>
          </a:p>
          <a:p>
            <a:pPr>
              <a:spcAft>
                <a:spcPts val="800"/>
              </a:spcAft>
              <a:defRPr sz="1200">
                <a:solidFill>
                  <a:srgbClr val="222222"/>
                </a:solidFill>
                <a:latin typeface="Calibri"/>
              </a:defRPr>
            </a:pPr>
            <a:r>
              <a:t>Integrate browser Service Worker push alerts and iCal calendar invites 15 minutes before sessions.</a:t>
            </a:r>
          </a:p>
          <a:p>
            <a:pPr>
              <a:spcAft>
                <a:spcPts val="200"/>
              </a:spcAft>
              <a:defRPr sz="1400" b="1">
                <a:solidFill>
                  <a:srgbClr val="176B4E"/>
                </a:solidFill>
                <a:latin typeface="Calibri"/>
              </a:defRPr>
            </a:pPr>
            <a:r>
              <a:t>• Native Mobile Application:</a:t>
            </a:r>
          </a:p>
          <a:p>
            <a:pPr>
              <a:spcAft>
                <a:spcPts val="800"/>
              </a:spcAft>
              <a:defRPr sz="1200">
                <a:solidFill>
                  <a:srgbClr val="222222"/>
                </a:solidFill>
                <a:latin typeface="Calibri"/>
              </a:defRPr>
            </a:pPr>
            <a:r>
              <a:t>Develop cross-platform iOS and Android apps using React Native for instant on-the-go chat and bookings.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241280" y="731520"/>
            <a:ext cx="1097280" cy="1097280"/>
          </a:xfrm>
          <a:prstGeom prst="rect">
            <a:avLst/>
          </a:prstGeom>
        </p:spPr>
      </p:pic>
      <p:sp>
        <p:nvSpPr>
          <p:cNvPr id="4" name="TextBox 3"/>
          <p:cNvSpPr txBox="1"/>
          <p:nvPr/>
        </p:nvSpPr>
        <p:spPr>
          <a:xfrm>
            <a:off x="914400" y="1463040"/>
            <a:ext cx="9144000" cy="4389120"/>
          </a:xfrm>
          <a:prstGeom prst="rect">
            <a:avLst/>
          </a:prstGeom>
          <a:noFill/>
        </p:spPr>
        <p:txBody>
          <a:bodyPr wrap="square">
            <a:spAutoFit/>
          </a:bodyPr>
          <a:lstStyle/>
          <a:p>
            <a:pPr>
              <a:spcAft>
                <a:spcPts val="1000"/>
              </a:spcAft>
              <a:defRPr sz="4800" b="1">
                <a:solidFill>
                  <a:srgbClr val="FFFFFF"/>
                </a:solidFill>
                <a:latin typeface="Cambria"/>
              </a:defRPr>
            </a:pPr>
            <a:r>
              <a:t>Thank You!</a:t>
            </a:r>
          </a:p>
          <a:p>
            <a:pPr>
              <a:spcAft>
                <a:spcPts val="3600"/>
              </a:spcAft>
              <a:defRPr sz="2200">
                <a:solidFill>
                  <a:srgbClr val="DFF0E8"/>
                </a:solidFill>
                <a:latin typeface="Calibri"/>
              </a:defRPr>
            </a:pPr>
            <a:r>
              <a:t>Questions &amp; Discussion Welcome</a:t>
            </a:r>
          </a:p>
          <a:p>
            <a:pPr>
              <a:spcAft>
                <a:spcPts val="1200"/>
              </a:spcAft>
              <a:defRPr sz="1800">
                <a:solidFill>
                  <a:srgbClr val="FFFFFF"/>
                </a:solidFill>
                <a:latin typeface="Calibri"/>
              </a:defRPr>
            </a:pPr>
            <a:r>
              <a:t>Project Repository: github.com/CosmicCoder06/Skill-Exchange</a:t>
            </a:r>
          </a:p>
          <a:p>
            <a:pPr>
              <a:spcAft>
                <a:spcPts val="2400"/>
              </a:spcAft>
              <a:defRPr sz="1800">
                <a:solidFill>
                  <a:srgbClr val="FFFFFF"/>
                </a:solidFill>
                <a:latin typeface="Calibri"/>
              </a:defRPr>
            </a:pPr>
            <a:r>
              <a:t>Live Web Deployment: https://skill-exchange-one-eta.vercel.app/</a:t>
            </a:r>
          </a:p>
          <a:p>
            <a:pPr>
              <a:defRPr sz="1400">
                <a:solidFill>
                  <a:srgbClr val="CDE5DC"/>
                </a:solidFill>
                <a:latin typeface="Calibri"/>
              </a:defRPr>
            </a:pPr>
            <a:r>
              <a:t>Built with ❤️ by Team CosmicCoders (Group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