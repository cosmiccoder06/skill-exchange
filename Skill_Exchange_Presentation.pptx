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4400" b="1">
                <a:solidFill>
                  <a:srgbClr val="FFFFFF"/>
                </a:solidFill>
                <a:latin typeface="Cambria"/>
              </a:defRPr>
            </a:pPr>
            <a:r>
              <a:t>Skill Exchange</a:t>
            </a:r>
          </a:p>
          <a:p>
            <a:pPr>
              <a:spcAft>
                <a:spcPts val="2800"/>
              </a:spcAft>
              <a:defRPr sz="2200">
                <a:solidFill>
                  <a:srgbClr val="DFF0E8"/>
                </a:solidFill>
                <a:latin typeface="Calibri"/>
              </a:defRPr>
            </a:pPr>
            <a:r>
              <a:t>A platform connecting mentors and learners</a:t>
            </a:r>
          </a:p>
          <a:p>
            <a:pPr>
              <a:spcAft>
                <a:spcPts val="3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MERN Stack Project | B.Tech CSE, GLA University, Mathura | Internship at Codroid Hub Pvt Ltd</a:t>
            </a:r>
          </a:p>
          <a:p>
            <a:pPr>
              <a:spcAft>
                <a:spcPts val="1200"/>
              </a:spcAft>
              <a:defRPr sz="1500">
                <a:solidFill>
                  <a:srgbClr val="FFFFFF"/>
                </a:solidFill>
                <a:latin typeface="Calibri"/>
              </a:defRPr>
            </a:pPr>
            <a:r>
              <a:t>Team Members: __________________________________________________</a:t>
            </a:r>
          </a:p>
          <a:p>
            <a:pPr>
              <a:defRPr sz="1500">
                <a:solidFill>
                  <a:srgbClr val="FFFFFF"/>
                </a:solidFill>
                <a:latin typeface="Calibri"/>
              </a:defRPr>
            </a:pPr>
            <a:r>
              <a:t>Guide / Mentor: __________________________________________________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Problem &amp; 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76B4E"/>
                </a:solidFill>
                <a:latin typeface="Cambria"/>
              </a:defRPr>
            </a:pPr>
            <a:r>
              <a:t>Problem Statement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Expensive Coaching:</a:t>
            </a:r>
            <a:r>
              <a:rPr sz="1400" b="0">
                <a:solidFill>
                  <a:srgbClr val="222222"/>
                </a:solidFill>
                <a:latin typeface="Calibri"/>
              </a:rPr>
              <a:t> Commercial 1-on-1 tutoring platforms charge high hourly rates that college students cannot afford.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Fragmented Channels:</a:t>
            </a:r>
            <a:r>
              <a:rPr sz="1400" b="0">
                <a:solidFill>
                  <a:srgbClr val="222222"/>
                </a:solidFill>
                <a:latin typeface="Calibri"/>
              </a:rPr>
              <a:t> Students currently arrange peer help across WhatsApp, Discord, and Google Calendar without proper coordination.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Ghosting &amp; No-Shows:</a:t>
            </a:r>
            <a:r>
              <a:rPr sz="1400" b="0">
                <a:solidFill>
                  <a:srgbClr val="222222"/>
                </a:solidFill>
                <a:latin typeface="Calibri"/>
              </a:rPr>
              <a:t> Informal peer sessions often fail due to lack of scheduling commitment and zero accountability.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No Secure Escrow:</a:t>
            </a:r>
            <a:r>
              <a:rPr sz="1400" b="0">
                <a:solidFill>
                  <a:srgbClr val="222222"/>
                </a:solidFill>
                <a:latin typeface="Calibri"/>
              </a:rPr>
              <a:t> Free swapping lacks reliability, while informal payments lack safety and dispute resolution.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76B4E"/>
                </a:solidFill>
                <a:latin typeface="Cambria"/>
              </a:defRPr>
            </a:pPr>
            <a:r>
              <a:t>Project Objectives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Centralized Peer Platform:</a:t>
            </a:r>
            <a:r>
              <a:rPr sz="1400" b="0">
                <a:solidFill>
                  <a:srgbClr val="222222"/>
                </a:solidFill>
                <a:latin typeface="Calibri"/>
              </a:rPr>
              <a:t> Build a single web app connecting campus learners and mentors for verified 1-on-1 sessions.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Flexible Scheduling:</a:t>
            </a:r>
            <a:r>
              <a:rPr sz="1400" b="0">
                <a:solidFill>
                  <a:srgbClr val="222222"/>
                </a:solidFill>
                <a:latin typeface="Calibri"/>
              </a:rPr>
              <a:t> Provide date chips, duration picker, and slot negotiation with automated expiry windows.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Real-Time Messaging:</a:t>
            </a:r>
            <a:r>
              <a:rPr sz="1400" b="0">
                <a:solidFill>
                  <a:srgbClr val="222222"/>
                </a:solidFill>
                <a:latin typeface="Calibri"/>
              </a:rPr>
              <a:t> Integrate WebSocket-based chat for instant communication before and during sessions.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Transparent Governance:</a:t>
            </a:r>
            <a:r>
              <a:rPr sz="1400" b="0">
                <a:solidFill>
                  <a:srgbClr val="222222"/>
                </a:solidFill>
                <a:latin typeface="Calibri"/>
              </a:rPr>
              <a:t> Give administrators oversight over community members, session disputes, and payout ledgers.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Technology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371600"/>
            <a:ext cx="3383280" cy="2194560"/>
          </a:xfrm>
          <a:prstGeom prst="rect">
            <a:avLst/>
          </a:prstGeom>
          <a:noFill/>
          <a:ln w="12700">
            <a:solidFill>
              <a:srgbClr val="C0C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68680" y="1481328"/>
            <a:ext cx="310896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B4E"/>
                </a:solidFill>
                <a:latin typeface="Cambria"/>
              </a:defRPr>
            </a:pPr>
            <a:r>
              <a:t>Frontend: React 19 &amp; Vite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Modern component-driven UI with Vite bundling for fast loading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Client-side routing with React Router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Lucide React iconography &amp; custom clean CSS themes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389120" y="1371600"/>
            <a:ext cx="3383280" cy="2194560"/>
          </a:xfrm>
          <a:prstGeom prst="rect">
            <a:avLst/>
          </a:prstGeom>
          <a:noFill/>
          <a:ln w="12700">
            <a:solidFill>
              <a:srgbClr val="C0C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26280" y="1481328"/>
            <a:ext cx="310896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B4E"/>
                </a:solidFill>
                <a:latin typeface="Cambria"/>
              </a:defRPr>
            </a:pPr>
            <a:r>
              <a:t>Backend: Node.js &amp; Express.js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RESTful API architecture handling auth, bookings, and profiles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Modular controllers, routes, and middleware pipeline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Input validation and CORS 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046720" y="1371600"/>
            <a:ext cx="3383280" cy="2194560"/>
          </a:xfrm>
          <a:prstGeom prst="rect">
            <a:avLst/>
          </a:prstGeom>
          <a:noFill/>
          <a:ln w="12700">
            <a:solidFill>
              <a:srgbClr val="C0C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183880" y="1481328"/>
            <a:ext cx="310896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B4E"/>
                </a:solidFill>
                <a:latin typeface="Cambria"/>
              </a:defRPr>
            </a:pPr>
            <a:r>
              <a:t>Database: MongoDB Atlas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NoSQL document database hosted on cloud Atlas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Mongoose ODM for robust schema validation and indexing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Stores users, bookings, messages, reviews, and logs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3840480"/>
            <a:ext cx="3383280" cy="2194560"/>
          </a:xfrm>
          <a:prstGeom prst="rect">
            <a:avLst/>
          </a:prstGeom>
          <a:noFill/>
          <a:ln w="12700">
            <a:solidFill>
              <a:srgbClr val="C0C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950208"/>
            <a:ext cx="310896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B4E"/>
                </a:solidFill>
                <a:latin typeface="Cambria"/>
              </a:defRPr>
            </a:pPr>
            <a:r>
              <a:t>Real-Time: Socket.io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Bi-directional WebSocket connection for instant 1-on-1 chat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Unread message tracking and active session gating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Real-time presence and connection resilience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3840480"/>
            <a:ext cx="3383280" cy="2194560"/>
          </a:xfrm>
          <a:prstGeom prst="rect">
            <a:avLst/>
          </a:prstGeom>
          <a:noFill/>
          <a:ln w="12700">
            <a:solidFill>
              <a:srgbClr val="C0C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80" y="3950208"/>
            <a:ext cx="310896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B4E"/>
                </a:solidFill>
                <a:latin typeface="Cambria"/>
              </a:defRPr>
            </a:pPr>
            <a:r>
              <a:t>Auth &amp; Security: JWT Authentication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Stateless token-based auth with accessToken stored securely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Role-based authorization for Learner, Mentor, and Admin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Bcrypt password hashing with salt rounds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46720" y="3840480"/>
            <a:ext cx="3383280" cy="2194560"/>
          </a:xfrm>
          <a:prstGeom prst="rect">
            <a:avLst/>
          </a:prstGeom>
          <a:noFill/>
          <a:ln w="12700">
            <a:solidFill>
              <a:srgbClr val="C0C5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83880" y="3950208"/>
            <a:ext cx="3108960" cy="197510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600"/>
              </a:spcAft>
              <a:defRPr sz="1600" b="1">
                <a:solidFill>
                  <a:srgbClr val="176B4E"/>
                </a:solidFill>
                <a:latin typeface="Cambria"/>
              </a:defRPr>
            </a:pPr>
            <a:r>
              <a:t>Integrations: Razorpay &amp; Google Meet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Escrow payment integration with Razorpay order API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18% GST calculation and 3% platform commission logic</a:t>
            </a:r>
          </a:p>
          <a:p>
            <a:pPr>
              <a:spcAft>
                <a:spcPts val="300"/>
              </a:spcAft>
              <a:defRPr sz="1200">
                <a:solidFill>
                  <a:srgbClr val="222222"/>
                </a:solidFill>
                <a:latin typeface="Calibri"/>
              </a:defRPr>
            </a:pPr>
            <a:r>
              <a:t>• Automatic Google Meet URL provisioning for confirmed calls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System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2011680"/>
            <a:ext cx="2926080" cy="3291840"/>
          </a:xfrm>
          <a:prstGeom prst="rect">
            <a:avLst/>
          </a:prstGeom>
          <a:noFill/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000000"/>
                </a:solidFill>
                <a:latin typeface="Cambria"/>
              </a:defRPr>
            </a:pPr>
            <a:r>
              <a:t>React Client (Frontend)</a:t>
            </a:r>
            <a:br/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Vite + React 19 UI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Role Dashboards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Booking Calendar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Socket.io Client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Local Storage Token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931920" y="2560320"/>
            <a:ext cx="1188720" cy="411480"/>
          </a:xfrm>
          <a:prstGeom prst="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749039" y="210312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Calibri"/>
              </a:defRPr>
            </a:pPr>
            <a:r>
              <a:t>REST / HTTP</a:t>
            </a:r>
          </a:p>
        </p:txBody>
      </p:sp>
      <p:sp>
        <p:nvSpPr>
          <p:cNvPr id="6" name="Left-Right Arrow 5"/>
          <p:cNvSpPr/>
          <p:nvPr/>
        </p:nvSpPr>
        <p:spPr>
          <a:xfrm>
            <a:off x="3931920" y="4206240"/>
            <a:ext cx="1188720" cy="411480"/>
          </a:xfrm>
          <a:prstGeom prst="left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749039" y="4663440"/>
            <a:ext cx="1554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latin typeface="Calibri"/>
              </a:defRPr>
            </a:pPr>
            <a:r>
              <a:t>WebSocket (Chat)</a:t>
            </a:r>
          </a:p>
        </p:txBody>
      </p:sp>
      <p:sp>
        <p:nvSpPr>
          <p:cNvPr id="8" name="Rectangle 7"/>
          <p:cNvSpPr/>
          <p:nvPr/>
        </p:nvSpPr>
        <p:spPr>
          <a:xfrm>
            <a:off x="5303520" y="2011680"/>
            <a:ext cx="3017520" cy="3291840"/>
          </a:xfrm>
          <a:prstGeom prst="rect">
            <a:avLst/>
          </a:prstGeom>
          <a:noFill/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latin typeface="Cambria"/>
              </a:defRPr>
            </a:pPr>
            <a:r>
              <a:t>Express / Node.js API</a:t>
            </a:r>
            <a:br/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JWT Auth Middleware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Booking Lifecycle Engine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Socket.io Chat Server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Escrow &amp; Fees Calculator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Admin Governance API</a:t>
            </a:r>
          </a:p>
        </p:txBody>
      </p:sp>
      <p:sp>
        <p:nvSpPr>
          <p:cNvPr id="9" name="Left-Right Arrow 8"/>
          <p:cNvSpPr/>
          <p:nvPr/>
        </p:nvSpPr>
        <p:spPr>
          <a:xfrm>
            <a:off x="8503920" y="3291840"/>
            <a:ext cx="822960" cy="411480"/>
          </a:xfrm>
          <a:prstGeom prst="leftRightArrow">
            <a:avLst/>
          </a:prstGeom>
          <a:solidFill>
            <a:srgbClr val="000000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1188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latin typeface="Calibri"/>
              </a:defRPr>
            </a:pPr>
            <a:r>
              <a:t>Mongoose ODM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509760" y="2011680"/>
            <a:ext cx="2103120" cy="3291840"/>
          </a:xfrm>
          <a:prstGeom prst="rect">
            <a:avLst/>
          </a:prstGeom>
          <a:noFill/>
          <a:ln w="317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latin typeface="Cambria"/>
              </a:defRPr>
            </a:pPr>
            <a:r>
              <a:t>MongoDB Atlas</a:t>
            </a:r>
            <a:br/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Users &amp; Profiles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Bookings &amp; Slots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Chat Messages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Reviews &amp; Ratings</a:t>
            </a:r>
          </a:p>
          <a:p>
            <a:pPr>
              <a:defRPr sz="1300">
                <a:solidFill>
                  <a:srgbClr val="000000"/>
                </a:solidFill>
                <a:latin typeface="Calibri"/>
              </a:defRPr>
            </a:pPr>
            <a:r>
              <a:t>• Activity Logs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Home &amp; Landing Page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Modern First Impression:</a:t>
            </a:r>
            <a:r>
              <a:rPr sz="1500" b="0">
                <a:solidFill>
                  <a:srgbClr val="222222"/>
                </a:solidFill>
                <a:latin typeface="Calibri"/>
              </a:rPr>
              <a:t> Introduces students to the peer-to-peer knowledge sharing model with clear call-to-actions.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Clear Exchange Proposition:</a:t>
            </a:r>
            <a:r>
              <a:rPr sz="1500" b="0">
                <a:solidFill>
                  <a:srgbClr val="222222"/>
                </a:solidFill>
                <a:latin typeface="Calibri"/>
              </a:rPr>
              <a:t> Emphasizes two primary paths — 'Share what you know' as a mentor and 'Learn something new' as a student.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Interactive Navigation:</a:t>
            </a:r>
            <a:r>
              <a:rPr sz="1500" b="0">
                <a:solidFill>
                  <a:srgbClr val="222222"/>
                </a:solidFill>
                <a:latin typeface="Calibri"/>
              </a:rPr>
              <a:t> Fast access to Sign in, Register free, Theme mode toggle, and the experimental AI Matcher modal.</a:t>
            </a:r>
          </a:p>
        </p:txBody>
      </p:sp>
      <p:pic>
        <p:nvPicPr>
          <p:cNvPr id="4" name="Picture 3" descr="01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00800" cy="40005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Authentication (Signup &amp; Login)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Role Selection:</a:t>
            </a:r>
            <a:r>
              <a:rPr sz="1400" b="0">
                <a:solidFill>
                  <a:srgbClr val="222222"/>
                </a:solidFill>
                <a:latin typeface="Calibri"/>
              </a:rPr>
              <a:t> New users can easily choose between 'Learn Skills' and 'Teach &amp; Mentor' during registration.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Secure JWT Flow:</a:t>
            </a:r>
            <a:r>
              <a:rPr sz="1400" b="0">
                <a:solidFill>
                  <a:srgbClr val="222222"/>
                </a:solidFill>
                <a:latin typeface="Calibri"/>
              </a:rPr>
              <a:t> Passwords are encrypted with bcrypt, and verified logins return JWT tokens saved in local storage.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Direct Redirection:</a:t>
            </a:r>
            <a:r>
              <a:rPr sz="1400" b="0">
                <a:solidFill>
                  <a:srgbClr val="222222"/>
                </a:solidFill>
                <a:latin typeface="Calibri"/>
              </a:rPr>
              <a:t> Directs authenticated users immediately to their respective learner or mentor dashboard.</a:t>
            </a:r>
          </a:p>
        </p:txBody>
      </p:sp>
      <p:pic>
        <p:nvPicPr>
          <p:cNvPr id="4" name="Picture 3" descr="02a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5120640" cy="32004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  <p:pic>
        <p:nvPicPr>
          <p:cNvPr id="5" name="Picture 4" descr="02b_signu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3160"/>
            <a:ext cx="5120640" cy="32004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Profile Management (My Profile &amp; Mentor Profile)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Comprehensive Profile:</a:t>
            </a:r>
            <a:r>
              <a:rPr sz="1400" b="0">
                <a:solidFill>
                  <a:srgbClr val="222222"/>
                </a:solidFill>
                <a:latin typeface="Calibri"/>
              </a:rPr>
              <a:t> Allows users to showcase bio, skills to teach, skills to learn, and available weekly time slots.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Public Mentor Page:</a:t>
            </a:r>
            <a:r>
              <a:rPr sz="1400" b="0">
                <a:solidFill>
                  <a:srgbClr val="222222"/>
                </a:solidFill>
                <a:latin typeface="Calibri"/>
              </a:rPr>
              <a:t> Displays verified mentor badges, hourly consultation rates, skill tags, and rating averages.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Direct Action Triggers:</a:t>
            </a:r>
            <a:r>
              <a:rPr sz="1400" b="0">
                <a:solidFill>
                  <a:srgbClr val="222222"/>
                </a:solidFill>
                <a:latin typeface="Calibri"/>
              </a:rPr>
              <a:t> Other students can start a 1-on-1 chat or jump directly into the session booking calendar.</a:t>
            </a:r>
          </a:p>
        </p:txBody>
      </p:sp>
      <p:pic>
        <p:nvPicPr>
          <p:cNvPr id="4" name="Picture 3" descr="03a_my_profi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5120640" cy="32004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  <p:pic>
        <p:nvPicPr>
          <p:cNvPr id="5" name="Picture 4" descr="03b_other_user_profi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3160"/>
            <a:ext cx="5120640" cy="32004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Discover Mentors &amp; Peers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Searchable Directory:</a:t>
            </a:r>
            <a:r>
              <a:rPr sz="1500" b="0">
                <a:solidFill>
                  <a:srgbClr val="222222"/>
                </a:solidFill>
                <a:latin typeface="Calibri"/>
              </a:rPr>
              <a:t> Lists verified mentors across various domains including React, Node.js, Python, and System Design.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Skill &amp; Rate Transparency:</a:t>
            </a:r>
            <a:r>
              <a:rPr sz="1500" b="0">
                <a:solidFill>
                  <a:srgbClr val="222222"/>
                </a:solidFill>
                <a:latin typeface="Calibri"/>
              </a:rPr>
              <a:t> Each mentor card highlights key teaching skills, hourly fees, and average community star ratings.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Fast Filtering:</a:t>
            </a:r>
            <a:r>
              <a:rPr sz="1500" b="0">
                <a:solidFill>
                  <a:srgbClr val="222222"/>
                </a:solidFill>
                <a:latin typeface="Calibri"/>
              </a:rPr>
              <a:t> Instant live search lets students filter peers by name, specific technology tags, or availability.</a:t>
            </a:r>
          </a:p>
        </p:txBody>
      </p:sp>
      <p:pic>
        <p:nvPicPr>
          <p:cNvPr id="4" name="Picture 3" descr="04_dis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00800" cy="40005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Learner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Learning Growth Workspace:</a:t>
            </a:r>
            <a:r>
              <a:rPr sz="1500" b="0">
                <a:solidFill>
                  <a:srgbClr val="222222"/>
                </a:solidFill>
                <a:latin typeface="Calibri"/>
              </a:rPr>
              <a:t> Dedicated dashboard helping students keep track of their learning momentum and progress.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Key Progress Metrics:</a:t>
            </a:r>
            <a:r>
              <a:rPr sz="1500" b="0">
                <a:solidFill>
                  <a:srgbClr val="222222"/>
                </a:solidFill>
                <a:latin typeface="Calibri"/>
              </a:rPr>
              <a:t> Displays sessions attended, hours of live learning, mentors connected, and skills explored.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Active Targets &amp; Milestones:</a:t>
            </a:r>
            <a:r>
              <a:rPr sz="1500" b="0">
                <a:solidFill>
                  <a:srgbClr val="222222"/>
                </a:solidFill>
                <a:latin typeface="Calibri"/>
              </a:rPr>
              <a:t> Visual tracking of topics like Node.js and System Design with milestone percentages.</a:t>
            </a:r>
          </a:p>
        </p:txBody>
      </p:sp>
      <p:pic>
        <p:nvPicPr>
          <p:cNvPr id="4" name="Picture 3" descr="05_learn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00800" cy="40005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Mentor Dashboard &amp; 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Teaching Studio:</a:t>
            </a:r>
            <a:r>
              <a:rPr sz="1400" b="0">
                <a:solidFill>
                  <a:srgbClr val="222222"/>
                </a:solidFill>
                <a:latin typeface="Calibri"/>
              </a:rPr>
              <a:t> Live overview of teaching practice, learners taught, completed sessions, and skill level depth.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Earnings &amp; Settlement:</a:t>
            </a:r>
            <a:r>
              <a:rPr sz="1400" b="0">
                <a:solidFill>
                  <a:srgbClr val="222222"/>
                </a:solidFill>
                <a:latin typeface="Calibri"/>
              </a:rPr>
              <a:t> Detailed ledger tracking lifetime revenue, settled payments, in-escrow funds, and pending payouts.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UPI Payout Setup:</a:t>
            </a:r>
            <a:r>
              <a:rPr sz="1400" b="0">
                <a:solidFill>
                  <a:srgbClr val="222222"/>
                </a:solidFill>
                <a:latin typeface="Calibri"/>
              </a:rPr>
              <a:t> Mentors can update and save their personal UPI ID directly for fast administrative settlements.</a:t>
            </a:r>
          </a:p>
        </p:txBody>
      </p:sp>
      <p:pic>
        <p:nvPicPr>
          <p:cNvPr id="4" name="Picture 3" descr="06_ment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5120640" cy="32004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  <p:pic>
        <p:nvPicPr>
          <p:cNvPr id="5" name="Picture 4" descr="06b_mentor_earning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3160"/>
            <a:ext cx="5120640" cy="32004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Session Booking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3-Step Scheduling:</a:t>
            </a:r>
            <a:r>
              <a:rPr sz="1500" b="0">
                <a:solidFill>
                  <a:srgbClr val="222222"/>
                </a:solidFill>
                <a:latin typeface="Calibri"/>
              </a:rPr>
              <a:t> Clean wizard to pick session duration (30m, 45m, 1h, 1.5h, 2h) and an upcoming open calendar date.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Morning/Evening Slots:</a:t>
            </a:r>
            <a:r>
              <a:rPr sz="1500" b="0">
                <a:solidFill>
                  <a:srgbClr val="222222"/>
                </a:solidFill>
                <a:latin typeface="Calibri"/>
              </a:rPr>
              <a:t> Offers convenient time chips or custom time entry based on mentor availability.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100% Escrow Protection:</a:t>
            </a:r>
            <a:r>
              <a:rPr sz="1500" b="0">
                <a:solidFill>
                  <a:srgbClr val="222222"/>
                </a:solidFill>
                <a:latin typeface="Calibri"/>
              </a:rPr>
              <a:t> Clear fee calculation breakdown including base hourly rate, 18% GST, and secure escrow guarantee.</a:t>
            </a:r>
          </a:p>
        </p:txBody>
      </p:sp>
      <p:pic>
        <p:nvPicPr>
          <p:cNvPr id="4" name="Picture 3" descr="07_book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00800" cy="40005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Real-Time Chat Messaging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Socket.io Powered:</a:t>
            </a:r>
            <a:r>
              <a:rPr sz="1500" b="0">
                <a:solidFill>
                  <a:srgbClr val="222222"/>
                </a:solidFill>
                <a:latin typeface="Calibri"/>
              </a:rPr>
              <a:t> Direct bi-directional messaging with instant delivery and live connectivity indicators.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Conversation Management:</a:t>
            </a:r>
            <a:r>
              <a:rPr sz="1500" b="0">
                <a:solidFill>
                  <a:srgbClr val="222222"/>
                </a:solidFill>
                <a:latin typeface="Calibri"/>
              </a:rPr>
              <a:t> Active chat list showing contact name, last message time, and unread counts.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Spam Prevention:</a:t>
            </a:r>
            <a:r>
              <a:rPr sz="1500" b="0">
                <a:solidFill>
                  <a:srgbClr val="222222"/>
                </a:solidFill>
                <a:latin typeface="Calibri"/>
              </a:rPr>
              <a:t> Enforces a 5-free direct message limit to prevent spam until a 1-on-1 mentorship session is scheduled.</a:t>
            </a:r>
          </a:p>
        </p:txBody>
      </p:sp>
      <p:pic>
        <p:nvPicPr>
          <p:cNvPr id="4" name="Picture 3" descr="08_ch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00800" cy="40005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Ratings &amp; Reviews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4114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Verified Community Feedback:</a:t>
            </a:r>
            <a:r>
              <a:rPr sz="1500" b="0">
                <a:solidFill>
                  <a:srgbClr val="222222"/>
                </a:solidFill>
                <a:latin typeface="Calibri"/>
              </a:rPr>
              <a:t> Learners can leave honest 1-5 star ratings and written reviews after completed sessions.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Average Score Calculation:</a:t>
            </a:r>
            <a:r>
              <a:rPr sz="1500" b="0">
                <a:solidFill>
                  <a:srgbClr val="222222"/>
                </a:solidFill>
                <a:latin typeface="Calibri"/>
              </a:rPr>
              <a:t> Real-time calculation of overall rating averages and review counts displayed on mentor cards.</a:t>
            </a:r>
          </a:p>
          <a:p>
            <a:pPr>
              <a:lnSpc>
                <a:spcPct val="120000"/>
              </a:lnSpc>
              <a:spcAft>
                <a:spcPts val="1400"/>
              </a:spcAft>
            </a:pPr>
            <a:r>
              <a:rPr sz="1500" b="1">
                <a:solidFill>
                  <a:srgbClr val="222222"/>
                </a:solidFill>
                <a:latin typeface="Calibri"/>
              </a:rPr>
              <a:t>• Trust &amp; Quality Assurance:</a:t>
            </a:r>
            <a:r>
              <a:rPr sz="1500" b="0">
                <a:solidFill>
                  <a:srgbClr val="222222"/>
                </a:solidFill>
                <a:latin typeface="Calibri"/>
              </a:rPr>
              <a:t> Motivates mentors to provide high-quality sessions and helps new learners pick trusted guides.</a:t>
            </a:r>
          </a:p>
        </p:txBody>
      </p:sp>
      <p:pic>
        <p:nvPicPr>
          <p:cNvPr id="4" name="Picture 3" descr="09_ratings_review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0" y="1463040"/>
            <a:ext cx="6400800" cy="40005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Admin Governance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Platform Overview KPIs:</a:t>
            </a:r>
            <a:r>
              <a:rPr sz="1400" b="0">
                <a:solidFill>
                  <a:srgbClr val="222222"/>
                </a:solidFill>
                <a:latin typeface="Calibri"/>
              </a:rPr>
              <a:t> Live counts of total registered users, verified mentors, learners, and total completed sessions.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Community Member Controls:</a:t>
            </a:r>
            <a:r>
              <a:rPr sz="1400" b="0">
                <a:solidFill>
                  <a:srgbClr val="222222"/>
                </a:solidFill>
                <a:latin typeface="Calibri"/>
              </a:rPr>
              <a:t> Table allowing administrators to verify new accounts, suspend bad actors, or remove profiles.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Financial &amp; Session Audit:</a:t>
            </a:r>
            <a:r>
              <a:rPr sz="1400" b="0">
                <a:solidFill>
                  <a:srgbClr val="222222"/>
                </a:solidFill>
                <a:latin typeface="Calibri"/>
              </a:rPr>
              <a:t> Tracks awaiting payments, escrow settlements, and generates full CSV ledger reports for audits.</a:t>
            </a:r>
          </a:p>
        </p:txBody>
      </p:sp>
      <p:pic>
        <p:nvPicPr>
          <p:cNvPr id="4" name="Picture 3" descr="10_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5120640" cy="32004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  <p:pic>
        <p:nvPicPr>
          <p:cNvPr id="5" name="Picture 4" descr="10b_admin_memb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0" y="2423160"/>
            <a:ext cx="5120640" cy="32004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Dark Theme &amp; Responsive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51560"/>
            <a:ext cx="10698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Built-in Dark Mode:</a:t>
            </a:r>
            <a:r>
              <a:rPr sz="1400" b="0">
                <a:solidFill>
                  <a:srgbClr val="222222"/>
                </a:solidFill>
                <a:latin typeface="Calibri"/>
              </a:rPr>
              <a:t> User-friendly theme toggle switching the interface to an elegant dark emerald palette for night use.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Mobile-First Experience:</a:t>
            </a:r>
            <a:r>
              <a:rPr sz="1400" b="0">
                <a:solidFill>
                  <a:srgbClr val="222222"/>
                </a:solidFill>
                <a:latin typeface="Calibri"/>
              </a:rPr>
              <a:t> Fully responsive layout tested at 390x844 mobile resolution with compact navigation and cards.</a:t>
            </a:r>
          </a:p>
          <a:p>
            <a:pPr>
              <a:lnSpc>
                <a:spcPct val="115000"/>
              </a:lnSpc>
              <a:spcAft>
                <a:spcPts val="4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Adaptive Typography &amp; Touch:</a:t>
            </a:r>
            <a:r>
              <a:rPr sz="1400" b="0">
                <a:solidFill>
                  <a:srgbClr val="222222"/>
                </a:solidFill>
                <a:latin typeface="Calibri"/>
              </a:rPr>
              <a:t> Buttons, chips, and cards automatically adapt for smooth interaction across phones and laptops.</a:t>
            </a:r>
          </a:p>
        </p:txBody>
      </p:sp>
      <p:pic>
        <p:nvPicPr>
          <p:cNvPr id="4" name="Picture 3" descr="11a_dark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2423160"/>
            <a:ext cx="6217920" cy="38862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  <p:pic>
        <p:nvPicPr>
          <p:cNvPr id="5" name="Picture 4" descr="12a_mobile_hom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0" y="2423160"/>
            <a:ext cx="1795756" cy="3886200"/>
          </a:xfrm>
          <a:prstGeom prst="rect">
            <a:avLst/>
          </a:prstGeom>
          <a:ln w="12700">
            <a:solidFill>
              <a:srgbClr val="C0C5C0"/>
            </a:solidFill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11480"/>
            <a:ext cx="1069848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76B4E"/>
                </a:solidFill>
                <a:latin typeface="Cambria"/>
              </a:defRPr>
            </a:pPr>
            <a:r>
              <a:t>Conclusion &amp; Future 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76B4E"/>
                </a:solidFill>
                <a:latin typeface="Cambria"/>
              </a:defRPr>
            </a:pPr>
            <a:r>
              <a:t>Conclusion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Working MERN Solution:</a:t>
            </a:r>
            <a:r>
              <a:rPr sz="1400" b="0">
                <a:solidFill>
                  <a:srgbClr val="222222"/>
                </a:solidFill>
                <a:latin typeface="Calibri"/>
              </a:rPr>
              <a:t> Successfully implemented a full-stack platform solving peer tutoring and knowledge exchange.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Real-Time Collaboration:</a:t>
            </a:r>
            <a:r>
              <a:rPr sz="1400" b="0">
                <a:solidFill>
                  <a:srgbClr val="222222"/>
                </a:solidFill>
                <a:latin typeface="Calibri"/>
              </a:rPr>
              <a:t> Integrated seamless Socket.io chat and calendar scheduling to eliminate coordination friction.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Production Tested:</a:t>
            </a:r>
            <a:r>
              <a:rPr sz="1400" b="0">
                <a:solidFill>
                  <a:srgbClr val="222222"/>
                </a:solidFill>
                <a:latin typeface="Calibri"/>
              </a:rPr>
              <a:t> Deployed live on Vercel and Render with live MongoDB Atlas database and role-based permissions.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Undergraduate Team Work:</a:t>
            </a:r>
            <a:r>
              <a:rPr sz="1400" b="0">
                <a:solidFill>
                  <a:srgbClr val="222222"/>
                </a:solidFill>
                <a:latin typeface="Calibri"/>
              </a:rPr>
              <a:t> Built cooperatively during our internship at Codroid Hub Pvt Ltd by GLA University students.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21208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000" b="1">
                <a:solidFill>
                  <a:srgbClr val="176B4E"/>
                </a:solidFill>
                <a:latin typeface="Cambria"/>
              </a:defRPr>
            </a:pPr>
            <a:r>
              <a:t>Future Scope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In-Browser Video Calling:</a:t>
            </a:r>
            <a:r>
              <a:rPr sz="1400" b="0">
                <a:solidFill>
                  <a:srgbClr val="222222"/>
                </a:solidFill>
                <a:latin typeface="Calibri"/>
              </a:rPr>
              <a:t> Native WebRTC peer video calling directly inside the website without external Google Meet links.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Automated Payment Webhooks:</a:t>
            </a:r>
            <a:r>
              <a:rPr sz="1400" b="0">
                <a:solidFill>
                  <a:srgbClr val="222222"/>
                </a:solidFill>
                <a:latin typeface="Calibri"/>
              </a:rPr>
              <a:t> Live Razorpay automated webhooks for instant escrow fund releases and automated refunds.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Push &amp; Email Notifications:</a:t>
            </a:r>
            <a:r>
              <a:rPr sz="1400" b="0">
                <a:solidFill>
                  <a:srgbClr val="222222"/>
                </a:solidFill>
                <a:latin typeface="Calibri"/>
              </a:rPr>
              <a:t> Instant browser push alerts and email reminders 15 minutes before scheduled sessions.</a:t>
            </a:r>
          </a:p>
          <a:p>
            <a:pPr>
              <a:lnSpc>
                <a:spcPct val="120000"/>
              </a:lnSpc>
              <a:spcAft>
                <a:spcPts val="1200"/>
              </a:spcAft>
            </a:pPr>
            <a:r>
              <a:rPr sz="1400" b="1">
                <a:solidFill>
                  <a:srgbClr val="222222"/>
                </a:solidFill>
                <a:latin typeface="Calibri"/>
              </a:rPr>
              <a:t>• Mobile App:</a:t>
            </a:r>
            <a:r>
              <a:rPr sz="1400" b="0">
                <a:solidFill>
                  <a:srgbClr val="222222"/>
                </a:solidFill>
                <a:latin typeface="Calibri"/>
              </a:rPr>
              <a:t> Build native cross-platform iOS and Android apps using React Native or Flutter for quick on-the-go chat.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6B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4600" b="1">
                <a:solidFill>
                  <a:srgbClr val="FFFFFF"/>
                </a:solidFill>
                <a:latin typeface="Cambria"/>
              </a:defRPr>
            </a:pPr>
            <a:r>
              <a:t>Thank You!</a:t>
            </a:r>
          </a:p>
          <a:p>
            <a:pPr>
              <a:spcAft>
                <a:spcPts val="3600"/>
              </a:spcAft>
              <a:defRPr sz="2200">
                <a:solidFill>
                  <a:srgbClr val="DFF0E8"/>
                </a:solidFill>
                <a:latin typeface="Calibri"/>
              </a:defRPr>
            </a:pPr>
            <a:r>
              <a:t>Questions &amp; Discussion</a:t>
            </a:r>
          </a:p>
          <a:p>
            <a:pPr>
              <a:spcAft>
                <a:spcPts val="12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Project Repository: github.com/CosmicCoder06/Skill-Exchange</a:t>
            </a:r>
          </a:p>
          <a:p>
            <a:pPr>
              <a:defRPr sz="1800">
                <a:solidFill>
                  <a:srgbClr val="FFFFFF"/>
                </a:solidFill>
                <a:latin typeface="Calibri"/>
              </a:defRPr>
            </a:pPr>
            <a:r>
              <a:t>Live Demo: https://skill-exchange-one-eta.vercel.app/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