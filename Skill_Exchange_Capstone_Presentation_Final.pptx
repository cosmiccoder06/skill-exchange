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teachers. Today we are presenting our capstone project, Skill Exchange. Here is our agenda based on our approved synopsis. We will cover the problem statement, our core modules, technology and database design, live screens of the app, a technical challenge we solved,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problem statement, we identified that there is no centralized platform for skill-based peer learning. Learners struggle to find qualified mentors who know the exact skills they want to learn. At the same time, mentors have no organized way to list their skills, manage bookings, and chat with learners. Our project provides a digital platform to solve all these issues.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main objective was to build a full-stack MERN application connecting mentors and learners. On this slide, you can see how our three core roles work. Learners can search by skill, book sessions, chat, and leave reviews. Mentors can list skills, set availability, and manage requests. The admin oversees users, checks platform stats, and maintains security.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technology stack and database design. We used React on the frontend and Node.js with Express on the backend, with MongoDB Atlas for data. We use JWT for authentication and Socket.io for real-time chat. Below, we show our main Mongoose schemas: Users, Bookings, Messages, and Reviews, totaling 8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3-tier system architecture. The React client communicates with the Express backend using standard REST APIs for data, and WebSockets for live chat. The backend validates user input, checks JWT login tokens, and executes business logic. Finally, Mongoose handles all queries to our MongoDB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5-step booking lifecycle from Module 4.3. First, the learner searches by skill and chooses a slot. Second, the system validates mentor availability and starts a 4-hour reply timer. Third, the mentor can accept, decline, or suggest other times. Fourth, the booking is confirmed with a meeting link. Finally, after the session, the learner submits a rating.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live screens for our Authentication Module. The home page introduces the platform with a clean layout. On the registration page, students choose whether to join as a Learner or a Mentor. When they log in, passwords are verified using bcrypt, and a secure JWT token is issued to protect role-based routes.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screenshots show mentor discovery and profiles from Module 4.2. Learners can search for mentors by typing keywords or filtering by skill tags like React or Python. The mentor profile displays their bio, skills they teach, skills they want to learn, hourly fee, and available hours.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customized dashboards for learners and mentors. The learner dashboard shows hours learned, completed sessions, and upcoming bookings. The mentor dashboard shows incoming session requests, student counts, and skill depth meters. As a helpful extra, mentors can save their UPI ID, and users can test wallet balances.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Booking Module and Chat Module in action. The booking modal guides the learner through selecting session length, date, and time slot. Our chat page connects mentors and learners in real time using Socket.io, with a 5 free messages limit before booking to prevent spam.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Ratings and Admin Module. The admin dashboard displays live statistics including total users, active mentors, and completed sessions. The admin can verify user accounts, change roles, or suspend bad actors. It also displays 1 to 5 star ratings and lets the admin export reports as CSV files.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development, we faced an interesting CSS bug when introducing dark mode. The public pages worked fine, but the admin workspace showed washed-out white boxes and unreadable text. We solved this by properly scoping CSS rules under the dark theme selector in admin.css, ensuring clean contrast.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successfully built a complete MERN stack web app that meets all goals from our synopsis. We delivered 14 frontend pages, 18 REST APIs, and 8 database collections. For future scope, we plan to add AI mentor recommendations, in-browser video calls, skill certification badges, and gamified learning paths.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241280" y="731520"/>
            <a:ext cx="1097280" cy="1097280"/>
          </a:xfrm>
          <a:prstGeom prst="rect">
            <a:avLst/>
          </a:prstGeom>
        </p:spPr>
      </p:pic>
      <p:sp>
        <p:nvSpPr>
          <p:cNvPr id="4" name="TextBox 3"/>
          <p:cNvSpPr txBox="1"/>
          <p:nvPr/>
        </p:nvSpPr>
        <p:spPr>
          <a:xfrm>
            <a:off x="822960" y="822960"/>
            <a:ext cx="9144000" cy="5303520"/>
          </a:xfrm>
          <a:prstGeom prst="rect">
            <a:avLst/>
          </a:prstGeom>
          <a:noFill/>
        </p:spPr>
        <p:txBody>
          <a:bodyPr wrap="square">
            <a:spAutoFit/>
          </a:bodyPr>
          <a:lstStyle/>
          <a:p>
            <a:pPr>
              <a:spcAft>
                <a:spcPts val="800"/>
              </a:spcAft>
              <a:defRPr sz="1200" b="1">
                <a:solidFill>
                  <a:srgbClr val="A5E0C8"/>
                </a:solidFill>
                <a:latin typeface="Calibri"/>
              </a:defRPr>
            </a:pPr>
            <a:r>
              <a:t>CAPSTONE PROJECT · MERN STACK</a:t>
            </a:r>
          </a:p>
          <a:p>
            <a:pPr>
              <a:spcAft>
                <a:spcPts val="400"/>
              </a:spcAft>
              <a:defRPr sz="4600" b="1">
                <a:solidFill>
                  <a:srgbClr val="FFFFFF"/>
                </a:solidFill>
                <a:latin typeface="Cambria"/>
              </a:defRPr>
            </a:pPr>
            <a:r>
              <a:t>Skill Exchange</a:t>
            </a:r>
          </a:p>
          <a:p>
            <a:pPr>
              <a:spcAft>
                <a:spcPts val="2000"/>
              </a:spcAft>
              <a:defRPr sz="2000">
                <a:solidFill>
                  <a:srgbClr val="DFF0E8"/>
                </a:solidFill>
                <a:latin typeface="Calibri"/>
              </a:defRPr>
            </a:pPr>
            <a:r>
              <a:t>A platform connecting mentors and learners</a:t>
            </a:r>
          </a:p>
          <a:p>
            <a:pPr>
              <a:spcAft>
                <a:spcPts val="400"/>
              </a:spcAft>
              <a:defRPr sz="1400">
                <a:solidFill>
                  <a:srgbClr val="FFFFFF"/>
                </a:solidFill>
                <a:latin typeface="Calibri"/>
              </a:defRPr>
            </a:pPr>
            <a:r>
              <a:t>Team CosmicCoders · Group 13 | B.Tech CSE, GLA University, Mathura</a:t>
            </a:r>
          </a:p>
          <a:p>
            <a:pPr>
              <a:spcAft>
                <a:spcPts val="2600"/>
              </a:spcAft>
              <a:defRPr sz="1300">
                <a:solidFill>
                  <a:srgbClr val="CDE5DC"/>
                </a:solidFill>
                <a:latin typeface="Calibri"/>
              </a:defRPr>
            </a:pPr>
            <a:r>
              <a:t>Internship Project at Codroid Hub Pvt. Ltd. | October 2026</a:t>
            </a:r>
          </a:p>
          <a:p>
            <a:pPr>
              <a:spcAft>
                <a:spcPts val="1000"/>
              </a:spcAft>
              <a:defRPr sz="1400">
                <a:solidFill>
                  <a:srgbClr val="FFFFFF"/>
                </a:solidFill>
                <a:latin typeface="Calibri"/>
              </a:defRPr>
            </a:pPr>
            <a:r>
              <a:t>Team Leader:   __________________________________________________</a:t>
            </a:r>
          </a:p>
          <a:p>
            <a:pPr>
              <a:spcAft>
                <a:spcPts val="1000"/>
              </a:spcAft>
              <a:defRPr sz="1400">
                <a:solidFill>
                  <a:srgbClr val="FFFFFF"/>
                </a:solidFill>
                <a:latin typeface="Calibri"/>
              </a:defRPr>
            </a:pPr>
            <a:r>
              <a:t>Team Members: __________________________________________________</a:t>
            </a:r>
          </a:p>
          <a:p>
            <a:pPr>
              <a:spcAft>
                <a:spcPts val="1000"/>
              </a:spcAft>
              <a:defRPr sz="1400">
                <a:solidFill>
                  <a:srgbClr val="FFFFFF"/>
                </a:solidFill>
                <a:latin typeface="Calibri"/>
              </a:defRPr>
            </a:pPr>
            <a:r>
              <a:t>Project Guide: __________________________________________________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OVERVIEW</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Presentation Agenda</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2 of 15</a:t>
            </a:r>
          </a:p>
        </p:txBody>
      </p:sp>
      <p:sp>
        <p:nvSpPr>
          <p:cNvPr id="6" name="Rectangle 5"/>
          <p:cNvSpPr/>
          <p:nvPr/>
        </p:nvSpPr>
        <p:spPr>
          <a:xfrm>
            <a:off x="731520" y="1280160"/>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444752"/>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01</a:t>
            </a:r>
          </a:p>
        </p:txBody>
      </p:sp>
      <p:sp>
        <p:nvSpPr>
          <p:cNvPr id="8" name="TextBox 7"/>
          <p:cNvSpPr txBox="1"/>
          <p:nvPr/>
        </p:nvSpPr>
        <p:spPr>
          <a:xfrm>
            <a:off x="1737360" y="1389888"/>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rPr>
                <a:solidFill/>
              </a:rPr>
              <a:t>Problem &amp; Objectives</a:t>
            </a:r>
          </a:p>
          <a:p>
            <a:pPr>
              <a:defRPr sz="1300">
                <a:solidFill>
                  <a:srgbClr val="222222"/>
                </a:solidFill>
                <a:latin typeface="Calibri"/>
              </a:defRPr>
            </a:pPr>
            <a:r>
              <a:rPr>
                <a:solidFill/>
              </a:rPr>
              <a:t>Key challenges in finding mentors, and main goals from our synopsis.</a:t>
            </a:r>
          </a:p>
        </p:txBody>
      </p:sp>
      <p:sp>
        <p:nvSpPr>
          <p:cNvPr id="9" name="Rectangle 8"/>
          <p:cNvSpPr/>
          <p:nvPr/>
        </p:nvSpPr>
        <p:spPr>
          <a:xfrm>
            <a:off x="731520" y="2267712"/>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432304"/>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02</a:t>
            </a:r>
          </a:p>
        </p:txBody>
      </p:sp>
      <p:sp>
        <p:nvSpPr>
          <p:cNvPr id="11" name="TextBox 10"/>
          <p:cNvSpPr txBox="1"/>
          <p:nvPr/>
        </p:nvSpPr>
        <p:spPr>
          <a:xfrm>
            <a:off x="1737360" y="2377440"/>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rPr>
                <a:solidFill/>
              </a:rPr>
              <a:t>Core Modules</a:t>
            </a:r>
          </a:p>
          <a:p>
            <a:pPr>
              <a:defRPr sz="1300">
                <a:solidFill>
                  <a:srgbClr val="222222"/>
                </a:solidFill>
                <a:latin typeface="Calibri"/>
              </a:defRPr>
            </a:pPr>
            <a:r>
              <a:rPr>
                <a:solidFill/>
              </a:rPr>
              <a:t>Authentication, profiles, booking system, chat, and ratings with admin control.</a:t>
            </a:r>
          </a:p>
        </p:txBody>
      </p:sp>
      <p:sp>
        <p:nvSpPr>
          <p:cNvPr id="12" name="Rectangle 11"/>
          <p:cNvSpPr/>
          <p:nvPr/>
        </p:nvSpPr>
        <p:spPr>
          <a:xfrm>
            <a:off x="731520" y="3255264"/>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3419856"/>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03</a:t>
            </a:r>
          </a:p>
        </p:txBody>
      </p:sp>
      <p:sp>
        <p:nvSpPr>
          <p:cNvPr id="14" name="TextBox 13"/>
          <p:cNvSpPr txBox="1"/>
          <p:nvPr/>
        </p:nvSpPr>
        <p:spPr>
          <a:xfrm>
            <a:off x="1737360" y="3364992"/>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rPr>
                <a:solidFill/>
              </a:rPr>
              <a:t>Technology &amp; Database Design</a:t>
            </a:r>
          </a:p>
          <a:p>
            <a:pPr>
              <a:defRPr sz="1300">
                <a:solidFill>
                  <a:srgbClr val="222222"/>
                </a:solidFill>
                <a:latin typeface="Calibri"/>
              </a:defRPr>
            </a:pPr>
            <a:r>
              <a:rPr>
                <a:solidFill/>
              </a:rPr>
              <a:t>Full-stack MERN stack, REST APIs, WebSockets, and 8 MongoDB collections.</a:t>
            </a:r>
          </a:p>
        </p:txBody>
      </p:sp>
      <p:sp>
        <p:nvSpPr>
          <p:cNvPr id="15" name="Rectangle 14"/>
          <p:cNvSpPr/>
          <p:nvPr/>
        </p:nvSpPr>
        <p:spPr>
          <a:xfrm>
            <a:off x="731520" y="4242816"/>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14400" y="4407408"/>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04</a:t>
            </a:r>
          </a:p>
        </p:txBody>
      </p:sp>
      <p:sp>
        <p:nvSpPr>
          <p:cNvPr id="17" name="TextBox 16"/>
          <p:cNvSpPr txBox="1"/>
          <p:nvPr/>
        </p:nvSpPr>
        <p:spPr>
          <a:xfrm>
            <a:off x="1737360" y="4352544"/>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rPr>
                <a:solidFill/>
              </a:rPr>
              <a:t>Live Walkthrough</a:t>
            </a:r>
          </a:p>
          <a:p>
            <a:pPr>
              <a:defRPr sz="1300">
                <a:solidFill>
                  <a:srgbClr val="222222"/>
                </a:solidFill>
                <a:latin typeface="Calibri"/>
              </a:defRPr>
            </a:pPr>
            <a:r>
              <a:rPr>
                <a:solidFill/>
              </a:rPr>
              <a:t>Screenshots showing login, mentor discovery, dashboards, booking, and chat.</a:t>
            </a:r>
          </a:p>
        </p:txBody>
      </p:sp>
      <p:sp>
        <p:nvSpPr>
          <p:cNvPr id="18" name="Rectangle 17"/>
          <p:cNvSpPr/>
          <p:nvPr/>
        </p:nvSpPr>
        <p:spPr>
          <a:xfrm>
            <a:off x="731520" y="5230368"/>
            <a:ext cx="10728655" cy="8686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14400" y="5394960"/>
            <a:ext cx="640080" cy="54864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latin typeface="Cambria"/>
              </a:defRPr>
            </a:pPr>
            <a:r>
              <a:t>05</a:t>
            </a:r>
          </a:p>
        </p:txBody>
      </p:sp>
      <p:sp>
        <p:nvSpPr>
          <p:cNvPr id="20" name="TextBox 19"/>
          <p:cNvSpPr txBox="1"/>
          <p:nvPr/>
        </p:nvSpPr>
        <p:spPr>
          <a:xfrm>
            <a:off x="1737360" y="5340096"/>
            <a:ext cx="9418320" cy="640080"/>
          </a:xfrm>
          <a:prstGeom prst="rect">
            <a:avLst/>
          </a:prstGeom>
          <a:noFill/>
        </p:spPr>
        <p:txBody>
          <a:bodyPr wrap="square" lIns="0" tIns="0" rIns="0" bIns="0">
            <a:spAutoFit/>
          </a:bodyPr>
          <a:lstStyle/>
          <a:p>
            <a:pPr>
              <a:spcAft>
                <a:spcPts val="200"/>
              </a:spcAft>
              <a:defRPr sz="1600" b="1">
                <a:solidFill>
                  <a:srgbClr val="176B4E"/>
                </a:solidFill>
                <a:latin typeface="Cambria"/>
              </a:defRPr>
            </a:pPr>
            <a:r>
              <a:rPr>
                <a:solidFill/>
              </a:rPr>
              <a:t>Challenge, Future Scope &amp; Conclusion</a:t>
            </a:r>
          </a:p>
          <a:p>
            <a:pPr>
              <a:defRPr sz="1300">
                <a:solidFill>
                  <a:srgbClr val="222222"/>
                </a:solidFill>
                <a:latin typeface="Calibri"/>
              </a:defRPr>
            </a:pPr>
            <a:r>
              <a:rPr>
                <a:solidFill/>
              </a:rPr>
              <a:t>Dark mode bug fix, future plans from synopsis, and project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PROBLEM STATEMENT</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Problem Statement: Challenges in Peer Learning</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3 of 15</a:t>
            </a:r>
          </a:p>
        </p:txBody>
      </p:sp>
      <p:sp>
        <p:nvSpPr>
          <p:cNvPr id="6" name="Rectangle 5"/>
          <p:cNvSpPr/>
          <p:nvPr/>
        </p:nvSpPr>
        <p:spPr>
          <a:xfrm>
            <a:off x="731520" y="1234440"/>
            <a:ext cx="3429000" cy="137160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3063240" cy="1188720"/>
          </a:xfrm>
          <a:prstGeom prst="rect">
            <a:avLst/>
          </a:prstGeom>
          <a:noFill/>
        </p:spPr>
        <p:txBody>
          <a:bodyPr wrap="square" lIns="0" tIns="0" rIns="0" bIns="0">
            <a:spAutoFit/>
          </a:bodyPr>
          <a:lstStyle/>
          <a:p>
            <a:pPr>
              <a:spcAft>
                <a:spcPts val="400"/>
              </a:spcAft>
              <a:defRPr sz="2000" b="1">
                <a:solidFill>
                  <a:srgbClr val="176B4E"/>
                </a:solidFill>
                <a:latin typeface="Cambria"/>
              </a:defRPr>
            </a:pPr>
            <a:r>
              <a:rPr>
                <a:solidFill/>
              </a:rPr>
              <a:t>NO CENTRAL PLATFORM</a:t>
            </a:r>
          </a:p>
          <a:p>
            <a:pPr>
              <a:defRPr sz="1200">
                <a:solidFill>
                  <a:srgbClr val="222222"/>
                </a:solidFill>
                <a:latin typeface="Calibri"/>
              </a:defRPr>
            </a:pPr>
            <a:r>
              <a:rPr>
                <a:solidFill/>
              </a:rPr>
              <a:t>There is no single platform for mentors and learners to connect for skill-based learning.</a:t>
            </a:r>
          </a:p>
        </p:txBody>
      </p:sp>
      <p:sp>
        <p:nvSpPr>
          <p:cNvPr id="8" name="Rectangle 7"/>
          <p:cNvSpPr/>
          <p:nvPr/>
        </p:nvSpPr>
        <p:spPr>
          <a:xfrm>
            <a:off x="4379976" y="1234440"/>
            <a:ext cx="3429000" cy="137160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1325880"/>
            <a:ext cx="3063240" cy="1188720"/>
          </a:xfrm>
          <a:prstGeom prst="rect">
            <a:avLst/>
          </a:prstGeom>
          <a:noFill/>
        </p:spPr>
        <p:txBody>
          <a:bodyPr wrap="square" lIns="0" tIns="0" rIns="0" bIns="0">
            <a:spAutoFit/>
          </a:bodyPr>
          <a:lstStyle/>
          <a:p>
            <a:pPr>
              <a:spcAft>
                <a:spcPts val="400"/>
              </a:spcAft>
              <a:defRPr sz="2000" b="1">
                <a:solidFill>
                  <a:srgbClr val="176B4E"/>
                </a:solidFill>
                <a:latin typeface="Cambria"/>
              </a:defRPr>
            </a:pPr>
            <a:r>
              <a:rPr>
                <a:solidFill/>
              </a:rPr>
              <a:t>HARD TO FIND MENTORS</a:t>
            </a:r>
          </a:p>
          <a:p>
            <a:pPr>
              <a:defRPr sz="1200">
                <a:solidFill>
                  <a:srgbClr val="222222"/>
                </a:solidFill>
                <a:latin typeface="Calibri"/>
              </a:defRPr>
            </a:pPr>
            <a:r>
              <a:rPr>
                <a:solidFill/>
              </a:rPr>
              <a:t>Learners struggle to discover qualified mentors who can guide them in new skills.</a:t>
            </a:r>
          </a:p>
        </p:txBody>
      </p:sp>
      <p:sp>
        <p:nvSpPr>
          <p:cNvPr id="10" name="Rectangle 9"/>
          <p:cNvSpPr/>
          <p:nvPr/>
        </p:nvSpPr>
        <p:spPr>
          <a:xfrm>
            <a:off x="8028432" y="1234440"/>
            <a:ext cx="3429000" cy="137160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11312" y="1325880"/>
            <a:ext cx="3063240" cy="1188720"/>
          </a:xfrm>
          <a:prstGeom prst="rect">
            <a:avLst/>
          </a:prstGeom>
          <a:noFill/>
        </p:spPr>
        <p:txBody>
          <a:bodyPr wrap="square" lIns="0" tIns="0" rIns="0" bIns="0">
            <a:spAutoFit/>
          </a:bodyPr>
          <a:lstStyle/>
          <a:p>
            <a:pPr>
              <a:spcAft>
                <a:spcPts val="400"/>
              </a:spcAft>
              <a:defRPr sz="2000" b="1">
                <a:solidFill>
                  <a:srgbClr val="176B4E"/>
                </a:solidFill>
                <a:latin typeface="Cambria"/>
              </a:defRPr>
            </a:pPr>
            <a:r>
              <a:rPr>
                <a:solidFill/>
              </a:rPr>
              <a:t>NO ORGANIZED SYSTEM</a:t>
            </a:r>
          </a:p>
          <a:p>
            <a:pPr>
              <a:defRPr sz="1200">
                <a:solidFill>
                  <a:srgbClr val="222222"/>
                </a:solidFill>
                <a:latin typeface="Calibri"/>
              </a:defRPr>
            </a:pPr>
            <a:r>
              <a:rPr>
                <a:solidFill/>
              </a:rPr>
              <a:t>Mentors have no simple way to list skills, manage bookings, and talk with learners.</a:t>
            </a:r>
          </a:p>
        </p:txBody>
      </p:sp>
      <p:sp>
        <p:nvSpPr>
          <p:cNvPr id="12" name="Rectangle 11"/>
          <p:cNvSpPr/>
          <p:nvPr/>
        </p:nvSpPr>
        <p:spPr>
          <a:xfrm>
            <a:off x="731520" y="288036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4495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rPr>
                <a:solidFill/>
              </a:rPr>
              <a:t>1. Lack of a Centralized Platform</a:t>
            </a:r>
          </a:p>
          <a:p>
            <a:pPr>
              <a:defRPr sz="1300">
                <a:solidFill>
                  <a:srgbClr val="222222"/>
                </a:solidFill>
                <a:latin typeface="Calibri"/>
              </a:defRPr>
            </a:pPr>
            <a:r>
              <a:rPr>
                <a:solidFill/>
              </a:rPr>
              <a:t>Without a dedicated platform, skill exchange remains unorganized and hard to access.</a:t>
            </a:r>
          </a:p>
        </p:txBody>
      </p:sp>
      <p:sp>
        <p:nvSpPr>
          <p:cNvPr id="14" name="Rectangle 13"/>
          <p:cNvSpPr/>
          <p:nvPr/>
        </p:nvSpPr>
        <p:spPr>
          <a:xfrm>
            <a:off x="6248095" y="288036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30975" y="304495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rPr>
                <a:solidFill/>
              </a:rPr>
              <a:t>2. Difficult Mentor Discovery</a:t>
            </a:r>
          </a:p>
          <a:p>
            <a:pPr>
              <a:defRPr sz="1300">
                <a:solidFill>
                  <a:srgbClr val="222222"/>
                </a:solidFill>
                <a:latin typeface="Calibri"/>
              </a:defRPr>
            </a:pPr>
            <a:r>
              <a:rPr>
                <a:solidFill/>
              </a:rPr>
              <a:t>Learners cannot easily search or filter mentors based on the specific skills they want to learn.</a:t>
            </a:r>
          </a:p>
        </p:txBody>
      </p:sp>
      <p:sp>
        <p:nvSpPr>
          <p:cNvPr id="16" name="Rectangle 15"/>
          <p:cNvSpPr/>
          <p:nvPr/>
        </p:nvSpPr>
        <p:spPr>
          <a:xfrm>
            <a:off x="731520" y="452628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9087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rPr>
                <a:solidFill/>
              </a:rPr>
              <a:t>3. Disorganized Session Scheduling</a:t>
            </a:r>
          </a:p>
          <a:p>
            <a:pPr>
              <a:defRPr sz="1300">
                <a:solidFill>
                  <a:srgbClr val="222222"/>
                </a:solidFill>
                <a:latin typeface="Calibri"/>
              </a:defRPr>
            </a:pPr>
            <a:r>
              <a:rPr>
                <a:solidFill/>
              </a:rPr>
              <a:t>Mentors lack a structured booking calendar to share available time slots and track requests.</a:t>
            </a:r>
          </a:p>
        </p:txBody>
      </p:sp>
      <p:sp>
        <p:nvSpPr>
          <p:cNvPr id="18" name="Rectangle 17"/>
          <p:cNvSpPr/>
          <p:nvPr/>
        </p:nvSpPr>
        <p:spPr>
          <a:xfrm>
            <a:off x="6248095" y="4526280"/>
            <a:ext cx="5212080" cy="1463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30975" y="4690872"/>
            <a:ext cx="4846320" cy="1133856"/>
          </a:xfrm>
          <a:prstGeom prst="rect">
            <a:avLst/>
          </a:prstGeom>
          <a:noFill/>
        </p:spPr>
        <p:txBody>
          <a:bodyPr wrap="square" lIns="0" tIns="0" rIns="0" bIns="0">
            <a:spAutoFit/>
          </a:bodyPr>
          <a:lstStyle/>
          <a:p>
            <a:pPr>
              <a:spcAft>
                <a:spcPts val="400"/>
              </a:spcAft>
              <a:defRPr sz="1500" b="1">
                <a:solidFill>
                  <a:srgbClr val="176B4E"/>
                </a:solidFill>
                <a:latin typeface="Cambria"/>
              </a:defRPr>
            </a:pPr>
            <a:r>
              <a:rPr>
                <a:solidFill/>
              </a:rPr>
              <a:t>4. Need for a Digital Platform</a:t>
            </a:r>
          </a:p>
          <a:p>
            <a:pPr>
              <a:defRPr sz="1300">
                <a:solidFill>
                  <a:srgbClr val="222222"/>
                </a:solidFill>
                <a:latin typeface="Calibri"/>
              </a:defRPr>
            </a:pPr>
            <a:r>
              <a:rPr>
                <a:solidFill/>
              </a:rPr>
              <a:t>A digital web app is needed to bring mentor discovery, scheduling, and chat into one place.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OBJECTIVES &amp; MODULES</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Project Objectives &amp; Core Modules</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4 of 15</a:t>
            </a:r>
          </a:p>
        </p:txBody>
      </p:sp>
      <p:sp>
        <p:nvSpPr>
          <p:cNvPr id="6" name="Rectangle 5"/>
          <p:cNvSpPr/>
          <p:nvPr/>
        </p:nvSpPr>
        <p:spPr>
          <a:xfrm>
            <a:off x="731520" y="1234440"/>
            <a:ext cx="10728655" cy="86868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325880"/>
            <a:ext cx="10362895" cy="685800"/>
          </a:xfrm>
          <a:prstGeom prst="rect">
            <a:avLst/>
          </a:prstGeom>
          <a:noFill/>
        </p:spPr>
        <p:txBody>
          <a:bodyPr wrap="square">
            <a:spAutoFit/>
          </a:bodyPr>
          <a:lstStyle/>
          <a:p>
            <a:pPr>
              <a:spcAft>
                <a:spcPts val="200"/>
              </a:spcAft>
              <a:defRPr sz="1600" b="1">
                <a:solidFill>
                  <a:srgbClr val="176B4E"/>
                </a:solidFill>
                <a:latin typeface="Cambria"/>
              </a:defRPr>
            </a:pPr>
            <a:r>
              <a:rPr>
                <a:solidFill/>
              </a:rPr>
              <a:t>Primary Goal: A full-stack MERN platform connecting mentors and learners.</a:t>
            </a:r>
          </a:p>
          <a:p>
            <a:pPr>
              <a:defRPr sz="1300">
                <a:solidFill>
                  <a:srgbClr val="222222"/>
                </a:solidFill>
                <a:latin typeface="Calibri"/>
              </a:defRPr>
            </a:pPr>
            <a:r>
              <a:rPr>
                <a:solidFill/>
              </a:rPr>
              <a:t>Develop a scalable web app for skill discovery, session scheduling, real-time chat, and verified ratings.</a:t>
            </a:r>
          </a:p>
        </p:txBody>
      </p:sp>
      <p:sp>
        <p:nvSpPr>
          <p:cNvPr id="8" name="Rectangle 7"/>
          <p:cNvSpPr/>
          <p:nvPr/>
        </p:nvSpPr>
        <p:spPr>
          <a:xfrm>
            <a:off x="731520" y="2331720"/>
            <a:ext cx="3429000" cy="38404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514600"/>
            <a:ext cx="3063240" cy="3474720"/>
          </a:xfrm>
          <a:prstGeom prst="rect">
            <a:avLst/>
          </a:prstGeom>
          <a:noFill/>
        </p:spPr>
        <p:txBody>
          <a:bodyPr wrap="square" lIns="0" tIns="0" rIns="0" bIns="0">
            <a:spAutoFit/>
          </a:bodyPr>
          <a:lstStyle/>
          <a:p>
            <a:pPr>
              <a:spcAft>
                <a:spcPts val="200"/>
              </a:spcAft>
              <a:defRPr sz="1800" b="1">
                <a:solidFill>
                  <a:srgbClr val="176B4E"/>
                </a:solidFill>
                <a:latin typeface="Cambria"/>
              </a:defRPr>
            </a:pPr>
            <a:r>
              <a:rPr>
                <a:solidFill/>
              </a:rPr>
              <a:t>Learner Module</a:t>
            </a:r>
          </a:p>
          <a:p>
            <a:pPr>
              <a:spcAft>
                <a:spcPts val="1400"/>
              </a:spcAft>
              <a:defRPr sz="1100">
                <a:solidFill>
                  <a:srgbClr val="666666"/>
                </a:solidFill>
                <a:latin typeface="Calibri"/>
              </a:defRPr>
            </a:pPr>
            <a:r>
              <a:rPr>
                <a:solidFill/>
              </a:rPr>
              <a:t>For Students Seeking Guidance</a:t>
            </a:r>
          </a:p>
          <a:p>
            <a:pPr>
              <a:spcAft>
                <a:spcPts val="800"/>
              </a:spcAft>
              <a:defRPr sz="1300">
                <a:solidFill>
                  <a:srgbClr val="222222"/>
                </a:solidFill>
                <a:latin typeface="Calibri"/>
              </a:defRPr>
            </a:pPr>
            <a:r>
              <a:rPr>
                <a:solidFill/>
              </a:rPr>
              <a:t>• Search and filter mentors by skill and view profiles</a:t>
            </a:r>
          </a:p>
          <a:p>
            <a:pPr>
              <a:spcAft>
                <a:spcPts val="800"/>
              </a:spcAft>
              <a:defRPr sz="1300">
                <a:solidFill>
                  <a:srgbClr val="222222"/>
                </a:solidFill>
                <a:latin typeface="Calibri"/>
              </a:defRPr>
            </a:pPr>
            <a:r>
              <a:rPr>
                <a:solidFill/>
              </a:rPr>
              <a:t>• Book and cancel sessions with an interactive calendar</a:t>
            </a:r>
          </a:p>
          <a:p>
            <a:pPr>
              <a:spcAft>
                <a:spcPts val="800"/>
              </a:spcAft>
              <a:defRPr sz="1300">
                <a:solidFill>
                  <a:srgbClr val="222222"/>
                </a:solidFill>
                <a:latin typeface="Calibri"/>
              </a:defRPr>
            </a:pPr>
            <a:r>
              <a:rPr>
                <a:solidFill/>
              </a:rPr>
              <a:t>• Chat in real time with mentors before and after booking</a:t>
            </a:r>
          </a:p>
          <a:p>
            <a:pPr>
              <a:spcAft>
                <a:spcPts val="800"/>
              </a:spcAft>
              <a:defRPr sz="1300">
                <a:solidFill>
                  <a:srgbClr val="222222"/>
                </a:solidFill>
                <a:latin typeface="Calibri"/>
              </a:defRPr>
            </a:pPr>
            <a:r>
              <a:rPr>
                <a:solidFill/>
              </a:rPr>
              <a:t>• Leave ratings and written reviews after each session</a:t>
            </a:r>
          </a:p>
        </p:txBody>
      </p:sp>
      <p:sp>
        <p:nvSpPr>
          <p:cNvPr id="10" name="Rectangle 9"/>
          <p:cNvSpPr/>
          <p:nvPr/>
        </p:nvSpPr>
        <p:spPr>
          <a:xfrm>
            <a:off x="4379976" y="2331720"/>
            <a:ext cx="3429000" cy="38404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2514600"/>
            <a:ext cx="3063240" cy="3474720"/>
          </a:xfrm>
          <a:prstGeom prst="rect">
            <a:avLst/>
          </a:prstGeom>
          <a:noFill/>
        </p:spPr>
        <p:txBody>
          <a:bodyPr wrap="square" lIns="0" tIns="0" rIns="0" bIns="0">
            <a:spAutoFit/>
          </a:bodyPr>
          <a:lstStyle/>
          <a:p>
            <a:pPr>
              <a:spcAft>
                <a:spcPts val="200"/>
              </a:spcAft>
              <a:defRPr sz="1800" b="1">
                <a:solidFill>
                  <a:srgbClr val="176B4E"/>
                </a:solidFill>
                <a:latin typeface="Cambria"/>
              </a:defRPr>
            </a:pPr>
            <a:r>
              <a:rPr>
                <a:solidFill/>
              </a:rPr>
              <a:t>Mentor Module</a:t>
            </a:r>
          </a:p>
          <a:p>
            <a:pPr>
              <a:spcAft>
                <a:spcPts val="1400"/>
              </a:spcAft>
              <a:defRPr sz="1100">
                <a:solidFill>
                  <a:srgbClr val="666666"/>
                </a:solidFill>
                <a:latin typeface="Calibri"/>
              </a:defRPr>
            </a:pPr>
            <a:r>
              <a:rPr>
                <a:solidFill/>
              </a:rPr>
              <a:t>For Skilled Mentors &amp; Tutors</a:t>
            </a:r>
          </a:p>
          <a:p>
            <a:pPr>
              <a:spcAft>
                <a:spcPts val="800"/>
              </a:spcAft>
              <a:defRPr sz="1300">
                <a:solidFill>
                  <a:srgbClr val="222222"/>
                </a:solidFill>
                <a:latin typeface="Calibri"/>
              </a:defRPr>
            </a:pPr>
            <a:r>
              <a:rPr>
                <a:solidFill/>
              </a:rPr>
              <a:t>• Create profiles with skill listings and bio details</a:t>
            </a:r>
          </a:p>
          <a:p>
            <a:pPr>
              <a:spcAft>
                <a:spcPts val="800"/>
              </a:spcAft>
              <a:defRPr sz="1300">
                <a:solidFill>
                  <a:srgbClr val="222222"/>
                </a:solidFill>
                <a:latin typeface="Calibri"/>
              </a:defRPr>
            </a:pPr>
            <a:r>
              <a:rPr>
                <a:solidFill/>
              </a:rPr>
              <a:t>• Define weekly availability slots for sessions</a:t>
            </a:r>
          </a:p>
          <a:p>
            <a:pPr>
              <a:spcAft>
                <a:spcPts val="800"/>
              </a:spcAft>
              <a:defRPr sz="1300">
                <a:solidFill>
                  <a:srgbClr val="222222"/>
                </a:solidFill>
                <a:latin typeface="Calibri"/>
              </a:defRPr>
            </a:pPr>
            <a:r>
              <a:rPr>
                <a:solidFill/>
              </a:rPr>
              <a:t>• Accept, decline, or propose alternate session times</a:t>
            </a:r>
          </a:p>
          <a:p>
            <a:pPr>
              <a:spcAft>
                <a:spcPts val="800"/>
              </a:spcAft>
              <a:defRPr sz="1300">
                <a:solidFill>
                  <a:srgbClr val="222222"/>
                </a:solidFill>
                <a:latin typeface="Calibri"/>
              </a:defRPr>
            </a:pPr>
            <a:r>
              <a:rPr>
                <a:solidFill/>
              </a:rPr>
              <a:t>• Track booking requests and sessions on a mentor dashboard</a:t>
            </a:r>
          </a:p>
        </p:txBody>
      </p:sp>
      <p:sp>
        <p:nvSpPr>
          <p:cNvPr id="12" name="Rectangle 11"/>
          <p:cNvSpPr/>
          <p:nvPr/>
        </p:nvSpPr>
        <p:spPr>
          <a:xfrm>
            <a:off x="8028432" y="2331720"/>
            <a:ext cx="3429000" cy="38404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2514600"/>
            <a:ext cx="3063240" cy="3474720"/>
          </a:xfrm>
          <a:prstGeom prst="rect">
            <a:avLst/>
          </a:prstGeom>
          <a:noFill/>
        </p:spPr>
        <p:txBody>
          <a:bodyPr wrap="square" lIns="0" tIns="0" rIns="0" bIns="0">
            <a:spAutoFit/>
          </a:bodyPr>
          <a:lstStyle/>
          <a:p>
            <a:pPr>
              <a:spcAft>
                <a:spcPts val="200"/>
              </a:spcAft>
              <a:defRPr sz="1800" b="1">
                <a:solidFill>
                  <a:srgbClr val="176B4E"/>
                </a:solidFill>
                <a:latin typeface="Cambria"/>
              </a:defRPr>
            </a:pPr>
            <a:r>
              <a:rPr>
                <a:solidFill/>
              </a:rPr>
              <a:t>Admin &amp; Security Module</a:t>
            </a:r>
          </a:p>
          <a:p>
            <a:pPr>
              <a:spcAft>
                <a:spcPts val="1400"/>
              </a:spcAft>
              <a:defRPr sz="1100">
                <a:solidFill>
                  <a:srgbClr val="666666"/>
                </a:solidFill>
                <a:latin typeface="Calibri"/>
              </a:defRPr>
            </a:pPr>
            <a:r>
              <a:rPr>
                <a:solidFill/>
              </a:rPr>
              <a:t>Platform Trust, Security &amp; Control</a:t>
            </a:r>
          </a:p>
          <a:p>
            <a:pPr>
              <a:spcAft>
                <a:spcPts val="800"/>
              </a:spcAft>
              <a:defRPr sz="1300">
                <a:solidFill>
                  <a:srgbClr val="222222"/>
                </a:solidFill>
                <a:latin typeface="Calibri"/>
              </a:defRPr>
            </a:pPr>
            <a:r>
              <a:rPr>
                <a:solidFill/>
              </a:rPr>
              <a:t>• Secure authentication with bcrypt and JWT tokens</a:t>
            </a:r>
          </a:p>
          <a:p>
            <a:pPr>
              <a:spcAft>
                <a:spcPts val="800"/>
              </a:spcAft>
              <a:defRPr sz="1300">
                <a:solidFill>
                  <a:srgbClr val="222222"/>
                </a:solidFill>
                <a:latin typeface="Calibri"/>
              </a:defRPr>
            </a:pPr>
            <a:r>
              <a:rPr>
                <a:solidFill/>
              </a:rPr>
              <a:t>• Role-based access control (RBAC) for all pages</a:t>
            </a:r>
          </a:p>
          <a:p>
            <a:pPr>
              <a:spcAft>
                <a:spcPts val="800"/>
              </a:spcAft>
              <a:defRPr sz="1300">
                <a:solidFill>
                  <a:srgbClr val="222222"/>
                </a:solidFill>
                <a:latin typeface="Calibri"/>
              </a:defRPr>
            </a:pPr>
            <a:r>
              <a:rPr>
                <a:solidFill/>
              </a:rPr>
              <a:t>• Admin dashboard with platform user and session stats</a:t>
            </a:r>
          </a:p>
          <a:p>
            <a:pPr>
              <a:spcAft>
                <a:spcPts val="800"/>
              </a:spcAft>
              <a:defRPr sz="1300">
                <a:solidFill>
                  <a:srgbClr val="222222"/>
                </a:solidFill>
                <a:latin typeface="Calibri"/>
              </a:defRPr>
            </a:pPr>
            <a:r>
              <a:rPr>
                <a:solidFill/>
              </a:rPr>
              <a:t>• User management: verify accounts and manage members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ENGINEERING FOUNDATION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Technology Stack &amp; Database Design</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5 of 15</a:t>
            </a:r>
          </a:p>
        </p:txBody>
      </p:sp>
      <p:sp>
        <p:nvSpPr>
          <p:cNvPr id="6" name="Rectangle 5"/>
          <p:cNvSpPr/>
          <p:nvPr/>
        </p:nvSpPr>
        <p:spPr>
          <a:xfrm>
            <a:off x="731520" y="123444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34416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rPr>
                <a:solidFill/>
              </a:rPr>
              <a:t>Frontend: React.js</a:t>
            </a:r>
          </a:p>
          <a:p>
            <a:pPr>
              <a:defRPr sz="1100">
                <a:solidFill>
                  <a:srgbClr val="222222"/>
                </a:solidFill>
                <a:latin typeface="Calibri"/>
              </a:defRPr>
            </a:pPr>
            <a:r>
              <a:rPr>
                <a:solidFill/>
              </a:rPr>
              <a:t>Component-based UI, Vite bundler, Lucide icons, responsive CSS variables.</a:t>
            </a:r>
          </a:p>
        </p:txBody>
      </p:sp>
      <p:sp>
        <p:nvSpPr>
          <p:cNvPr id="8" name="Rectangle 7"/>
          <p:cNvSpPr/>
          <p:nvPr/>
        </p:nvSpPr>
        <p:spPr>
          <a:xfrm>
            <a:off x="4379976" y="123444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34416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rPr>
                <a:solidFill/>
              </a:rPr>
              <a:t>Backend: Node.js + Express.js</a:t>
            </a:r>
          </a:p>
          <a:p>
            <a:pPr>
              <a:defRPr sz="1100">
                <a:solidFill>
                  <a:srgbClr val="222222"/>
                </a:solidFill>
                <a:latin typeface="Calibri"/>
              </a:defRPr>
            </a:pPr>
            <a:r>
              <a:rPr>
                <a:solidFill/>
              </a:rPr>
              <a:t>REST API controllers, modular routes, error handling, and form validation.</a:t>
            </a:r>
          </a:p>
        </p:txBody>
      </p:sp>
      <p:sp>
        <p:nvSpPr>
          <p:cNvPr id="10" name="Rectangle 9"/>
          <p:cNvSpPr/>
          <p:nvPr/>
        </p:nvSpPr>
        <p:spPr>
          <a:xfrm>
            <a:off x="8028432" y="123444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65592" y="134416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rPr>
                <a:solidFill/>
              </a:rPr>
              <a:t>Database: MongoDB Atlas</a:t>
            </a:r>
          </a:p>
          <a:p>
            <a:pPr>
              <a:defRPr sz="1100">
                <a:solidFill>
                  <a:srgbClr val="222222"/>
                </a:solidFill>
                <a:latin typeface="Calibri"/>
              </a:defRPr>
            </a:pPr>
            <a:r>
              <a:rPr>
                <a:solidFill/>
              </a:rPr>
              <a:t>Cloud NoSQL cluster with Mongoose schemas, indexing, and references.</a:t>
            </a:r>
          </a:p>
        </p:txBody>
      </p:sp>
      <p:sp>
        <p:nvSpPr>
          <p:cNvPr id="12" name="Rectangle 11"/>
          <p:cNvSpPr/>
          <p:nvPr/>
        </p:nvSpPr>
        <p:spPr>
          <a:xfrm>
            <a:off x="731520" y="256032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67004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rPr>
                <a:solidFill/>
              </a:rPr>
              <a:t>Authentication: JWT &amp; Bcrypt</a:t>
            </a:r>
          </a:p>
          <a:p>
            <a:pPr>
              <a:defRPr sz="1100">
                <a:solidFill>
                  <a:srgbClr val="222222"/>
                </a:solidFill>
                <a:latin typeface="Calibri"/>
              </a:defRPr>
            </a:pPr>
            <a:r>
              <a:rPr>
                <a:solidFill/>
              </a:rPr>
              <a:t>Bcrypt password hashing and JWT token authorization for protected routes.</a:t>
            </a:r>
          </a:p>
        </p:txBody>
      </p:sp>
      <p:sp>
        <p:nvSpPr>
          <p:cNvPr id="14" name="Rectangle 13"/>
          <p:cNvSpPr/>
          <p:nvPr/>
        </p:nvSpPr>
        <p:spPr>
          <a:xfrm>
            <a:off x="4379976" y="256032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7136" y="267004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rPr>
                <a:solidFill/>
              </a:rPr>
              <a:t>API Architecture: REST APIs</a:t>
            </a:r>
          </a:p>
          <a:p>
            <a:pPr>
              <a:defRPr sz="1100">
                <a:solidFill>
                  <a:srgbClr val="222222"/>
                </a:solidFill>
                <a:latin typeface="Calibri"/>
              </a:defRPr>
            </a:pPr>
            <a:r>
              <a:rPr>
                <a:solidFill/>
              </a:rPr>
              <a:t>Structured HTTP endpoints connecting frontend components with backend services.</a:t>
            </a:r>
          </a:p>
        </p:txBody>
      </p:sp>
      <p:sp>
        <p:nvSpPr>
          <p:cNvPr id="16" name="Rectangle 15"/>
          <p:cNvSpPr/>
          <p:nvPr/>
        </p:nvSpPr>
        <p:spPr>
          <a:xfrm>
            <a:off x="8028432" y="2560320"/>
            <a:ext cx="3429000" cy="118872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65592" y="2670048"/>
            <a:ext cx="3154680" cy="969264"/>
          </a:xfrm>
          <a:prstGeom prst="rect">
            <a:avLst/>
          </a:prstGeom>
          <a:noFill/>
        </p:spPr>
        <p:txBody>
          <a:bodyPr wrap="square" lIns="0" tIns="0" rIns="0" bIns="0">
            <a:spAutoFit/>
          </a:bodyPr>
          <a:lstStyle/>
          <a:p>
            <a:pPr>
              <a:spcAft>
                <a:spcPts val="200"/>
              </a:spcAft>
              <a:defRPr sz="1400" b="1">
                <a:solidFill>
                  <a:srgbClr val="176B4E"/>
                </a:solidFill>
                <a:latin typeface="Cambria"/>
              </a:defRPr>
            </a:pPr>
            <a:r>
              <a:rPr>
                <a:solidFill/>
              </a:rPr>
              <a:t>Real-Time: Socket.io</a:t>
            </a:r>
          </a:p>
          <a:p>
            <a:pPr>
              <a:defRPr sz="1100">
                <a:solidFill>
                  <a:srgbClr val="222222"/>
                </a:solidFill>
                <a:latin typeface="Calibri"/>
              </a:defRPr>
            </a:pPr>
            <a:r>
              <a:rPr>
                <a:solidFill/>
              </a:rPr>
              <a:t>WebSocket channels for instant, real-time mentor and learner chat messaging.</a:t>
            </a:r>
          </a:p>
        </p:txBody>
      </p:sp>
      <p:sp>
        <p:nvSpPr>
          <p:cNvPr id="18" name="Rectangle 17"/>
          <p:cNvSpPr/>
          <p:nvPr/>
        </p:nvSpPr>
        <p:spPr>
          <a:xfrm>
            <a:off x="731520"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rPr>
                <a:solidFill/>
              </a:rPr>
              <a:t>Users Collection (Model)</a:t>
            </a:r>
          </a:p>
          <a:p>
            <a:pPr>
              <a:lnSpc>
                <a:spcPct val="115000"/>
              </a:lnSpc>
              <a:defRPr sz="1100">
                <a:solidFill>
                  <a:srgbClr val="222222"/>
                </a:solidFill>
                <a:latin typeface="Calibri"/>
              </a:defRPr>
            </a:pPr>
            <a:r>
              <a:rPr>
                <a:solidFill/>
              </a:rPr>
              <a:t>name, email, password, role ('learner'|'mentor'|'admin'), bio, skillsToTeach, skillsToLearn, hourlyRate, availability, payoutUpiId, profileCompleted, isActive</a:t>
            </a:r>
          </a:p>
        </p:txBody>
      </p:sp>
      <p:sp>
        <p:nvSpPr>
          <p:cNvPr id="20" name="Rectangle 19"/>
          <p:cNvSpPr/>
          <p:nvPr/>
        </p:nvSpPr>
        <p:spPr>
          <a:xfrm>
            <a:off x="3456432"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3592"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rPr>
                <a:solidFill/>
              </a:rPr>
              <a:t>Bookings Collection (Model)</a:t>
            </a:r>
          </a:p>
          <a:p>
            <a:pPr>
              <a:lnSpc>
                <a:spcPct val="115000"/>
              </a:lnSpc>
              <a:defRPr sz="1100">
                <a:solidFill>
                  <a:srgbClr val="222222"/>
                </a:solidFill>
                <a:latin typeface="Calibri"/>
              </a:defRPr>
            </a:pPr>
            <a:r>
              <a:rPr>
                <a:solidFill/>
              </a:rPr>
              <a:t>learner (Ref), mentor (Ref), date, time, duration (30-120m), status: pending / confirmed / completed / cancelled, actionExpiresAt (4h), suggestedSlots, meetingUrl</a:t>
            </a:r>
          </a:p>
        </p:txBody>
      </p:sp>
      <p:sp>
        <p:nvSpPr>
          <p:cNvPr id="22" name="Rectangle 21"/>
          <p:cNvSpPr/>
          <p:nvPr/>
        </p:nvSpPr>
        <p:spPr>
          <a:xfrm>
            <a:off x="6181344"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rPr>
                <a:solidFill/>
              </a:rPr>
              <a:t>Chat Models (Conversations &amp; Messages)</a:t>
            </a:r>
          </a:p>
          <a:p>
            <a:pPr>
              <a:lnSpc>
                <a:spcPct val="115000"/>
              </a:lnSpc>
              <a:defRPr sz="1100">
                <a:solidFill>
                  <a:srgbClr val="222222"/>
                </a:solidFill>
                <a:latin typeface="Calibri"/>
              </a:defRPr>
            </a:pPr>
            <a:r>
              <a:rPr>
                <a:solidFill/>
              </a:rPr>
              <a:t>Conversation: participants, bookingId, lastMessage, lastActivityAt || Message: conversationId, sender, text, isEdited, readBy</a:t>
            </a:r>
            <a:br/>
            <a:r>
              <a:t/>
            </a:r>
          </a:p>
        </p:txBody>
      </p:sp>
      <p:sp>
        <p:nvSpPr>
          <p:cNvPr id="24" name="Rectangle 23"/>
          <p:cNvSpPr/>
          <p:nvPr/>
        </p:nvSpPr>
        <p:spPr>
          <a:xfrm>
            <a:off x="8906256" y="3977639"/>
            <a:ext cx="2560320" cy="224028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3416" y="4087367"/>
            <a:ext cx="2286000" cy="2020824"/>
          </a:xfrm>
          <a:prstGeom prst="rect">
            <a:avLst/>
          </a:prstGeom>
          <a:noFill/>
        </p:spPr>
        <p:txBody>
          <a:bodyPr wrap="square" lIns="0" tIns="0" rIns="0" bIns="0">
            <a:spAutoFit/>
          </a:bodyPr>
          <a:lstStyle/>
          <a:p>
            <a:pPr>
              <a:spcAft>
                <a:spcPts val="400"/>
              </a:spcAft>
              <a:defRPr sz="1400" b="1">
                <a:solidFill>
                  <a:srgbClr val="176B4E"/>
                </a:solidFill>
                <a:latin typeface="Cambria"/>
              </a:defRPr>
            </a:pPr>
            <a:r>
              <a:rPr>
                <a:solidFill/>
              </a:rPr>
              <a:t>Ratings, Logs &amp; Settings Collections</a:t>
            </a:r>
          </a:p>
          <a:p>
            <a:pPr>
              <a:lnSpc>
                <a:spcPct val="115000"/>
              </a:lnSpc>
              <a:defRPr sz="1100">
                <a:solidFill>
                  <a:srgbClr val="222222"/>
                </a:solidFill>
                <a:latin typeface="Calibri"/>
              </a:defRPr>
            </a:pPr>
            <a:r>
              <a:rPr>
                <a:solidFill/>
              </a:rPr>
              <a:t>Review: mentor, learner, rating (1-5), comment || ActivityLog: user, action || Setting: key, value. (Built 8 collections vs 6-8 in synopsis).</a:t>
            </a:r>
            <a:br/>
            <a: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HIGH-LEVEL DESIGN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System Architecture: End-to-End Data Flow</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6 of 15</a:t>
            </a:r>
          </a:p>
        </p:txBody>
      </p:sp>
      <p:sp>
        <p:nvSpPr>
          <p:cNvPr id="6" name="Rectangle 5"/>
          <p:cNvSpPr/>
          <p:nvPr/>
        </p:nvSpPr>
        <p:spPr>
          <a:xfrm>
            <a:off x="822960" y="1645920"/>
            <a:ext cx="2926080" cy="4206240"/>
          </a:xfrm>
          <a:prstGeom prst="rect">
            <a:avLst/>
          </a:prstGeom>
          <a:noFill/>
          <a:ln w="317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0000"/>
                </a:solidFill>
                <a:latin typeface="Cambria"/>
              </a:defRPr>
            </a:pPr>
            <a:r>
              <a:rPr>
                <a:solidFill/>
              </a:rPr>
              <a:t>React Client (Frontend)</a:t>
            </a:r>
            <a:br/>
          </a:p>
          <a:p>
            <a:pPr>
              <a:spcAft>
                <a:spcPts val="600"/>
              </a:spcAft>
              <a:defRPr sz="1300">
                <a:solidFill>
                  <a:srgbClr val="000000"/>
                </a:solidFill>
                <a:latin typeface="Calibri"/>
              </a:defRPr>
            </a:pPr>
            <a:r>
              <a:rPr>
                <a:solidFill/>
              </a:rPr>
              <a:t>• Vite Development &amp; Bundling</a:t>
            </a:r>
          </a:p>
          <a:p>
            <a:pPr>
              <a:spcAft>
                <a:spcPts val="600"/>
              </a:spcAft>
              <a:defRPr sz="1300">
                <a:solidFill>
                  <a:srgbClr val="000000"/>
                </a:solidFill>
                <a:latin typeface="Calibri"/>
              </a:defRPr>
            </a:pPr>
            <a:r>
              <a:rPr>
                <a:solidFill/>
              </a:rPr>
              <a:t>• React Router Navigation</a:t>
            </a:r>
          </a:p>
          <a:p>
            <a:pPr>
              <a:spcAft>
                <a:spcPts val="600"/>
              </a:spcAft>
              <a:defRPr sz="1300">
                <a:solidFill>
                  <a:srgbClr val="000000"/>
                </a:solidFill>
                <a:latin typeface="Calibri"/>
              </a:defRPr>
            </a:pPr>
            <a:r>
              <a:rPr>
                <a:solidFill/>
              </a:rPr>
              <a:t>• Learner, Mentor &amp; Admin Views</a:t>
            </a:r>
          </a:p>
          <a:p>
            <a:pPr>
              <a:spcAft>
                <a:spcPts val="600"/>
              </a:spcAft>
              <a:defRPr sz="1300">
                <a:solidFill>
                  <a:srgbClr val="000000"/>
                </a:solidFill>
                <a:latin typeface="Calibri"/>
              </a:defRPr>
            </a:pPr>
            <a:r>
              <a:rPr>
                <a:solidFill/>
              </a:rPr>
              <a:t>• Socket.io Client Listener</a:t>
            </a:r>
          </a:p>
          <a:p>
            <a:pPr>
              <a:spcAft>
                <a:spcPts val="600"/>
              </a:spcAft>
              <a:defRPr sz="1300">
                <a:solidFill>
                  <a:srgbClr val="000000"/>
                </a:solidFill>
                <a:latin typeface="Calibri"/>
              </a:defRPr>
            </a:pPr>
            <a:r>
              <a:rPr>
                <a:solidFill/>
              </a:rPr>
              <a:t>• LocalStorage Token Persistence</a:t>
            </a:r>
          </a:p>
        </p:txBody>
      </p:sp>
      <p:sp>
        <p:nvSpPr>
          <p:cNvPr id="7" name="Right Arrow 6"/>
          <p:cNvSpPr/>
          <p:nvPr/>
        </p:nvSpPr>
        <p:spPr>
          <a:xfrm>
            <a:off x="3931920" y="2377440"/>
            <a:ext cx="1188720" cy="411480"/>
          </a:xfrm>
          <a:prstGeom prst="rightArrow">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49039" y="1920240"/>
            <a:ext cx="1554480" cy="411480"/>
          </a:xfrm>
          <a:prstGeom prst="rect">
            <a:avLst/>
          </a:prstGeom>
          <a:noFill/>
        </p:spPr>
        <p:txBody>
          <a:bodyPr wrap="none">
            <a:spAutoFit/>
          </a:bodyPr>
          <a:lstStyle/>
          <a:p>
            <a:pPr algn="ctr">
              <a:defRPr sz="1200" b="1">
                <a:solidFill>
                  <a:srgbClr val="000000"/>
                </a:solidFill>
                <a:latin typeface="Calibri"/>
              </a:defRPr>
            </a:pPr>
            <a:r>
              <a:rPr>
                <a:solidFill/>
              </a:rPr>
              <a:t>REST APIs (HTTP)</a:t>
            </a:r>
          </a:p>
        </p:txBody>
      </p:sp>
      <p:sp>
        <p:nvSpPr>
          <p:cNvPr id="9" name="Left-Right Arrow 8"/>
          <p:cNvSpPr/>
          <p:nvPr/>
        </p:nvSpPr>
        <p:spPr>
          <a:xfrm>
            <a:off x="3931920" y="4389120"/>
            <a:ext cx="1188720" cy="411480"/>
          </a:xfrm>
          <a:prstGeom prst="leftRightArrow">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39" y="4892040"/>
            <a:ext cx="1554480" cy="411480"/>
          </a:xfrm>
          <a:prstGeom prst="rect">
            <a:avLst/>
          </a:prstGeom>
          <a:noFill/>
        </p:spPr>
        <p:txBody>
          <a:bodyPr wrap="none">
            <a:spAutoFit/>
          </a:bodyPr>
          <a:lstStyle/>
          <a:p>
            <a:pPr algn="ctr">
              <a:defRPr sz="1200" b="1">
                <a:solidFill>
                  <a:srgbClr val="000000"/>
                </a:solidFill>
                <a:latin typeface="Calibri"/>
              </a:defRPr>
            </a:pPr>
            <a:r>
              <a:rPr>
                <a:solidFill/>
              </a:rPr>
              <a:t>WebSocket (Live Chat)</a:t>
            </a:r>
          </a:p>
        </p:txBody>
      </p:sp>
      <p:sp>
        <p:nvSpPr>
          <p:cNvPr id="11" name="Rectangle 10"/>
          <p:cNvSpPr/>
          <p:nvPr/>
        </p:nvSpPr>
        <p:spPr>
          <a:xfrm>
            <a:off x="5303520" y="1645920"/>
            <a:ext cx="3108960" cy="4206240"/>
          </a:xfrm>
          <a:prstGeom prst="rect">
            <a:avLst/>
          </a:prstGeom>
          <a:noFill/>
          <a:ln w="317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0000"/>
                </a:solidFill>
                <a:latin typeface="Cambria"/>
              </a:defRPr>
            </a:pPr>
            <a:r>
              <a:rPr>
                <a:solidFill/>
              </a:rPr>
              <a:t>Node.js / Express API</a:t>
            </a:r>
            <a:br/>
          </a:p>
          <a:p>
            <a:pPr>
              <a:spcAft>
                <a:spcPts val="600"/>
              </a:spcAft>
              <a:defRPr sz="1300">
                <a:solidFill>
                  <a:srgbClr val="000000"/>
                </a:solidFill>
                <a:latin typeface="Calibri"/>
              </a:defRPr>
            </a:pPr>
            <a:r>
              <a:rPr>
                <a:solidFill/>
              </a:rPr>
              <a:t>• JWT Auth &amp; Role Protection (RBAC)</a:t>
            </a:r>
          </a:p>
          <a:p>
            <a:pPr>
              <a:spcAft>
                <a:spcPts val="600"/>
              </a:spcAft>
              <a:defRPr sz="1300">
                <a:solidFill>
                  <a:srgbClr val="000000"/>
                </a:solidFill>
                <a:latin typeface="Calibri"/>
              </a:defRPr>
            </a:pPr>
            <a:r>
              <a:rPr>
                <a:solidFill/>
              </a:rPr>
              <a:t>• Booking Lifecycle &amp; Status Tracking</a:t>
            </a:r>
          </a:p>
          <a:p>
            <a:pPr>
              <a:spcAft>
                <a:spcPts val="600"/>
              </a:spcAft>
              <a:defRPr sz="1300">
                <a:solidFill>
                  <a:srgbClr val="000000"/>
                </a:solidFill>
                <a:latin typeface="Calibri"/>
              </a:defRPr>
            </a:pPr>
            <a:r>
              <a:rPr>
                <a:solidFill/>
              </a:rPr>
              <a:t>• Socket.io Server Event Bus</a:t>
            </a:r>
          </a:p>
          <a:p>
            <a:pPr>
              <a:spcAft>
                <a:spcPts val="600"/>
              </a:spcAft>
              <a:defRPr sz="1300">
                <a:solidFill>
                  <a:srgbClr val="000000"/>
                </a:solidFill>
                <a:latin typeface="Calibri"/>
              </a:defRPr>
            </a:pPr>
            <a:r>
              <a:rPr>
                <a:solidFill/>
              </a:rPr>
              <a:t>• Frontend &amp; Backend Form Validation</a:t>
            </a:r>
          </a:p>
          <a:p>
            <a:pPr>
              <a:spcAft>
                <a:spcPts val="600"/>
              </a:spcAft>
              <a:defRPr sz="1300">
                <a:solidFill>
                  <a:srgbClr val="000000"/>
                </a:solidFill>
                <a:latin typeface="Calibri"/>
              </a:defRPr>
            </a:pPr>
            <a:r>
              <a:rPr>
                <a:solidFill/>
              </a:rPr>
              <a:t>• Admin Moderation &amp; Report Endpoints</a:t>
            </a:r>
          </a:p>
        </p:txBody>
      </p:sp>
      <p:sp>
        <p:nvSpPr>
          <p:cNvPr id="12" name="Left-Right Arrow 11"/>
          <p:cNvSpPr/>
          <p:nvPr/>
        </p:nvSpPr>
        <p:spPr>
          <a:xfrm>
            <a:off x="8595360" y="3383280"/>
            <a:ext cx="822960" cy="411480"/>
          </a:xfrm>
          <a:prstGeom prst="leftRightArrow">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2880360"/>
            <a:ext cx="1371600" cy="411480"/>
          </a:xfrm>
          <a:prstGeom prst="rect">
            <a:avLst/>
          </a:prstGeom>
          <a:noFill/>
        </p:spPr>
        <p:txBody>
          <a:bodyPr wrap="none">
            <a:spAutoFit/>
          </a:bodyPr>
          <a:lstStyle/>
          <a:p>
            <a:pPr algn="ctr">
              <a:defRPr sz="1200" b="1">
                <a:solidFill>
                  <a:srgbClr val="000000"/>
                </a:solidFill>
                <a:latin typeface="Calibri"/>
              </a:defRPr>
            </a:pPr>
            <a:r>
              <a:rPr>
                <a:solidFill/>
              </a:rPr>
              <a:t>Mongoose Driver</a:t>
            </a:r>
          </a:p>
        </p:txBody>
      </p:sp>
      <p:sp>
        <p:nvSpPr>
          <p:cNvPr id="14" name="Rectangle 13"/>
          <p:cNvSpPr/>
          <p:nvPr/>
        </p:nvSpPr>
        <p:spPr>
          <a:xfrm>
            <a:off x="9601200" y="1645920"/>
            <a:ext cx="1828800" cy="4206240"/>
          </a:xfrm>
          <a:prstGeom prst="rect">
            <a:avLst/>
          </a:prstGeom>
          <a:noFill/>
          <a:ln w="317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000000"/>
                </a:solidFill>
                <a:latin typeface="Cambria"/>
              </a:defRPr>
            </a:pPr>
            <a:r>
              <a:rPr>
                <a:solidFill/>
              </a:rPr>
              <a:t>MongoDB Atlas (Database)</a:t>
            </a:r>
            <a:br/>
          </a:p>
          <a:p>
            <a:pPr>
              <a:spcAft>
                <a:spcPts val="800"/>
              </a:spcAft>
              <a:defRPr sz="1300">
                <a:solidFill>
                  <a:srgbClr val="000000"/>
                </a:solidFill>
                <a:latin typeface="Calibri"/>
              </a:defRPr>
            </a:pPr>
            <a:r>
              <a:rPr>
                <a:solidFill/>
              </a:rPr>
              <a:t>• Users &amp; Roles</a:t>
            </a:r>
          </a:p>
          <a:p>
            <a:pPr>
              <a:spcAft>
                <a:spcPts val="800"/>
              </a:spcAft>
              <a:defRPr sz="1300">
                <a:solidFill>
                  <a:srgbClr val="000000"/>
                </a:solidFill>
                <a:latin typeface="Calibri"/>
              </a:defRPr>
            </a:pPr>
            <a:r>
              <a:rPr>
                <a:solidFill/>
              </a:rPr>
              <a:t>• Bookings &amp; Slots</a:t>
            </a:r>
          </a:p>
          <a:p>
            <a:pPr>
              <a:spcAft>
                <a:spcPts val="800"/>
              </a:spcAft>
              <a:defRPr sz="1300">
                <a:solidFill>
                  <a:srgbClr val="000000"/>
                </a:solidFill>
                <a:latin typeface="Calibri"/>
              </a:defRPr>
            </a:pPr>
            <a:r>
              <a:rPr>
                <a:solidFill/>
              </a:rPr>
              <a:t>• Messages &amp; Threads</a:t>
            </a:r>
          </a:p>
          <a:p>
            <a:pPr>
              <a:spcAft>
                <a:spcPts val="800"/>
              </a:spcAft>
              <a:defRPr sz="1300">
                <a:solidFill>
                  <a:srgbClr val="000000"/>
                </a:solidFill>
                <a:latin typeface="Calibri"/>
              </a:defRPr>
            </a:pPr>
            <a:r>
              <a:rPr>
                <a:solidFill/>
              </a:rPr>
              <a:t>• Ratings &amp; Reviews</a:t>
            </a:r>
          </a:p>
          <a:p>
            <a:pPr>
              <a:spcAft>
                <a:spcPts val="800"/>
              </a:spcAft>
              <a:defRPr sz="1300">
                <a:solidFill>
                  <a:srgbClr val="000000"/>
                </a:solidFill>
                <a:latin typeface="Calibri"/>
              </a:defRPr>
            </a:pPr>
            <a:r>
              <a:rPr>
                <a:solidFill/>
              </a:rPr>
              <a:t>• Activity Logs &amp; Settings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CORE MODULE</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Booking Module: 5-Step Scheduling Flow</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7 of 15</a:t>
            </a:r>
          </a:p>
        </p:txBody>
      </p:sp>
      <p:sp>
        <p:nvSpPr>
          <p:cNvPr id="6" name="Rectangle 5"/>
          <p:cNvSpPr/>
          <p:nvPr/>
        </p:nvSpPr>
        <p:spPr>
          <a:xfrm>
            <a:off x="73152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rPr>
                <a:solidFill/>
              </a:rPr>
              <a:t>STEP 1</a:t>
            </a:r>
          </a:p>
          <a:p>
            <a:pPr>
              <a:spcAft>
                <a:spcPts val="1000"/>
              </a:spcAft>
              <a:defRPr sz="1800" b="1">
                <a:solidFill>
                  <a:srgbClr val="222222"/>
                </a:solidFill>
                <a:latin typeface="Cambria"/>
              </a:defRPr>
            </a:pPr>
            <a:r>
              <a:rPr>
                <a:solidFill/>
              </a:rPr>
              <a:t>Choose</a:t>
            </a:r>
          </a:p>
          <a:p>
            <a:pPr>
              <a:lnSpc>
                <a:spcPct val="120000"/>
              </a:lnSpc>
              <a:defRPr sz="1300">
                <a:solidFill>
                  <a:srgbClr val="222222"/>
                </a:solidFill>
                <a:latin typeface="Calibri"/>
              </a:defRPr>
            </a:pPr>
            <a:r>
              <a:rPr>
                <a:solidFill/>
              </a:rPr>
              <a:t>Learner searches by skill, selects a mentor, chooses duration (30-120 min) and date.</a:t>
            </a:r>
          </a:p>
        </p:txBody>
      </p:sp>
      <p:sp>
        <p:nvSpPr>
          <p:cNvPr id="8" name="Right Arrow 7"/>
          <p:cNvSpPr/>
          <p:nvPr/>
        </p:nvSpPr>
        <p:spPr>
          <a:xfrm>
            <a:off x="273405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92608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6324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rPr>
                <a:solidFill/>
              </a:rPr>
              <a:t>STEP 2</a:t>
            </a:r>
          </a:p>
          <a:p>
            <a:pPr>
              <a:spcAft>
                <a:spcPts val="1000"/>
              </a:spcAft>
              <a:defRPr sz="1800" b="1">
                <a:solidFill>
                  <a:srgbClr val="222222"/>
                </a:solidFill>
                <a:latin typeface="Cambria"/>
              </a:defRPr>
            </a:pPr>
            <a:r>
              <a:rPr>
                <a:solidFill/>
              </a:rPr>
              <a:t>Validate</a:t>
            </a:r>
          </a:p>
          <a:p>
            <a:pPr>
              <a:lnSpc>
                <a:spcPct val="120000"/>
              </a:lnSpc>
              <a:defRPr sz="1300">
                <a:solidFill>
                  <a:srgbClr val="222222"/>
                </a:solidFill>
                <a:latin typeface="Calibri"/>
              </a:defRPr>
            </a:pPr>
            <a:r>
              <a:rPr>
                <a:solidFill/>
              </a:rPr>
              <a:t>System checks mentor availability, prevents self-booking, and sets 4-hour reply timer.</a:t>
            </a:r>
          </a:p>
        </p:txBody>
      </p:sp>
      <p:sp>
        <p:nvSpPr>
          <p:cNvPr id="11" name="Right Arrow 10"/>
          <p:cNvSpPr/>
          <p:nvPr/>
        </p:nvSpPr>
        <p:spPr>
          <a:xfrm>
            <a:off x="492861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2064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5780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rPr>
                <a:solidFill/>
              </a:rPr>
              <a:t>STEP 3</a:t>
            </a:r>
          </a:p>
          <a:p>
            <a:pPr>
              <a:spcAft>
                <a:spcPts val="1000"/>
              </a:spcAft>
              <a:defRPr sz="1800" b="1">
                <a:solidFill>
                  <a:srgbClr val="222222"/>
                </a:solidFill>
                <a:latin typeface="Cambria"/>
              </a:defRPr>
            </a:pPr>
            <a:r>
              <a:rPr>
                <a:solidFill/>
              </a:rPr>
              <a:t>Respond</a:t>
            </a:r>
          </a:p>
          <a:p>
            <a:pPr>
              <a:lnSpc>
                <a:spcPct val="120000"/>
              </a:lnSpc>
              <a:defRPr sz="1300">
                <a:solidFill>
                  <a:srgbClr val="222222"/>
                </a:solidFill>
                <a:latin typeface="Calibri"/>
              </a:defRPr>
            </a:pPr>
            <a:r>
              <a:rPr>
                <a:solidFill/>
              </a:rPr>
              <a:t>Mentor reviews request to Accept, Decline, or Propose Alternate Slots.</a:t>
            </a:r>
          </a:p>
        </p:txBody>
      </p:sp>
      <p:sp>
        <p:nvSpPr>
          <p:cNvPr id="14" name="Right Arrow 13"/>
          <p:cNvSpPr/>
          <p:nvPr/>
        </p:nvSpPr>
        <p:spPr>
          <a:xfrm>
            <a:off x="712317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5236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rPr>
                <a:solidFill/>
              </a:rPr>
              <a:t>STEP 4</a:t>
            </a:r>
          </a:p>
          <a:p>
            <a:pPr>
              <a:spcAft>
                <a:spcPts val="1000"/>
              </a:spcAft>
              <a:defRPr sz="1800" b="1">
                <a:solidFill>
                  <a:srgbClr val="222222"/>
                </a:solidFill>
                <a:latin typeface="Cambria"/>
              </a:defRPr>
            </a:pPr>
            <a:r>
              <a:rPr>
                <a:solidFill/>
              </a:rPr>
              <a:t>Confirm</a:t>
            </a:r>
          </a:p>
          <a:p>
            <a:pPr>
              <a:lnSpc>
                <a:spcPct val="120000"/>
              </a:lnSpc>
              <a:defRPr sz="1300">
                <a:solidFill>
                  <a:srgbClr val="222222"/>
                </a:solidFill>
                <a:latin typeface="Calibri"/>
              </a:defRPr>
            </a:pPr>
            <a:r>
              <a:rPr>
                <a:solidFill/>
              </a:rPr>
              <a:t>Session is confirmed; mentor attaches meeting link; real-time chat unlocks.</a:t>
            </a:r>
          </a:p>
        </p:txBody>
      </p:sp>
      <p:sp>
        <p:nvSpPr>
          <p:cNvPr id="17" name="Right Arrow 16"/>
          <p:cNvSpPr/>
          <p:nvPr/>
        </p:nvSpPr>
        <p:spPr>
          <a:xfrm>
            <a:off x="9317736" y="2651760"/>
            <a:ext cx="164592" cy="228600"/>
          </a:xfrm>
          <a:prstGeom prst="rightArrow">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509760" y="1371600"/>
            <a:ext cx="1965960" cy="310896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46920" y="1554480"/>
            <a:ext cx="1691640" cy="2743200"/>
          </a:xfrm>
          <a:prstGeom prst="rect">
            <a:avLst/>
          </a:prstGeom>
          <a:noFill/>
        </p:spPr>
        <p:txBody>
          <a:bodyPr wrap="square" lIns="0" tIns="0" rIns="0" bIns="0">
            <a:spAutoFit/>
          </a:bodyPr>
          <a:lstStyle/>
          <a:p>
            <a:pPr>
              <a:spcAft>
                <a:spcPts val="200"/>
              </a:spcAft>
              <a:defRPr sz="1100" b="1">
                <a:solidFill>
                  <a:srgbClr val="176B4E"/>
                </a:solidFill>
                <a:latin typeface="Calibri"/>
              </a:defRPr>
            </a:pPr>
            <a:r>
              <a:rPr>
                <a:solidFill/>
              </a:rPr>
              <a:t>STEP 5</a:t>
            </a:r>
          </a:p>
          <a:p>
            <a:pPr>
              <a:spcAft>
                <a:spcPts val="1000"/>
              </a:spcAft>
              <a:defRPr sz="1800" b="1">
                <a:solidFill>
                  <a:srgbClr val="222222"/>
                </a:solidFill>
                <a:latin typeface="Cambria"/>
              </a:defRPr>
            </a:pPr>
            <a:r>
              <a:rPr>
                <a:solidFill/>
              </a:rPr>
              <a:t>Review</a:t>
            </a:r>
          </a:p>
          <a:p>
            <a:pPr>
              <a:lnSpc>
                <a:spcPct val="120000"/>
              </a:lnSpc>
              <a:defRPr sz="1300">
                <a:solidFill>
                  <a:srgbClr val="222222"/>
                </a:solidFill>
                <a:latin typeface="Calibri"/>
              </a:defRPr>
            </a:pPr>
            <a:r>
              <a:rPr>
                <a:solidFill/>
              </a:rPr>
              <a:t>Session takes place, status updates to completed, and learner submits rating and review.</a:t>
            </a:r>
          </a:p>
        </p:txBody>
      </p:sp>
      <p:sp>
        <p:nvSpPr>
          <p:cNvPr id="20" name="Rectangle 19"/>
          <p:cNvSpPr/>
          <p:nvPr/>
        </p:nvSpPr>
        <p:spPr>
          <a:xfrm>
            <a:off x="731520" y="4754880"/>
            <a:ext cx="10728655" cy="128016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892040"/>
            <a:ext cx="10362895" cy="1005840"/>
          </a:xfrm>
          <a:prstGeom prst="rect">
            <a:avLst/>
          </a:prstGeom>
          <a:noFill/>
        </p:spPr>
        <p:txBody>
          <a:bodyPr wrap="square">
            <a:spAutoFit/>
          </a:bodyPr>
          <a:lstStyle/>
          <a:p>
            <a:pPr>
              <a:spcAft>
                <a:spcPts val="400"/>
              </a:spcAft>
              <a:defRPr sz="1600" b="1">
                <a:solidFill>
                  <a:srgbClr val="176B4E"/>
                </a:solidFill>
                <a:latin typeface="Cambria"/>
              </a:defRPr>
            </a:pPr>
            <a:r>
              <a:rPr>
                <a:solidFill/>
              </a:rPr>
              <a:t>Status Tracking &amp; Built-in Action Rules</a:t>
            </a:r>
          </a:p>
          <a:p>
            <a:pPr>
              <a:defRPr sz="1300">
                <a:solidFill>
                  <a:srgbClr val="222222"/>
                </a:solidFill>
                <a:latin typeface="Calibri"/>
              </a:defRPr>
            </a:pPr>
            <a:r>
              <a:rPr>
                <a:solidFill/>
              </a:rPr>
              <a:t>• 4-Hour Response Window: Pending requests expire automatically after 4 hours to keep schedules open.</a:t>
            </a:r>
          </a:p>
          <a:p>
            <a:pPr>
              <a:defRPr sz="1300">
                <a:solidFill>
                  <a:srgbClr val="222222"/>
                </a:solidFill>
                <a:latin typeface="Calibri"/>
              </a:defRPr>
            </a:pPr>
            <a:r>
              <a:rPr>
                <a:solidFill/>
              </a:rPr>
              <a:t>• Alternate Slots &amp; Cancellation: Mentors can suggest up to 3 alternate times; sessions can be cancelled before start.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MODULE 4.1: AUTHENTICATION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Live Walkthrough: Registration &amp; Login</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8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rPr>
                <a:solidFill/>
              </a:rPr>
              <a:t>• Landing Page: Clean introduction presenting the platform to learners and mentors with clear navigation.</a:t>
            </a:r>
          </a:p>
          <a:p>
            <a:pPr>
              <a:spcAft>
                <a:spcPts val="300"/>
              </a:spcAft>
              <a:defRPr sz="1300">
                <a:solidFill>
                  <a:srgbClr val="222222"/>
                </a:solidFill>
                <a:latin typeface="Calibri"/>
              </a:defRPr>
            </a:pPr>
            <a:r>
              <a:rPr>
                <a:solidFill/>
              </a:rPr>
              <a:t>• Role-Based Registration: Users register as either 'Learner' or 'Mentor' with email and password validation.</a:t>
            </a:r>
          </a:p>
          <a:p>
            <a:pPr>
              <a:defRPr sz="1300">
                <a:solidFill>
                  <a:srgbClr val="222222"/>
                </a:solidFill>
                <a:latin typeface="Calibri"/>
              </a:defRPr>
            </a:pPr>
            <a:r>
              <a:rPr>
                <a:solidFill/>
              </a:rPr>
              <a:t>• Secure Login: Passwords hashed with bcrypt; backend issues a JWT token for protected, role-based routes.</a:t>
            </a:r>
          </a:p>
        </p:txBody>
      </p:sp>
      <p:pic>
        <p:nvPicPr>
          <p:cNvPr id="7" name="Picture 6" descr="01_home.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2a_login.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MODULE 4.2: PROFILES &amp; DISCOVERY</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Live Walkthrough: Mentor Discovery &amp; Profiles</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9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rPr>
                <a:solidFill/>
              </a:rPr>
              <a:t>• Skill-Based Search: Learners search and filter mentors in real time by name, category, or skill tags.</a:t>
            </a:r>
          </a:p>
          <a:p>
            <a:pPr>
              <a:spcAft>
                <a:spcPts val="300"/>
              </a:spcAft>
              <a:defRPr sz="1300">
                <a:solidFill>
                  <a:srgbClr val="222222"/>
                </a:solidFill>
                <a:latin typeface="Calibri"/>
              </a:defRPr>
            </a:pPr>
            <a:r>
              <a:rPr>
                <a:solidFill/>
              </a:rPr>
              <a:t>• Detailed Profiles: Displays mentor bio, skills to teach, skills to learn, and weekly availability hours.</a:t>
            </a:r>
          </a:p>
          <a:p>
            <a:pPr>
              <a:defRPr sz="1300">
                <a:solidFill>
                  <a:srgbClr val="222222"/>
                </a:solidFill>
                <a:latin typeface="Calibri"/>
              </a:defRPr>
            </a:pPr>
            <a:r>
              <a:rPr>
                <a:solidFill/>
              </a:rPr>
              <a:t>• Public Mentor View: Shows ratings, hourly rate, skill badges, and a direct 'Book Session' action button.</a:t>
            </a:r>
          </a:p>
        </p:txBody>
      </p:sp>
      <p:pic>
        <p:nvPicPr>
          <p:cNvPr id="7" name="Picture 6" descr="04_discover.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3b_other_user_profile.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MODULE 4.2: ROLE-BASED DASHBOARDS</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Live Walkthrough: Learner &amp; Mentor Dashboards</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10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rPr>
                <a:solidFill/>
              </a:rPr>
              <a:t>• Learner Dashboard: Displays active learning hours, completed sessions, connected mentors, and upcoming bookings.</a:t>
            </a:r>
          </a:p>
          <a:p>
            <a:pPr>
              <a:spcAft>
                <a:spcPts val="300"/>
              </a:spcAft>
              <a:defRPr sz="1300">
                <a:solidFill>
                  <a:srgbClr val="222222"/>
                </a:solidFill>
                <a:latin typeface="Calibri"/>
              </a:defRPr>
            </a:pPr>
            <a:r>
              <a:rPr>
                <a:solidFill/>
              </a:rPr>
              <a:t>• Mentor Teaching Studio: Shows pending session requests, student counts, and skill depth meters (Beginner-Expert).</a:t>
            </a:r>
          </a:p>
          <a:p>
            <a:pPr>
              <a:defRPr sz="1300">
                <a:solidFill>
                  <a:srgbClr val="222222"/>
                </a:solidFill>
                <a:latin typeface="Calibri"/>
              </a:defRPr>
            </a:pPr>
            <a:r>
              <a:rPr>
                <a:solidFill/>
              </a:rPr>
              <a:t>• Built-in Extras: Mentors can save payout UPI IDs, and users can test wallet balance (simulated top-up).</a:t>
            </a:r>
          </a:p>
        </p:txBody>
      </p:sp>
      <p:pic>
        <p:nvPicPr>
          <p:cNvPr id="7" name="Picture 6" descr="05_learner_dashboard.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6_mentor_dashboard.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MODULES 4.3 &amp; 4.4: BOOKING &amp; CHAT</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Live Walkthrough: Session Booking &amp; Real-Time Chat</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11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rPr>
                <a:solidFill/>
              </a:rPr>
              <a:t>• 3-Step Booking Modal: Pick session length (30-120 min), pick an open date, and choose an available time slot.</a:t>
            </a:r>
          </a:p>
          <a:p>
            <a:pPr>
              <a:spcAft>
                <a:spcPts val="300"/>
              </a:spcAft>
              <a:defRPr sz="1300">
                <a:solidFill>
                  <a:srgbClr val="222222"/>
                </a:solidFill>
                <a:latin typeface="Calibri"/>
              </a:defRPr>
            </a:pPr>
            <a:r>
              <a:rPr>
                <a:solidFill/>
              </a:rPr>
              <a:t>• Clear Pricing Summary: Displays duration, rate, and total calculation with 0% extra platform fee.</a:t>
            </a:r>
          </a:p>
          <a:p>
            <a:pPr>
              <a:defRPr sz="1300">
                <a:solidFill>
                  <a:srgbClr val="222222"/>
                </a:solidFill>
                <a:latin typeface="Calibri"/>
              </a:defRPr>
            </a:pPr>
            <a:r>
              <a:rPr>
                <a:solidFill/>
              </a:rPr>
              <a:t>• Real-Time Chat: Instant Socket.io chat with 5 free messages limit before booking to prevent spam.</a:t>
            </a:r>
          </a:p>
        </p:txBody>
      </p:sp>
      <p:pic>
        <p:nvPicPr>
          <p:cNvPr id="7" name="Picture 6" descr="07_booking_flow.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08_chat.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MODULE 4.5: RATINGS &amp; ADMIN</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Live Walkthrough: Admin Management &amp; Ratings</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12 of 15</a:t>
            </a:r>
          </a:p>
        </p:txBody>
      </p:sp>
      <p:sp>
        <p:nvSpPr>
          <p:cNvPr id="6" name="TextBox 5"/>
          <p:cNvSpPr txBox="1"/>
          <p:nvPr/>
        </p:nvSpPr>
        <p:spPr>
          <a:xfrm>
            <a:off x="731520" y="1051560"/>
            <a:ext cx="10728655" cy="1005840"/>
          </a:xfrm>
          <a:prstGeom prst="rect">
            <a:avLst/>
          </a:prstGeom>
          <a:noFill/>
        </p:spPr>
        <p:txBody>
          <a:bodyPr wrap="square">
            <a:spAutoFit/>
          </a:bodyPr>
          <a:lstStyle/>
          <a:p>
            <a:pPr>
              <a:spcAft>
                <a:spcPts val="300"/>
              </a:spcAft>
              <a:defRPr sz="1300">
                <a:solidFill>
                  <a:srgbClr val="222222"/>
                </a:solidFill>
                <a:latin typeface="Calibri"/>
              </a:defRPr>
            </a:pPr>
            <a:r>
              <a:rPr>
                <a:solidFill/>
              </a:rPr>
              <a:t>• Platform Statistics: Admin dashboard tracks total users (14), mentors (8), learners (5), and sessions (29).</a:t>
            </a:r>
          </a:p>
          <a:p>
            <a:pPr>
              <a:spcAft>
                <a:spcPts val="300"/>
              </a:spcAft>
              <a:defRPr sz="1300">
                <a:solidFill>
                  <a:srgbClr val="222222"/>
                </a:solidFill>
                <a:latin typeface="Calibri"/>
              </a:defRPr>
            </a:pPr>
            <a:r>
              <a:rPr>
                <a:solidFill/>
              </a:rPr>
              <a:t>• Member Management: Admin can view all registered members, verify profiles, change roles, or suspend users.</a:t>
            </a:r>
          </a:p>
          <a:p>
            <a:pPr>
              <a:defRPr sz="1300">
                <a:solidFill>
                  <a:srgbClr val="222222"/>
                </a:solidFill>
                <a:latin typeface="Calibri"/>
              </a:defRPr>
            </a:pPr>
            <a:r>
              <a:rPr>
                <a:solidFill/>
              </a:rPr>
              <a:t>• Trust &amp; Reports: Shows 1-5 star ratings and reviews from sessions; includes downloadable CSV report export.</a:t>
            </a:r>
          </a:p>
        </p:txBody>
      </p:sp>
      <p:pic>
        <p:nvPicPr>
          <p:cNvPr id="7" name="Picture 6" descr="10_admin_dashboard.png"/>
          <p:cNvPicPr>
            <a:picLocks noChangeAspect="1"/>
          </p:cNvPicPr>
          <p:nvPr/>
        </p:nvPicPr>
        <p:blipFill>
          <a:blip r:embed="rId2"/>
          <a:stretch>
            <a:fillRect/>
          </a:stretch>
        </p:blipFill>
        <p:spPr>
          <a:xfrm>
            <a:off x="731520" y="2240280"/>
            <a:ext cx="5212080" cy="3257550"/>
          </a:xfrm>
          <a:prstGeom prst="rect">
            <a:avLst/>
          </a:prstGeom>
          <a:ln w="12700">
            <a:solidFill>
              <a:srgbClr val="C5D0C9"/>
            </a:solidFill>
          </a:ln>
        </p:spPr>
      </p:pic>
      <p:pic>
        <p:nvPicPr>
          <p:cNvPr id="8" name="Picture 7" descr="10b_admin_members.png"/>
          <p:cNvPicPr>
            <a:picLocks noChangeAspect="1"/>
          </p:cNvPicPr>
          <p:nvPr/>
        </p:nvPicPr>
        <p:blipFill>
          <a:blip r:embed="rId3"/>
          <a:stretch>
            <a:fillRect/>
          </a:stretch>
        </p:blipFill>
        <p:spPr>
          <a:xfrm>
            <a:off x="6248095" y="2240280"/>
            <a:ext cx="5212080" cy="3257550"/>
          </a:xfrm>
          <a:prstGeom prst="rect">
            <a:avLst/>
          </a:prstGeom>
          <a:ln w="12700">
            <a:solidFill>
              <a:srgbClr val="C5D0C9"/>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TECHNICAL CHALLENGE</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A Problem We Faced: Dark Theme Bug</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13 of 15</a:t>
            </a:r>
          </a:p>
        </p:txBody>
      </p:sp>
      <p:sp>
        <p:nvSpPr>
          <p:cNvPr id="6" name="Rectangle 5"/>
          <p:cNvSpPr/>
          <p:nvPr/>
        </p:nvSpPr>
        <p:spPr>
          <a:xfrm>
            <a:off x="731520" y="1234440"/>
            <a:ext cx="5212080" cy="4892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846320" cy="4480560"/>
          </a:xfrm>
          <a:prstGeom prst="rect">
            <a:avLst/>
          </a:prstGeom>
          <a:noFill/>
        </p:spPr>
        <p:txBody>
          <a:bodyPr wrap="square">
            <a:spAutoFit/>
          </a:bodyPr>
          <a:lstStyle/>
          <a:p>
            <a:pPr>
              <a:spcAft>
                <a:spcPts val="400"/>
              </a:spcAft>
              <a:defRPr sz="1800" b="1">
                <a:solidFill>
                  <a:srgbClr val="176B4E"/>
                </a:solidFill>
                <a:latin typeface="Cambria"/>
              </a:defRPr>
            </a:pPr>
            <a:r>
              <a:rPr>
                <a:solidFill/>
              </a:rPr>
              <a:t>The Problem</a:t>
            </a:r>
          </a:p>
          <a:p>
            <a:pPr>
              <a:spcAft>
                <a:spcPts val="1400"/>
              </a:spcAft>
              <a:defRPr sz="1300">
                <a:solidFill>
                  <a:srgbClr val="222222"/>
                </a:solidFill>
                <a:latin typeface="Calibri"/>
              </a:defRPr>
            </a:pPr>
            <a:r>
              <a:rPr>
                <a:solidFill/>
              </a:rPr>
              <a:t>When we first added dark mode, public pages worked well, but the Admin sidebar and tables broke with washed-out white boxes and unreadable text.</a:t>
            </a:r>
          </a:p>
          <a:p>
            <a:pPr>
              <a:spcAft>
                <a:spcPts val="400"/>
              </a:spcAft>
              <a:defRPr sz="1800" b="1">
                <a:solidFill>
                  <a:srgbClr val="176B4E"/>
                </a:solidFill>
                <a:latin typeface="Cambria"/>
              </a:defRPr>
            </a:pPr>
            <a:r>
              <a:rPr>
                <a:solidFill/>
              </a:rPr>
              <a:t>Why it happened</a:t>
            </a:r>
          </a:p>
          <a:p>
            <a:pPr>
              <a:spcAft>
                <a:spcPts val="1400"/>
              </a:spcAft>
              <a:defRPr sz="1300">
                <a:solidFill>
                  <a:srgbClr val="222222"/>
                </a:solidFill>
                <a:latin typeface="Calibri"/>
              </a:defRPr>
            </a:pPr>
            <a:r>
              <a:rPr>
                <a:solidFill/>
              </a:rPr>
              <a:t>Global CSS rules in index.css conflicted with admin styling variables, overriding dark slate colors with inverted white backgrounds.</a:t>
            </a:r>
          </a:p>
          <a:p>
            <a:pPr>
              <a:spcAft>
                <a:spcPts val="400"/>
              </a:spcAft>
              <a:defRPr sz="1800" b="1">
                <a:solidFill>
                  <a:srgbClr val="176B4E"/>
                </a:solidFill>
                <a:latin typeface="Cambria"/>
              </a:defRPr>
            </a:pPr>
            <a:r>
              <a:rPr>
                <a:solidFill/>
              </a:rPr>
              <a:t>How we fixed it</a:t>
            </a:r>
          </a:p>
          <a:p>
            <a:pPr>
              <a:defRPr sz="1300">
                <a:solidFill>
                  <a:srgbClr val="222222"/>
                </a:solidFill>
                <a:latin typeface="Calibri"/>
              </a:defRPr>
            </a:pPr>
            <a:r>
              <a:rPr>
                <a:solidFill/>
              </a:rPr>
              <a:t>We properly scoped admin styles under html[data-theme='dark'] .admin-page and .admin-sidebar in admin.css, ensuring clear contrast.</a:t>
            </a:r>
          </a:p>
        </p:txBody>
      </p:sp>
      <p:sp>
        <p:nvSpPr>
          <p:cNvPr id="8" name="Rectangle 7"/>
          <p:cNvSpPr/>
          <p:nvPr/>
        </p:nvSpPr>
        <p:spPr>
          <a:xfrm>
            <a:off x="6248095" y="1234440"/>
            <a:ext cx="5212080" cy="4892040"/>
          </a:xfrm>
          <a:prstGeom prst="rect">
            <a:avLst/>
          </a:prstGeom>
          <a:solidFill>
            <a:srgbClr val="1E2422"/>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417320"/>
            <a:ext cx="4846320" cy="4480560"/>
          </a:xfrm>
          <a:prstGeom prst="rect">
            <a:avLst/>
          </a:prstGeom>
          <a:noFill/>
        </p:spPr>
        <p:txBody>
          <a:bodyPr wrap="square">
            <a:spAutoFit/>
          </a:bodyPr>
          <a:lstStyle/>
          <a:p>
            <a:pPr>
              <a:spcAft>
                <a:spcPts val="800"/>
              </a:spcAft>
              <a:defRPr sz="1100">
                <a:solidFill>
                  <a:srgbClr val="666666"/>
                </a:solidFill>
                <a:latin typeface="Consolas"/>
              </a:defRPr>
            </a:pPr>
            <a:r>
              <a:t>/* client/src/Pages/Admin Page/admin.css */</a:t>
            </a:r>
          </a:p>
          <a:p>
            <a:pPr>
              <a:spcAft>
                <a:spcPts val="200"/>
              </a:spcAft>
              <a:defRPr sz="1100">
                <a:solidFill>
                  <a:srgbClr val="666666"/>
                </a:solidFill>
                <a:latin typeface="Consolas"/>
              </a:defRPr>
            </a:pPr>
            <a:r>
              <a:rPr>
                <a:solidFill/>
              </a:rPr>
              <a:t>/* Keeps the dark green sidebar */</a:t>
            </a:r>
          </a:p>
          <a:p>
            <a:pPr>
              <a:spcAft>
                <a:spcPts val="200"/>
              </a:spcAft>
              <a:defRPr sz="1100">
                <a:solidFill>
                  <a:srgbClr val="FFFFFF"/>
                </a:solidFill>
                <a:latin typeface="Consolas"/>
              </a:defRPr>
            </a:pPr>
            <a:r>
              <a:t>html[data-theme="dark"] .admin-sidebar,</a:t>
            </a:r>
          </a:p>
          <a:p>
            <a:pPr>
              <a:spcAft>
                <a:spcPts val="200"/>
              </a:spcAft>
              <a:defRPr sz="1100">
                <a:solidFill>
                  <a:srgbClr val="FFFFFF"/>
                </a:solidFill>
                <a:latin typeface="Consolas"/>
              </a:defRPr>
            </a:pPr>
            <a:r>
              <a:t>html.dark .admin-sidebar {</a:t>
            </a:r>
          </a:p>
          <a:p>
            <a:pPr>
              <a:spcAft>
                <a:spcPts val="200"/>
              </a:spcAft>
              <a:defRPr sz="1100">
                <a:solidFill>
                  <a:srgbClr val="7ED4AD"/>
                </a:solidFill>
                <a:latin typeface="Consolas"/>
              </a:defRPr>
            </a:pPr>
            <a:r>
              <a:t>    background-color: #091712 !important;</a:t>
            </a:r>
          </a:p>
          <a:p>
            <a:pPr>
              <a:spcAft>
                <a:spcPts val="200"/>
              </a:spcAft>
              <a:defRPr sz="1100">
                <a:solidFill>
                  <a:srgbClr val="FFFFFF"/>
                </a:solidFill>
                <a:latin typeface="Consolas"/>
              </a:defRPr>
            </a:pPr>
            <a:r>
              <a:t>    border-right: 1px solid #1e3a2f;</a:t>
            </a:r>
          </a:p>
          <a:p>
            <a:pPr>
              <a:spcAft>
                <a:spcPts val="200"/>
              </a:spcAft>
              <a:defRPr sz="1100">
                <a:solidFill>
                  <a:srgbClr val="FFFFFF"/>
                </a:solidFill>
                <a:latin typeface="Consolas"/>
              </a:defRPr>
            </a:pPr>
            <a:r>
              <a:t>}</a:t>
            </a:r>
          </a:p>
          <a:p>
            <a:pPr>
              <a:spcAft>
                <a:spcPts val="200"/>
              </a:spcAft>
              <a:defRPr sz="1100">
                <a:solidFill>
                  <a:srgbClr val="FFFFFF"/>
                </a:solidFill>
                <a:latin typeface="Consolas"/>
              </a:defRPr>
            </a:pPr>
          </a:p>
          <a:p>
            <a:pPr>
              <a:spcAft>
                <a:spcPts val="200"/>
              </a:spcAft>
              <a:defRPr sz="1100">
                <a:solidFill>
                  <a:srgbClr val="666666"/>
                </a:solidFill>
                <a:latin typeface="Consolas"/>
              </a:defRPr>
            </a:pPr>
            <a:r>
              <a:rPr>
                <a:solidFill/>
              </a:rPr>
              <a:t>/* Scoped admin page background &amp; text */</a:t>
            </a:r>
          </a:p>
          <a:p>
            <a:pPr>
              <a:spcAft>
                <a:spcPts val="200"/>
              </a:spcAft>
              <a:defRPr sz="1100">
                <a:solidFill>
                  <a:srgbClr val="FFFFFF"/>
                </a:solidFill>
                <a:latin typeface="Consolas"/>
              </a:defRPr>
            </a:pPr>
            <a:r>
              <a:t>html[data-theme="dark"] .admin-page {</a:t>
            </a:r>
          </a:p>
          <a:p>
            <a:pPr>
              <a:spcAft>
                <a:spcPts val="200"/>
              </a:spcAft>
              <a:defRPr sz="1100">
                <a:solidFill>
                  <a:srgbClr val="7ED4AD"/>
                </a:solidFill>
                <a:latin typeface="Consolas"/>
              </a:defRPr>
            </a:pPr>
            <a:r>
              <a:t>    background-color: #0d1f18;</a:t>
            </a:r>
          </a:p>
          <a:p>
            <a:pPr>
              <a:spcAft>
                <a:spcPts val="200"/>
              </a:spcAft>
              <a:defRPr sz="1100">
                <a:solidFill>
                  <a:srgbClr val="7ED4AD"/>
                </a:solidFill>
                <a:latin typeface="Consolas"/>
              </a:defRPr>
            </a:pPr>
            <a:r>
              <a:t>    color: #e2f0ea;</a:t>
            </a:r>
          </a:p>
          <a:p>
            <a:pPr>
              <a:spcAft>
                <a:spcPts val="200"/>
              </a:spcAft>
              <a:defRPr sz="1100">
                <a:solidFill>
                  <a:srgbClr val="FFFFFF"/>
                </a:solidFill>
                <a:latin typeface="Consolas"/>
              </a:defRPr>
            </a:pPr>
            <a:r>
              <a:t>}</a:t>
            </a:r>
          </a:p>
          <a:p>
            <a:pPr>
              <a:spcAft>
                <a:spcPts val="200"/>
              </a:spcAft>
              <a:defRPr sz="1100">
                <a:solidFill>
                  <a:srgbClr val="FFFFFF"/>
                </a:solidFill>
                <a:latin typeface="Consolas"/>
              </a:defRPr>
            </a:pPr>
          </a:p>
          <a:p>
            <a:pPr>
              <a:spcAft>
                <a:spcPts val="200"/>
              </a:spcAft>
              <a:defRPr sz="1100">
                <a:solidFill>
                  <a:srgbClr val="FFFFFF"/>
                </a:solidFill>
                <a:latin typeface="Consolas"/>
              </a:defRPr>
            </a:pPr>
            <a:r>
              <a:t>html[data-theme="dark"] .admin-workspace {</a:t>
            </a:r>
          </a:p>
          <a:p>
            <a:pPr>
              <a:spcAft>
                <a:spcPts val="200"/>
              </a:spcAft>
              <a:defRPr sz="1100">
                <a:solidFill>
                  <a:srgbClr val="7ED4AD"/>
                </a:solidFill>
                <a:latin typeface="Consolas"/>
              </a:defRPr>
            </a:pPr>
            <a:r>
              <a:t>    background-color: #0d1f18 !important;</a:t>
            </a:r>
          </a:p>
          <a:p>
            <a:pPr>
              <a:spcAft>
                <a:spcPts val="200"/>
              </a:spcAft>
              <a:defRPr sz="1100">
                <a:solidFill>
                  <a:srgbClr val="FFFFFF"/>
                </a:solidFill>
                <a:latin typeface="Consolas"/>
              </a:defRPr>
            </a:pPr>
            <a: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20040"/>
            <a:ext cx="10698480" cy="274320"/>
          </a:xfrm>
          <a:prstGeom prst="rect">
            <a:avLst/>
          </a:prstGeom>
          <a:noFill/>
        </p:spPr>
        <p:txBody>
          <a:bodyPr wrap="square" lIns="0" tIns="0" rIns="0" bIns="0">
            <a:spAutoFit/>
          </a:bodyPr>
          <a:lstStyle/>
          <a:p>
            <a:pPr>
              <a:defRPr sz="1000" b="1">
                <a:solidFill>
                  <a:srgbClr val="176B4E"/>
                </a:solidFill>
                <a:latin typeface="Calibri"/>
              </a:defRPr>
            </a:pPr>
            <a:r>
              <a:rPr>
                <a:solidFill/>
              </a:rPr>
              <a:t>SUMMARY &amp; NEXT STEPS</a:t>
            </a:r>
          </a:p>
        </p:txBody>
      </p:sp>
      <p:sp>
        <p:nvSpPr>
          <p:cNvPr id="3" name="TextBox 2"/>
          <p:cNvSpPr txBox="1"/>
          <p:nvPr/>
        </p:nvSpPr>
        <p:spPr>
          <a:xfrm>
            <a:off x="731520" y="594360"/>
            <a:ext cx="10698480" cy="548640"/>
          </a:xfrm>
          <a:prstGeom prst="rect">
            <a:avLst/>
          </a:prstGeom>
          <a:noFill/>
        </p:spPr>
        <p:txBody>
          <a:bodyPr wrap="square" lIns="0" tIns="0" rIns="0" bIns="0">
            <a:spAutoFit/>
          </a:bodyPr>
          <a:lstStyle/>
          <a:p>
            <a:pPr>
              <a:defRPr sz="2600" b="1">
                <a:solidFill>
                  <a:srgbClr val="176B4E"/>
                </a:solidFill>
                <a:latin typeface="Cambria"/>
              </a:defRPr>
            </a:pPr>
            <a:r>
              <a:rPr>
                <a:solidFill/>
              </a:rPr>
              <a:t>Project Conclusion &amp; Future Scope</a:t>
            </a:r>
          </a:p>
        </p:txBody>
      </p:sp>
      <p:sp>
        <p:nvSpPr>
          <p:cNvPr id="4" name="TextBox 3"/>
          <p:cNvSpPr txBox="1"/>
          <p:nvPr/>
        </p:nvSpPr>
        <p:spPr>
          <a:xfrm>
            <a:off x="731520" y="6446520"/>
            <a:ext cx="5486400" cy="274320"/>
          </a:xfrm>
          <a:prstGeom prst="rect">
            <a:avLst/>
          </a:prstGeom>
          <a:noFill/>
        </p:spPr>
        <p:txBody>
          <a:bodyPr wrap="none" lIns="0" tIns="0" rIns="0" bIns="0">
            <a:spAutoFit/>
          </a:bodyPr>
          <a:lstStyle/>
          <a:p>
            <a:pPr>
              <a:defRPr sz="1000">
                <a:solidFill>
                  <a:srgbClr val="666666"/>
                </a:solidFill>
                <a:latin typeface="Calibri"/>
              </a:defRPr>
            </a:pPr>
            <a:r>
              <a:t>Skill Exchange · Capstone Project</a:t>
            </a:r>
          </a:p>
        </p:txBody>
      </p:sp>
      <p:sp>
        <p:nvSpPr>
          <p:cNvPr id="5" name="TextBox 4"/>
          <p:cNvSpPr txBox="1"/>
          <p:nvPr/>
        </p:nvSpPr>
        <p:spPr>
          <a:xfrm>
            <a:off x="6858000" y="6446520"/>
            <a:ext cx="4602175" cy="274320"/>
          </a:xfrm>
          <a:prstGeom prst="rect">
            <a:avLst/>
          </a:prstGeom>
          <a:noFill/>
        </p:spPr>
        <p:txBody>
          <a:bodyPr wrap="none" lIns="0" tIns="0" rIns="0" bIns="0">
            <a:spAutoFit/>
          </a:bodyPr>
          <a:lstStyle/>
          <a:p>
            <a:pPr algn="r">
              <a:defRPr sz="1000">
                <a:solidFill>
                  <a:srgbClr val="666666"/>
                </a:solidFill>
                <a:latin typeface="Calibri"/>
              </a:defRPr>
            </a:pPr>
            <a:r>
              <a:t>Slide 14 of 15</a:t>
            </a:r>
          </a:p>
        </p:txBody>
      </p:sp>
      <p:sp>
        <p:nvSpPr>
          <p:cNvPr id="6" name="Rectangle 5"/>
          <p:cNvSpPr/>
          <p:nvPr/>
        </p:nvSpPr>
        <p:spPr>
          <a:xfrm>
            <a:off x="731520" y="1234440"/>
            <a:ext cx="5212080" cy="4892040"/>
          </a:xfrm>
          <a:prstGeom prst="rect">
            <a:avLst/>
          </a:prstGeom>
          <a:solidFill>
            <a:srgbClr val="F8FBF9"/>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17320"/>
            <a:ext cx="4846320" cy="4480560"/>
          </a:xfrm>
          <a:prstGeom prst="rect">
            <a:avLst/>
          </a:prstGeom>
          <a:noFill/>
        </p:spPr>
        <p:txBody>
          <a:bodyPr wrap="square">
            <a:spAutoFit/>
          </a:bodyPr>
          <a:lstStyle/>
          <a:p>
            <a:pPr>
              <a:spcAft>
                <a:spcPts val="1400"/>
              </a:spcAft>
              <a:defRPr sz="2000" b="1">
                <a:solidFill>
                  <a:srgbClr val="176B4E"/>
                </a:solidFill>
                <a:latin typeface="Cambria"/>
              </a:defRPr>
            </a:pPr>
            <a:r>
              <a:rPr>
                <a:solidFill/>
              </a:rPr>
              <a:t>Project Conclusion</a:t>
            </a:r>
          </a:p>
          <a:p>
            <a:pPr>
              <a:spcAft>
                <a:spcPts val="1000"/>
              </a:spcAft>
              <a:defRPr sz="1300">
                <a:solidFill>
                  <a:srgbClr val="222222"/>
                </a:solidFill>
                <a:latin typeface="Calibri"/>
              </a:defRPr>
            </a:pPr>
            <a:r>
              <a:rPr>
                <a:solidFill/>
              </a:rPr>
              <a:t>• Complete MERN Platform: Built a full-stack web application connecting mentors and learners for skill-based peer learning.</a:t>
            </a:r>
          </a:p>
          <a:p>
            <a:pPr>
              <a:spcAft>
                <a:spcPts val="1000"/>
              </a:spcAft>
              <a:defRPr sz="1300">
                <a:solidFill>
                  <a:srgbClr val="222222"/>
                </a:solidFill>
                <a:latin typeface="Calibri"/>
              </a:defRPr>
            </a:pPr>
            <a:r>
              <a:rPr>
                <a:solidFill/>
              </a:rPr>
              <a:t>• Synopsis Scope Achieved: Delivered 14 frontend pages (planned 10-15), 59 REST APIs (planned 15-20), and 8 collections (planned 6-8).</a:t>
            </a:r>
          </a:p>
          <a:p>
            <a:pPr>
              <a:spcAft>
                <a:spcPts val="1000"/>
              </a:spcAft>
              <a:defRPr sz="1300">
                <a:solidFill>
                  <a:srgbClr val="222222"/>
                </a:solidFill>
                <a:latin typeface="Calibri"/>
              </a:defRPr>
            </a:pPr>
            <a:r>
              <a:rPr>
                <a:solidFill/>
              </a:rPr>
              <a:t>• Secure &amp; Responsive: Built with JWT authentication, role-based access (RBAC), input validation, and responsive mobile-ready UI.</a:t>
            </a:r>
          </a:p>
          <a:p>
            <a:pPr>
              <a:spcAft>
                <a:spcPts val="1000"/>
              </a:spcAft>
              <a:defRPr sz="1300">
                <a:solidFill>
                  <a:srgbClr val="222222"/>
                </a:solidFill>
                <a:latin typeface="Calibri"/>
              </a:defRPr>
            </a:pPr>
            <a:r>
              <a:rPr>
                <a:solidFill/>
              </a:rPr>
              <a:t>• Interactive Booking &amp; Chat: Implemented 5-step booking with status tracking, 4-hour reply window, and Socket.io real-time chat.</a:t>
            </a:r>
          </a:p>
          <a:p>
            <a:pPr>
              <a:spcAft>
                <a:spcPts val="1000"/>
              </a:spcAft>
              <a:defRPr sz="1300">
                <a:solidFill>
                  <a:srgbClr val="222222"/>
                </a:solidFill>
                <a:latin typeface="Calibri"/>
              </a:defRPr>
            </a:pPr>
            <a:r>
              <a:rPr>
                <a:solidFill/>
              </a:rPr>
              <a:t>• Trust &amp; Moderation: Added 1-5 star ratings with written reviews, and an admin dashboard for user and session management.</a:t>
            </a:r>
          </a:p>
        </p:txBody>
      </p:sp>
      <p:sp>
        <p:nvSpPr>
          <p:cNvPr id="8" name="Rectangle 7"/>
          <p:cNvSpPr/>
          <p:nvPr/>
        </p:nvSpPr>
        <p:spPr>
          <a:xfrm>
            <a:off x="6248095" y="1234440"/>
            <a:ext cx="5212080" cy="4892040"/>
          </a:xfrm>
          <a:prstGeom prst="rect">
            <a:avLst/>
          </a:prstGeom>
          <a:solidFill>
            <a:srgbClr val="F2F7F4"/>
          </a:solidFill>
          <a:ln w="12700">
            <a:solidFill>
              <a:srgbClr val="C5D0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417320"/>
            <a:ext cx="4846320" cy="4480560"/>
          </a:xfrm>
          <a:prstGeom prst="rect">
            <a:avLst/>
          </a:prstGeom>
          <a:noFill/>
        </p:spPr>
        <p:txBody>
          <a:bodyPr wrap="square">
            <a:spAutoFit/>
          </a:bodyPr>
          <a:lstStyle/>
          <a:p>
            <a:pPr>
              <a:spcAft>
                <a:spcPts val="1400"/>
              </a:spcAft>
              <a:defRPr sz="2000" b="1">
                <a:solidFill>
                  <a:srgbClr val="176B4E"/>
                </a:solidFill>
                <a:latin typeface="Cambria"/>
              </a:defRPr>
            </a:pPr>
            <a:r>
              <a:rPr>
                <a:solidFill/>
              </a:rPr>
              <a:t>Future Enhancements (from Synopsis)</a:t>
            </a:r>
          </a:p>
          <a:p>
            <a:pPr>
              <a:spcAft>
                <a:spcPts val="200"/>
              </a:spcAft>
              <a:defRPr sz="1400" b="1">
                <a:solidFill>
                  <a:srgbClr val="176B4E"/>
                </a:solidFill>
                <a:latin typeface="Calibri"/>
              </a:defRPr>
            </a:pPr>
            <a:r>
              <a:rPr>
                <a:solidFill/>
              </a:rPr>
              <a:t>• AI-Based Mentor Recommendations:</a:t>
            </a:r>
          </a:p>
          <a:p>
            <a:pPr>
              <a:spcAft>
                <a:spcPts val="800"/>
              </a:spcAft>
              <a:defRPr sz="1200">
                <a:solidFill>
                  <a:srgbClr val="222222"/>
                </a:solidFill>
                <a:latin typeface="Calibri"/>
              </a:defRPr>
            </a:pPr>
            <a:r>
              <a:rPr>
                <a:solidFill/>
              </a:rPr>
              <a:t>Use machine learning to analyze user skills and suggest the best matching mentors automatically.</a:t>
            </a:r>
          </a:p>
          <a:p>
            <a:pPr>
              <a:spcAft>
                <a:spcPts val="200"/>
              </a:spcAft>
              <a:defRPr sz="1400" b="1">
                <a:solidFill>
                  <a:srgbClr val="176B4E"/>
                </a:solidFill>
                <a:latin typeface="Calibri"/>
              </a:defRPr>
            </a:pPr>
            <a:r>
              <a:rPr>
                <a:solidFill/>
              </a:rPr>
              <a:t>• In-App Video Call Integration:</a:t>
            </a:r>
          </a:p>
          <a:p>
            <a:pPr>
              <a:spcAft>
                <a:spcPts val="800"/>
              </a:spcAft>
              <a:defRPr sz="1200">
                <a:solidFill>
                  <a:srgbClr val="222222"/>
                </a:solidFill>
                <a:latin typeface="Calibri"/>
              </a:defRPr>
            </a:pPr>
            <a:r>
              <a:rPr>
                <a:solidFill/>
              </a:rPr>
              <a:t>Embed live video and audio streaming directly inside the session room using WebRTC.</a:t>
            </a:r>
          </a:p>
          <a:p>
            <a:pPr>
              <a:spcAft>
                <a:spcPts val="200"/>
              </a:spcAft>
              <a:defRPr sz="1400" b="1">
                <a:solidFill>
                  <a:srgbClr val="176B4E"/>
                </a:solidFill>
                <a:latin typeface="Calibri"/>
              </a:defRPr>
            </a:pPr>
            <a:r>
              <a:rPr>
                <a:solidFill/>
              </a:rPr>
              <a:t>• Skill Certification Badges:</a:t>
            </a:r>
          </a:p>
          <a:p>
            <a:pPr>
              <a:spcAft>
                <a:spcPts val="800"/>
              </a:spcAft>
              <a:defRPr sz="1200">
                <a:solidFill>
                  <a:srgbClr val="222222"/>
                </a:solidFill>
                <a:latin typeface="Calibri"/>
              </a:defRPr>
            </a:pPr>
            <a:r>
              <a:rPr>
                <a:solidFill/>
              </a:rPr>
              <a:t>Award verifiable completion badges after successful sessions to validate learned skills.</a:t>
            </a:r>
          </a:p>
          <a:p>
            <a:pPr>
              <a:spcAft>
                <a:spcPts val="200"/>
              </a:spcAft>
              <a:defRPr sz="1400" b="1">
                <a:solidFill>
                  <a:srgbClr val="176B4E"/>
                </a:solidFill>
                <a:latin typeface="Calibri"/>
              </a:defRPr>
            </a:pPr>
            <a:r>
              <a:rPr>
                <a:solidFill/>
              </a:rPr>
              <a:t>• Gamified Learning Paths:</a:t>
            </a:r>
          </a:p>
          <a:p>
            <a:pPr>
              <a:spcAft>
                <a:spcPts val="800"/>
              </a:spcAft>
              <a:defRPr sz="1200">
                <a:solidFill>
                  <a:srgbClr val="222222"/>
                </a:solidFill>
                <a:latin typeface="Calibri"/>
              </a:defRPr>
            </a:pPr>
            <a:r>
              <a:rPr>
                <a:solidFill/>
              </a:rPr>
              <a:t>Create milestone roadmaps, achievement points, and progress bars to keep learners motivated.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white.png"/>
          <p:cNvPicPr>
            <a:picLocks noChangeAspect="1"/>
          </p:cNvPicPr>
          <p:nvPr/>
        </p:nvPicPr>
        <p:blipFill>
          <a:blip r:embed="rId2"/>
          <a:stretch>
            <a:fillRect/>
          </a:stretch>
        </p:blipFill>
        <p:spPr>
          <a:xfrm>
            <a:off x="10241280" y="731520"/>
            <a:ext cx="1097280" cy="1097280"/>
          </a:xfrm>
          <a:prstGeom prst="rect">
            <a:avLst/>
          </a:prstGeom>
        </p:spPr>
      </p:pic>
      <p:sp>
        <p:nvSpPr>
          <p:cNvPr id="4" name="TextBox 3"/>
          <p:cNvSpPr txBox="1"/>
          <p:nvPr/>
        </p:nvSpPr>
        <p:spPr>
          <a:xfrm>
            <a:off x="914400" y="1463040"/>
            <a:ext cx="9144000" cy="4389120"/>
          </a:xfrm>
          <a:prstGeom prst="rect">
            <a:avLst/>
          </a:prstGeom>
          <a:noFill/>
        </p:spPr>
        <p:txBody>
          <a:bodyPr wrap="square">
            <a:spAutoFit/>
          </a:bodyPr>
          <a:lstStyle/>
          <a:p>
            <a:pPr>
              <a:spcAft>
                <a:spcPts val="1000"/>
              </a:spcAft>
              <a:defRPr sz="4800" b="1">
                <a:solidFill>
                  <a:srgbClr val="FFFFFF"/>
                </a:solidFill>
                <a:latin typeface="Cambria"/>
              </a:defRPr>
            </a:pPr>
            <a:r>
              <a:t>Thank You!</a:t>
            </a:r>
          </a:p>
          <a:p>
            <a:pPr>
              <a:spcAft>
                <a:spcPts val="3600"/>
              </a:spcAft>
              <a:defRPr sz="2200">
                <a:solidFill>
                  <a:srgbClr val="DFF0E8"/>
                </a:solidFill>
                <a:latin typeface="Calibri"/>
              </a:defRPr>
            </a:pPr>
            <a:r>
              <a:t>Questions &amp; Discussion Welcome</a:t>
            </a:r>
          </a:p>
          <a:p>
            <a:pPr>
              <a:spcAft>
                <a:spcPts val="1200"/>
              </a:spcAft>
              <a:defRPr sz="1800">
                <a:solidFill>
                  <a:srgbClr val="FFFFFF"/>
                </a:solidFill>
                <a:latin typeface="Calibri"/>
              </a:defRPr>
            </a:pPr>
            <a:r>
              <a:t>Project Repository: github.com/CosmicCoder06/Skill-Exchange</a:t>
            </a:r>
          </a:p>
          <a:p>
            <a:pPr>
              <a:spcAft>
                <a:spcPts val="2400"/>
              </a:spcAft>
              <a:defRPr sz="1800">
                <a:solidFill>
                  <a:srgbClr val="FFFFFF"/>
                </a:solidFill>
                <a:latin typeface="Calibri"/>
              </a:defRPr>
            </a:pPr>
            <a:r>
              <a:t>Live Web Deployment: https://skill-exchange-one-eta.vercel.app/</a:t>
            </a:r>
          </a:p>
          <a:p>
            <a:pPr>
              <a:defRPr sz="1400">
                <a:solidFill>
                  <a:srgbClr val="CDE5DC"/>
                </a:solidFill>
                <a:latin typeface="Calibri"/>
              </a:defRPr>
            </a:pPr>
            <a:r>
              <a:rPr>
                <a:solidFill/>
              </a:rPr>
              <a:t>Built by Team CosmicCoders (Group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