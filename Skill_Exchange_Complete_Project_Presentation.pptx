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professors and project evaluators. Today, Team CosmicCoder Group 13 presents our B.Tech CSE Capstone Project titled 'Skill Exchange'. This is a scalable full-stack MERN web application connecting student mentors and learners for skill-based peer education.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this slide, we present our problem statement and project rationale. In collegiate settings, learners struggle to find qualified mentors, while mentors have no organized tools to schedule sessions or share skills. Informal coordination over WhatsApp leads to ghosting and confusion. Skill Exchange solves this with a centralized, structured web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outline our core objectives across three distinct pillars: the Mentor Module, the Learner Module, and the Security &amp; Admin Pillar. All six specific objectives approved in our synopsis are addressed, including skill listing, interactive booking, real-time chat, role-based authentication, and verified reviews.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our complete 3-tier enterprise architecture. On the left is our React 19 frontend communicating via REST APIs and WebSockets. In the center, our Express server enforces JWT authentication, RBAC rules, and booking lifecycles. On the right, MongoDB Atlas persists all data across 8 collections, interfacing with Razorpay and Google Meet.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complete technology stack. We chose the modern MERN stack with React 19, Express, Node.js, and MongoDB Atlas. For real-time messaging, we use Socket.io. For security, we use Bcrypt and JWT. External integrations include Razorpay for payments, Google Gemini for mentor matching, and Playwright for tests.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covers our Authentication &amp; Authorization Module. We provide dual registration for learners and mentors. Passwords are securely hashed with 10-round Bcrypt before database storage. On login, a stateless JWT token is generated to enforce role-based access control across all protected routes.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Learner Profile Module. Students can specify what skills they want to learn, set up their bio, and monitor their profile completion percentage. These saved learning goals are directly utilized by our matching algorithms to recommend relevant mentors.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Mentor Profile Module. Mentors can list the technologies they teach along with depth ratings, configure their hourly rate, and define open weekly time slots. Learners can view this public profile, read verified community reviews, and initiate a session booking.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showcases our Discover &amp; Search Module. Learners can find mentors through live search, filter by domain tags like React or Python, and toggle between mentors and peers. Mentor cards display pricing and star ratings, with direct buttons to view profiles or start chats.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AI Mentor Matching Module, accessible via the navbar. It calculates a multi-factor score evaluating skill overlap, budget, schedule, and review ratings. If configured, Google Gemini AI re-ranks candidates based on bio context. In-memory caching ensures fast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explains our Booking &amp; Slot Negotiation Module. Booking takes 3 simple steps: duration, date, and time. To prevent ghosting, requests expire after 4 hours if unanswered. Mentors can counter-propose alternate slots, and once confirmed, a Google Meet link is attached.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Payment &amp; Escrow Module. Pricing is calculated transparently with zero platform fees. We integrated Razorpay for INR transactions with HMAC-SHA256 signature verification. Money remains protected in escrow until the session completes, with UPI ID setup for mentor payouts.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our Real-Time Chat Module powered by Socket.io. Learners and mentors can chat instantly. To prevent spam, learners get 5 free direct messages before booking. Once a session is booked, unlimited messaging unlocks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Reviews &amp; Ratings Module. To build community trust, learners submit 1 to 5 star ratings and written reviews after completing a session. Our database automatically aggregates average ratings and displays them publicly on mentor profiles.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the Learner Dashboard Module. It acts as the student's command center, tracking completed learning hours, upcoming sessions, and mentor connections. Students can directly join their scheduled video calls or review past session history.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Mentor Dashboard Module. Mentors manage their teaching studio, accept or counter-propose booking requests, and visualize their skill depth. In the Earnings tab, mentors track their lifetime revenue and configure their payout UPI ID.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covers our Admin &amp; Financial Management Module. The admin oversees platform health, audits user counts, verifies credentials, and moderates users. Financial records can be exported as CSV spreadsheets for compliance and grading.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database design implemented on MongoDB Atlas with Mongoose schemas. We engineered exactly 8 primary collections: Users, Bookings, Conversations, Messages, Reviews, ActivityLogs, Wallets, and Settings. Strict indexation and unique constraints guarantee data consistency and prevent race conditions.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executed a comprehensive multi-layer testing strategy. Jest and Supertest verified our backend routes, RBAC security, and booking transitions. Playwright automated end-to-end browser walkthroughs for all three roles. We also validated responsive layouts across desktop and mobile, and resolved dark mode CSS contrast bugs.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our measurable project results. We delivered 14 frontend pages, 59 REST API endpoints, and 8 database collections, exceeding all minimum scope requirements in our synopsis. The system is deployed live on Vercel with sub-100 millisecond response times and a 100% automated test pass rate.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Skill Exchange successfully bridges the mentorship gap through a full-stack MERN application. For future enhancements, we have outlined four roadmap items directly from our synopsis: collaborative filtering AI, native WebRTC video calling, skill certification badges, and gamified progress tracking.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esteemed evaluators and teachers for your time and guidance. We are now open for technical discussion, code inspection, and live application demonstration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6B4E"/>
        </a:solidFill>
        <a:effectLst/>
      </p:bgPr>
    </p:bg>
    <p:spTree>
      <p:nvGrpSpPr>
        <p:cNvPr id="1" name=""/>
        <p:cNvGrpSpPr/>
        <p:nvPr/>
      </p:nvGrpSpPr>
      <p:grpSpPr/>
      <p:pic>
        <p:nvPicPr>
          <p:cNvPr id="2" name="Picture 1" descr="logo_white.png"/>
          <p:cNvPicPr>
            <a:picLocks noChangeAspect="1"/>
          </p:cNvPicPr>
          <p:nvPr/>
        </p:nvPicPr>
        <p:blipFill>
          <a:blip r:embed="rId2"/>
          <a:stretch>
            <a:fillRect/>
          </a:stretch>
        </p:blipFill>
        <p:spPr>
          <a:xfrm>
            <a:off x="10241280" y="822960"/>
            <a:ext cx="1188720" cy="1188720"/>
          </a:xfrm>
          <a:prstGeom prst="rect">
            <a:avLst/>
          </a:prstGeom>
        </p:spPr>
      </p:pic>
      <p:sp>
        <p:nvSpPr>
          <p:cNvPr id="3" name="TextBox 2"/>
          <p:cNvSpPr txBox="1"/>
          <p:nvPr/>
        </p:nvSpPr>
        <p:spPr>
          <a:xfrm>
            <a:off x="914400" y="1005840"/>
            <a:ext cx="9144000" cy="5029200"/>
          </a:xfrm>
          <a:prstGeom prst="rect">
            <a:avLst/>
          </a:prstGeom>
          <a:noFill/>
        </p:spPr>
        <p:txBody>
          <a:bodyPr wrap="square">
            <a:spAutoFit/>
          </a:bodyPr>
          <a:lstStyle/>
          <a:p>
            <a:pPr>
              <a:spcAft>
                <a:spcPts val="1000"/>
              </a:spcAft>
              <a:defRPr sz="1200" b="1">
                <a:solidFill>
                  <a:srgbClr val="9AE6B4"/>
                </a:solidFill>
                <a:latin typeface="Calibri"/>
              </a:defRPr>
            </a:pPr>
            <a:r>
              <a:t>CAPSTONE PROJECT · FULL STACK MERN WEB APPLICATION</a:t>
            </a:r>
          </a:p>
          <a:p>
            <a:pPr>
              <a:spcAft>
                <a:spcPts val="800"/>
              </a:spcAft>
              <a:defRPr sz="4400" b="1">
                <a:solidFill>
                  <a:srgbClr val="FFFFFF"/>
                </a:solidFill>
                <a:latin typeface="Cambria"/>
              </a:defRPr>
            </a:pPr>
            <a:r>
              <a:t>Skill Exchange</a:t>
            </a:r>
          </a:p>
          <a:p>
            <a:pPr>
              <a:spcAft>
                <a:spcPts val="2400"/>
              </a:spcAft>
              <a:defRPr sz="1700">
                <a:solidFill>
                  <a:srgbClr val="E2F0EA"/>
                </a:solidFill>
                <a:latin typeface="Calibri"/>
              </a:defRPr>
            </a:pPr>
            <a:r>
              <a:t>A Scalable Peer-to-Peer Mentorship &amp; Skill Sharing Platform</a:t>
            </a:r>
          </a:p>
          <a:p>
            <a:pPr>
              <a:spcAft>
                <a:spcPts val="400"/>
              </a:spcAft>
              <a:defRPr sz="1300" b="1">
                <a:solidFill>
                  <a:srgbClr val="FFFFFF"/>
                </a:solidFill>
                <a:latin typeface="Calibri"/>
              </a:defRPr>
            </a:pPr>
            <a:r>
              <a:t>Team CosmicCoder · Group Number 13 | B.Tech CSE, GLA University, Mathura</a:t>
            </a:r>
          </a:p>
          <a:p>
            <a:pPr>
              <a:spcAft>
                <a:spcPts val="2800"/>
              </a:spcAft>
              <a:defRPr sz="1200">
                <a:solidFill>
                  <a:srgbClr val="C8E6D8"/>
                </a:solidFill>
                <a:latin typeface="Calibri"/>
              </a:defRPr>
            </a:pPr>
            <a:r>
              <a:t>Project Guidance: Codroid Hub Pvt. Ltd. | October 2026</a:t>
            </a:r>
          </a:p>
          <a:p>
            <a:pPr>
              <a:spcAft>
                <a:spcPts val="800"/>
              </a:spcAft>
              <a:defRPr sz="1150">
                <a:solidFill>
                  <a:srgbClr val="FFFFFF"/>
                </a:solidFill>
                <a:latin typeface="Calibri"/>
              </a:defRPr>
            </a:pPr>
            <a:r>
              <a:t>Team Leader:   __________________________________________________</a:t>
            </a:r>
          </a:p>
          <a:p>
            <a:pPr>
              <a:spcAft>
                <a:spcPts val="800"/>
              </a:spcAft>
              <a:defRPr sz="1150">
                <a:solidFill>
                  <a:srgbClr val="FFFFFF"/>
                </a:solidFill>
                <a:latin typeface="Calibri"/>
              </a:defRPr>
            </a:pPr>
            <a:r>
              <a:t>Team Members: __________________________________________________</a:t>
            </a:r>
          </a:p>
          <a:p>
            <a:pPr>
              <a:defRPr sz="1150">
                <a:solidFill>
                  <a:srgbClr val="FFFFFF"/>
                </a:solidFill>
                <a:latin typeface="Calibri"/>
              </a:defRPr>
            </a:pPr>
            <a:r>
              <a:t>Project Guide: __________________________________________________</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BF9"/>
        </a:solidFill>
        <a:effectLst/>
      </p:bgPr>
    </p:bg>
    <p:spTree>
      <p:nvGrpSpPr>
        <p:cNvPr id="1" name=""/>
        <p:cNvGrpSpPr/>
        <p:nvPr/>
      </p:nvGrpSpPr>
      <p:grpSpPr/>
      <p:sp>
        <p:nvSpPr>
          <p:cNvPr id="2" name="TextBox 1"/>
          <p:cNvSpPr txBox="1"/>
          <p:nvPr/>
        </p:nvSpPr>
        <p:spPr>
          <a:xfrm>
            <a:off x="731520" y="365760"/>
            <a:ext cx="10698480" cy="256032"/>
          </a:xfrm>
          <a:prstGeom prst="rect">
            <a:avLst/>
          </a:prstGeom>
          <a:noFill/>
        </p:spPr>
        <p:txBody>
          <a:bodyPr wrap="square" lIns="0" tIns="0" rIns="0" bIns="0">
            <a:spAutoFit/>
          </a:bodyPr>
          <a:lstStyle/>
          <a:p>
            <a:pPr>
              <a:defRPr sz="950" b="1">
                <a:solidFill>
                  <a:srgbClr val="176B4E"/>
                </a:solidFill>
                <a:latin typeface="Calibri"/>
              </a:defRPr>
            </a:pPr>
            <a:r>
              <a:t>CONTEXT &amp; BACKGROUND</a:t>
            </a:r>
          </a:p>
        </p:txBody>
      </p:sp>
      <p:sp>
        <p:nvSpPr>
          <p:cNvPr id="3" name="TextBox 2"/>
          <p:cNvSpPr txBox="1"/>
          <p:nvPr/>
        </p:nvSpPr>
        <p:spPr>
          <a:xfrm>
            <a:off x="731520" y="603504"/>
            <a:ext cx="10698480" cy="457200"/>
          </a:xfrm>
          <a:prstGeom prst="rect">
            <a:avLst/>
          </a:prstGeom>
          <a:noFill/>
        </p:spPr>
        <p:txBody>
          <a:bodyPr wrap="square" lIns="0" tIns="0" rIns="0" bIns="0">
            <a:spAutoFit/>
          </a:bodyPr>
          <a:lstStyle/>
          <a:p>
            <a:pPr>
              <a:defRPr sz="2100" b="1">
                <a:solidFill>
                  <a:srgbClr val="1A202C"/>
                </a:solidFill>
                <a:latin typeface="Cambria"/>
              </a:defRPr>
            </a:pPr>
            <a:r>
              <a:t>Introduction &amp; Problem Statement: The Mentorship Gap</a:t>
            </a:r>
          </a:p>
        </p:txBody>
      </p:sp>
      <p:sp>
        <p:nvSpPr>
          <p:cNvPr id="4" name="Rectangle 3"/>
          <p:cNvSpPr/>
          <p:nvPr/>
        </p:nvSpPr>
        <p:spPr>
          <a:xfrm>
            <a:off x="731520" y="11155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92240"/>
            <a:ext cx="7315200" cy="274320"/>
          </a:xfrm>
          <a:prstGeom prst="rect">
            <a:avLst/>
          </a:prstGeom>
          <a:noFill/>
        </p:spPr>
        <p:txBody>
          <a:bodyPr wrap="none" lIns="0" tIns="0" rIns="0" bIns="0">
            <a:spAutoFit/>
          </a:bodyPr>
          <a:lstStyle/>
          <a:p>
            <a:pPr>
              <a:defRPr sz="900">
                <a:solidFill>
                  <a:srgbClr val="5A6578"/>
                </a:solidFill>
                <a:latin typeface="Calibri"/>
              </a:defRPr>
            </a:pPr>
            <a:r>
              <a:t>Skill Exchange · B.Tech CSE Capstone Project (Team CosmicCoder · Group 13)</a:t>
            </a:r>
          </a:p>
        </p:txBody>
      </p:sp>
      <p:sp>
        <p:nvSpPr>
          <p:cNvPr id="6" name="TextBox 5"/>
          <p:cNvSpPr txBox="1"/>
          <p:nvPr/>
        </p:nvSpPr>
        <p:spPr>
          <a:xfrm>
            <a:off x="8686800" y="6492240"/>
            <a:ext cx="2743200" cy="274320"/>
          </a:xfrm>
          <a:prstGeom prst="rect">
            <a:avLst/>
          </a:prstGeom>
          <a:noFill/>
        </p:spPr>
        <p:txBody>
          <a:bodyPr wrap="none" lIns="0" tIns="0" rIns="0" bIns="0">
            <a:spAutoFit/>
          </a:bodyPr>
          <a:lstStyle/>
          <a:p>
            <a:pPr algn="r">
              <a:defRPr sz="900" b="1">
                <a:solidFill>
                  <a:srgbClr val="5A6578"/>
                </a:solidFill>
                <a:latin typeface="Calibri"/>
              </a:defRPr>
            </a:pPr>
            <a:r>
              <a:t>Slide 2 of 22</a:t>
            </a:r>
          </a:p>
        </p:txBody>
      </p:sp>
      <p:sp>
        <p:nvSpPr>
          <p:cNvPr id="7" name="Rectangle 6"/>
          <p:cNvSpPr/>
          <p:nvPr/>
        </p:nvSpPr>
        <p:spPr>
          <a:xfrm>
            <a:off x="731520" y="1325880"/>
            <a:ext cx="3328416" cy="1234440"/>
          </a:xfrm>
          <a:prstGeom prst="rect">
            <a:avLst/>
          </a:prstGeom>
          <a:solidFill>
            <a:srgbClr val="F4F8F5"/>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453896"/>
            <a:ext cx="2999232" cy="978408"/>
          </a:xfrm>
          <a:prstGeom prst="rect">
            <a:avLst/>
          </a:prstGeom>
          <a:noFill/>
        </p:spPr>
        <p:txBody>
          <a:bodyPr wrap="square">
            <a:spAutoFit/>
          </a:bodyPr>
          <a:lstStyle/>
          <a:p>
            <a:pPr>
              <a:spcAft>
                <a:spcPts val="400"/>
              </a:spcAft>
              <a:defRPr sz="1300" b="1">
                <a:solidFill>
                  <a:srgbClr val="176B4E"/>
                </a:solidFill>
                <a:latin typeface="Cambria"/>
              </a:defRPr>
            </a:pPr>
            <a:r>
              <a:t>NO CENTRAL PLATFORM</a:t>
            </a:r>
          </a:p>
          <a:p>
            <a:pPr>
              <a:defRPr sz="1000">
                <a:solidFill>
                  <a:srgbClr val="2D3748"/>
                </a:solidFill>
                <a:latin typeface="Calibri"/>
              </a:defRPr>
            </a:pPr>
            <a:r>
              <a:t>Skill exchange remains fragmented without a centralized, dedicated platform for student peers.</a:t>
            </a:r>
          </a:p>
        </p:txBody>
      </p:sp>
      <p:sp>
        <p:nvSpPr>
          <p:cNvPr id="9" name="Rectangle 8"/>
          <p:cNvSpPr/>
          <p:nvPr/>
        </p:nvSpPr>
        <p:spPr>
          <a:xfrm>
            <a:off x="4425696" y="1325880"/>
            <a:ext cx="3328416" cy="1234440"/>
          </a:xfrm>
          <a:prstGeom prst="rect">
            <a:avLst/>
          </a:prstGeom>
          <a:solidFill>
            <a:srgbClr val="F4F8F5"/>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0288" y="1453896"/>
            <a:ext cx="2999232" cy="978408"/>
          </a:xfrm>
          <a:prstGeom prst="rect">
            <a:avLst/>
          </a:prstGeom>
          <a:noFill/>
        </p:spPr>
        <p:txBody>
          <a:bodyPr wrap="square">
            <a:spAutoFit/>
          </a:bodyPr>
          <a:lstStyle/>
          <a:p>
            <a:pPr>
              <a:spcAft>
                <a:spcPts val="400"/>
              </a:spcAft>
              <a:defRPr sz="1300" b="1">
                <a:solidFill>
                  <a:srgbClr val="176B4E"/>
                </a:solidFill>
                <a:latin typeface="Cambria"/>
              </a:defRPr>
            </a:pPr>
            <a:r>
              <a:t>DISCOVERY DIFFICULTY</a:t>
            </a:r>
          </a:p>
          <a:p>
            <a:pPr>
              <a:defRPr sz="1000">
                <a:solidFill>
                  <a:srgbClr val="2D3748"/>
                </a:solidFill>
                <a:latin typeface="Calibri"/>
              </a:defRPr>
            </a:pPr>
            <a:r>
              <a:t>Learners struggle to identify qualified mentors suited to their specific learning goals.</a:t>
            </a:r>
          </a:p>
        </p:txBody>
      </p:sp>
      <p:sp>
        <p:nvSpPr>
          <p:cNvPr id="11" name="Rectangle 10"/>
          <p:cNvSpPr/>
          <p:nvPr/>
        </p:nvSpPr>
        <p:spPr>
          <a:xfrm>
            <a:off x="8119872" y="1325880"/>
            <a:ext cx="3328416" cy="1234440"/>
          </a:xfrm>
          <a:prstGeom prst="rect">
            <a:avLst/>
          </a:prstGeom>
          <a:solidFill>
            <a:srgbClr val="F4F8F5"/>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4464" y="1453896"/>
            <a:ext cx="2999232" cy="978408"/>
          </a:xfrm>
          <a:prstGeom prst="rect">
            <a:avLst/>
          </a:prstGeom>
          <a:noFill/>
        </p:spPr>
        <p:txBody>
          <a:bodyPr wrap="square">
            <a:spAutoFit/>
          </a:bodyPr>
          <a:lstStyle/>
          <a:p>
            <a:pPr>
              <a:spcAft>
                <a:spcPts val="400"/>
              </a:spcAft>
              <a:defRPr sz="1300" b="1">
                <a:solidFill>
                  <a:srgbClr val="176B4E"/>
                </a:solidFill>
                <a:latin typeface="Cambria"/>
              </a:defRPr>
            </a:pPr>
            <a:r>
              <a:t>UNORGANIZED SCHEDULING</a:t>
            </a:r>
          </a:p>
          <a:p>
            <a:pPr>
              <a:defRPr sz="1000">
                <a:solidFill>
                  <a:srgbClr val="2D3748"/>
                </a:solidFill>
                <a:latin typeface="Calibri"/>
              </a:defRPr>
            </a:pPr>
            <a:r>
              <a:t>Mentors lack structured tools to publish availability, track sessions, and handle communication.</a:t>
            </a:r>
          </a:p>
        </p:txBody>
      </p:sp>
      <p:sp>
        <p:nvSpPr>
          <p:cNvPr id="13" name="Rectangle 12"/>
          <p:cNvSpPr/>
          <p:nvPr/>
        </p:nvSpPr>
        <p:spPr>
          <a:xfrm>
            <a:off x="731520" y="2788920"/>
            <a:ext cx="5175504" cy="34747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3017520"/>
            <a:ext cx="4718304" cy="3017520"/>
          </a:xfrm>
          <a:prstGeom prst="rect">
            <a:avLst/>
          </a:prstGeom>
          <a:noFill/>
        </p:spPr>
        <p:txBody>
          <a:bodyPr wrap="square">
            <a:spAutoFit/>
          </a:bodyPr>
          <a:lstStyle/>
          <a:p>
            <a:pPr>
              <a:spcAft>
                <a:spcPts val="1200"/>
              </a:spcAft>
              <a:defRPr sz="1400" b="1">
                <a:solidFill>
                  <a:srgbClr val="176B4E"/>
                </a:solidFill>
                <a:latin typeface="Cambria"/>
              </a:defRPr>
            </a:pPr>
            <a:r>
              <a:t>Challenges in Peer Learning Today</a:t>
            </a:r>
          </a:p>
          <a:p>
            <a:pPr>
              <a:spcAft>
                <a:spcPts val="800"/>
              </a:spcAft>
            </a:pPr>
            <a:r>
              <a:rPr sz="1050" b="1">
                <a:solidFill>
                  <a:srgbClr val="1A202C"/>
                </a:solidFill>
                <a:latin typeface="Calibri"/>
              </a:rPr>
              <a:t>• Commercial Tutoring Barrier: </a:t>
            </a:r>
            <a:r>
              <a:rPr sz="1000">
                <a:solidFill>
                  <a:srgbClr val="2D3748"/>
                </a:solidFill>
                <a:latin typeface="Calibri"/>
              </a:rPr>
              <a:t>High commercial tutoring costs prevent college students from getting affordable 1-on-1 academic help.</a:t>
            </a:r>
          </a:p>
          <a:p>
            <a:pPr>
              <a:spcAft>
                <a:spcPts val="800"/>
              </a:spcAft>
            </a:pPr>
            <a:r>
              <a:rPr sz="1050" b="1">
                <a:solidFill>
                  <a:srgbClr val="1A202C"/>
                </a:solidFill>
                <a:latin typeface="Calibri"/>
              </a:rPr>
              <a:t>• Scattered Informal Coordination: </a:t>
            </a:r>
            <a:r>
              <a:rPr sz="1000">
                <a:solidFill>
                  <a:srgbClr val="2D3748"/>
                </a:solidFill>
                <a:latin typeface="Calibri"/>
              </a:rPr>
              <a:t>Arranging study calls through WhatsApp or Discord leads to missed links, scheduling clashes, and lost notes.</a:t>
            </a:r>
          </a:p>
          <a:p>
            <a:pPr>
              <a:spcAft>
                <a:spcPts val="800"/>
              </a:spcAft>
            </a:pPr>
            <a:r>
              <a:rPr sz="1050" b="1">
                <a:solidFill>
                  <a:srgbClr val="1A202C"/>
                </a:solidFill>
                <a:latin typeface="Calibri"/>
              </a:rPr>
              <a:t>• High Ghosting &amp; No-Shows: </a:t>
            </a:r>
            <a:r>
              <a:rPr sz="1000">
                <a:solidFill>
                  <a:srgbClr val="2D3748"/>
                </a:solidFill>
                <a:latin typeface="Calibri"/>
              </a:rPr>
              <a:t>Informal arrangements lack commitment, causing frequent last-minute cancellations without accountability.</a:t>
            </a:r>
          </a:p>
          <a:p>
            <a:pPr>
              <a:spcAft>
                <a:spcPts val="800"/>
              </a:spcAft>
            </a:pPr>
            <a:r>
              <a:rPr sz="1050" b="1">
                <a:solidFill>
                  <a:srgbClr val="1A202C"/>
                </a:solidFill>
                <a:latin typeface="Calibri"/>
              </a:rPr>
              <a:t>• Lack of Trust &amp; Verification: </a:t>
            </a:r>
            <a:r>
              <a:rPr sz="1000">
                <a:solidFill>
                  <a:srgbClr val="2D3748"/>
                </a:solidFill>
                <a:latin typeface="Calibri"/>
              </a:rPr>
              <a:t>Learners have no credible way to assess a peer tutor's actual skill proficiency and track record before meeting.</a:t>
            </a:r>
          </a:p>
        </p:txBody>
      </p:sp>
      <p:sp>
        <p:nvSpPr>
          <p:cNvPr id="15" name="Rectangle 14"/>
          <p:cNvSpPr/>
          <p:nvPr/>
        </p:nvSpPr>
        <p:spPr>
          <a:xfrm>
            <a:off x="6281928" y="2788920"/>
            <a:ext cx="5175504" cy="34747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10528" y="3017520"/>
            <a:ext cx="4718304" cy="3017520"/>
          </a:xfrm>
          <a:prstGeom prst="rect">
            <a:avLst/>
          </a:prstGeom>
          <a:noFill/>
        </p:spPr>
        <p:txBody>
          <a:bodyPr wrap="square">
            <a:spAutoFit/>
          </a:bodyPr>
          <a:lstStyle/>
          <a:p>
            <a:pPr>
              <a:spcAft>
                <a:spcPts val="1200"/>
              </a:spcAft>
              <a:defRPr sz="1400" b="1">
                <a:solidFill>
                  <a:srgbClr val="176B4E"/>
                </a:solidFill>
                <a:latin typeface="Cambria"/>
              </a:defRPr>
            </a:pPr>
            <a:r>
              <a:t>The Skill Exchange Solution</a:t>
            </a:r>
          </a:p>
          <a:p>
            <a:pPr>
              <a:spcAft>
                <a:spcPts val="800"/>
              </a:spcAft>
            </a:pPr>
            <a:r>
              <a:rPr sz="1050" b="1">
                <a:solidFill>
                  <a:srgbClr val="1A202C"/>
                </a:solidFill>
                <a:latin typeface="Calibri"/>
              </a:rPr>
              <a:t>• Unified Digital Ecosystem: </a:t>
            </a:r>
            <a:r>
              <a:rPr sz="1000">
                <a:solidFill>
                  <a:srgbClr val="2D3748"/>
                </a:solidFill>
                <a:latin typeface="Calibri"/>
              </a:rPr>
              <a:t>Integrates mentor discovery, slot scheduling, real-time messaging, and reviews into a single MERN web platform.</a:t>
            </a:r>
          </a:p>
          <a:p>
            <a:pPr>
              <a:spcAft>
                <a:spcPts val="800"/>
              </a:spcAft>
            </a:pPr>
            <a:r>
              <a:rPr sz="1050" b="1">
                <a:solidFill>
                  <a:srgbClr val="1A202C"/>
                </a:solidFill>
                <a:latin typeface="Calibri"/>
              </a:rPr>
              <a:t>• Role-Based Architecture: </a:t>
            </a:r>
            <a:r>
              <a:rPr sz="1000">
                <a:solidFill>
                  <a:srgbClr val="2D3748"/>
                </a:solidFill>
                <a:latin typeface="Calibri"/>
              </a:rPr>
              <a:t>Provides dedicated portals tailored for Learners, Mentors, and Administrators with strict access controls.</a:t>
            </a:r>
          </a:p>
          <a:p>
            <a:pPr>
              <a:spcAft>
                <a:spcPts val="800"/>
              </a:spcAft>
            </a:pPr>
            <a:r>
              <a:rPr sz="1050" b="1">
                <a:solidFill>
                  <a:srgbClr val="1A202C"/>
                </a:solidFill>
                <a:latin typeface="Calibri"/>
              </a:rPr>
              <a:t>• Structured Booking Engine: </a:t>
            </a:r>
            <a:r>
              <a:rPr sz="1000">
                <a:solidFill>
                  <a:srgbClr val="2D3748"/>
                </a:solidFill>
                <a:latin typeface="Calibri"/>
              </a:rPr>
              <a:t>Enforces clean 5-step booking lifecycles with built-in 4-hour action limits and alternate slot proposals.</a:t>
            </a:r>
          </a:p>
          <a:p>
            <a:pPr>
              <a:spcAft>
                <a:spcPts val="800"/>
              </a:spcAft>
            </a:pPr>
            <a:r>
              <a:rPr sz="1050" b="1">
                <a:solidFill>
                  <a:srgbClr val="1A202C"/>
                </a:solidFill>
                <a:latin typeface="Calibri"/>
              </a:rPr>
              <a:t>• Verified Community Trust: </a:t>
            </a:r>
            <a:r>
              <a:rPr sz="1000">
                <a:solidFill>
                  <a:srgbClr val="2D3748"/>
                </a:solidFill>
                <a:latin typeface="Calibri"/>
              </a:rPr>
              <a:t>Features 1-to-5 star post-session reviews, verified profile badges, and transparent session hour logs.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BF9"/>
        </a:solidFill>
        <a:effectLst/>
      </p:bgPr>
    </p:bg>
    <p:spTree>
      <p:nvGrpSpPr>
        <p:cNvPr id="1" name=""/>
        <p:cNvGrpSpPr/>
        <p:nvPr/>
      </p:nvGrpSpPr>
      <p:grpSpPr/>
      <p:sp>
        <p:nvSpPr>
          <p:cNvPr id="2" name="TextBox 1"/>
          <p:cNvSpPr txBox="1"/>
          <p:nvPr/>
        </p:nvSpPr>
        <p:spPr>
          <a:xfrm>
            <a:off x="731520" y="365760"/>
            <a:ext cx="10698480" cy="256032"/>
          </a:xfrm>
          <a:prstGeom prst="rect">
            <a:avLst/>
          </a:prstGeom>
          <a:noFill/>
        </p:spPr>
        <p:txBody>
          <a:bodyPr wrap="square" lIns="0" tIns="0" rIns="0" bIns="0">
            <a:spAutoFit/>
          </a:bodyPr>
          <a:lstStyle/>
          <a:p>
            <a:pPr>
              <a:defRPr sz="950" b="1">
                <a:solidFill>
                  <a:srgbClr val="176B4E"/>
                </a:solidFill>
                <a:latin typeface="Calibri"/>
              </a:defRPr>
            </a:pPr>
            <a:r>
              <a:t>PROJECT SCOPE &amp; OBJECTIVES</a:t>
            </a:r>
          </a:p>
        </p:txBody>
      </p:sp>
      <p:sp>
        <p:nvSpPr>
          <p:cNvPr id="3" name="TextBox 2"/>
          <p:cNvSpPr txBox="1"/>
          <p:nvPr/>
        </p:nvSpPr>
        <p:spPr>
          <a:xfrm>
            <a:off x="731520" y="603504"/>
            <a:ext cx="10698480" cy="457200"/>
          </a:xfrm>
          <a:prstGeom prst="rect">
            <a:avLst/>
          </a:prstGeom>
          <a:noFill/>
        </p:spPr>
        <p:txBody>
          <a:bodyPr wrap="square" lIns="0" tIns="0" rIns="0" bIns="0">
            <a:spAutoFit/>
          </a:bodyPr>
          <a:lstStyle/>
          <a:p>
            <a:pPr>
              <a:defRPr sz="2100" b="1">
                <a:solidFill>
                  <a:srgbClr val="1A202C"/>
                </a:solidFill>
                <a:latin typeface="Cambria"/>
              </a:defRPr>
            </a:pPr>
            <a:r>
              <a:t>Project Objectives &amp; Scope: Bridging Knowledge Gaps</a:t>
            </a:r>
          </a:p>
        </p:txBody>
      </p:sp>
      <p:sp>
        <p:nvSpPr>
          <p:cNvPr id="4" name="Rectangle 3"/>
          <p:cNvSpPr/>
          <p:nvPr/>
        </p:nvSpPr>
        <p:spPr>
          <a:xfrm>
            <a:off x="731520" y="11155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92240"/>
            <a:ext cx="7315200" cy="274320"/>
          </a:xfrm>
          <a:prstGeom prst="rect">
            <a:avLst/>
          </a:prstGeom>
          <a:noFill/>
        </p:spPr>
        <p:txBody>
          <a:bodyPr wrap="none" lIns="0" tIns="0" rIns="0" bIns="0">
            <a:spAutoFit/>
          </a:bodyPr>
          <a:lstStyle/>
          <a:p>
            <a:pPr>
              <a:defRPr sz="900">
                <a:solidFill>
                  <a:srgbClr val="5A6578"/>
                </a:solidFill>
                <a:latin typeface="Calibri"/>
              </a:defRPr>
            </a:pPr>
            <a:r>
              <a:t>Skill Exchange · B.Tech CSE Capstone Project (Team CosmicCoder · Group 13)</a:t>
            </a:r>
          </a:p>
        </p:txBody>
      </p:sp>
      <p:sp>
        <p:nvSpPr>
          <p:cNvPr id="6" name="TextBox 5"/>
          <p:cNvSpPr txBox="1"/>
          <p:nvPr/>
        </p:nvSpPr>
        <p:spPr>
          <a:xfrm>
            <a:off x="8686800" y="6492240"/>
            <a:ext cx="2743200" cy="274320"/>
          </a:xfrm>
          <a:prstGeom prst="rect">
            <a:avLst/>
          </a:prstGeom>
          <a:noFill/>
        </p:spPr>
        <p:txBody>
          <a:bodyPr wrap="none" lIns="0" tIns="0" rIns="0" bIns="0">
            <a:spAutoFit/>
          </a:bodyPr>
          <a:lstStyle/>
          <a:p>
            <a:pPr algn="r">
              <a:defRPr sz="900" b="1">
                <a:solidFill>
                  <a:srgbClr val="5A6578"/>
                </a:solidFill>
                <a:latin typeface="Calibri"/>
              </a:defRPr>
            </a:pPr>
            <a:r>
              <a:t>Slide 3 of 22</a:t>
            </a:r>
          </a:p>
        </p:txBody>
      </p:sp>
      <p:sp>
        <p:nvSpPr>
          <p:cNvPr id="7" name="Rectangle 6"/>
          <p:cNvSpPr/>
          <p:nvPr/>
        </p:nvSpPr>
        <p:spPr>
          <a:xfrm>
            <a:off x="731520" y="1325880"/>
            <a:ext cx="10728655" cy="1097280"/>
          </a:xfrm>
          <a:prstGeom prst="rect">
            <a:avLst/>
          </a:prstGeom>
          <a:solidFill>
            <a:srgbClr val="F4F8F5"/>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417320"/>
            <a:ext cx="10271455" cy="914400"/>
          </a:xfrm>
          <a:prstGeom prst="rect">
            <a:avLst/>
          </a:prstGeom>
          <a:noFill/>
        </p:spPr>
        <p:txBody>
          <a:bodyPr wrap="square">
            <a:spAutoFit/>
          </a:bodyPr>
          <a:lstStyle/>
          <a:p>
            <a:pPr>
              <a:spcAft>
                <a:spcPts val="300"/>
              </a:spcAft>
              <a:defRPr sz="1300" b="1">
                <a:solidFill>
                  <a:srgbClr val="176B4E"/>
                </a:solidFill>
                <a:latin typeface="Cambria"/>
              </a:defRPr>
            </a:pPr>
            <a:r>
              <a:t>Primary Objective:</a:t>
            </a:r>
          </a:p>
          <a:p>
            <a:pPr>
              <a:defRPr sz="1100">
                <a:solidFill>
                  <a:srgbClr val="2D3748"/>
                </a:solidFill>
                <a:latin typeface="Calibri"/>
              </a:defRPr>
            </a:pPr>
            <a:r>
              <a:t>To design and develop a scalable, full-stack MERN web application that connects student mentors and learners through automated skill discovery, interactive session scheduling, real-time chat, and mutual feedback.</a:t>
            </a:r>
          </a:p>
        </p:txBody>
      </p:sp>
      <p:sp>
        <p:nvSpPr>
          <p:cNvPr id="9" name="Rectangle 8"/>
          <p:cNvSpPr/>
          <p:nvPr/>
        </p:nvSpPr>
        <p:spPr>
          <a:xfrm>
            <a:off x="731520" y="2606040"/>
            <a:ext cx="3328416" cy="3703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788920"/>
            <a:ext cx="2962656" cy="3337560"/>
          </a:xfrm>
          <a:prstGeom prst="rect">
            <a:avLst/>
          </a:prstGeom>
          <a:noFill/>
        </p:spPr>
        <p:txBody>
          <a:bodyPr wrap="square">
            <a:spAutoFit/>
          </a:bodyPr>
          <a:lstStyle/>
          <a:p>
            <a:pPr>
              <a:spcAft>
                <a:spcPts val="200"/>
              </a:spcAft>
              <a:defRPr sz="1300" b="1">
                <a:solidFill>
                  <a:srgbClr val="176B4E"/>
                </a:solidFill>
                <a:latin typeface="Cambria"/>
              </a:defRPr>
            </a:pPr>
            <a:r>
              <a:t>Mentor Module Pillar</a:t>
            </a:r>
          </a:p>
          <a:p>
            <a:pPr>
              <a:spcAft>
                <a:spcPts val="1000"/>
              </a:spcAft>
              <a:defRPr sz="950">
                <a:solidFill>
                  <a:srgbClr val="5A6578"/>
                </a:solidFill>
                <a:latin typeface="Calibri"/>
              </a:defRPr>
            </a:pPr>
            <a:r>
              <a:t>For Student Tutors &amp; Experts</a:t>
            </a:r>
          </a:p>
          <a:p>
            <a:pPr>
              <a:spcAft>
                <a:spcPts val="600"/>
              </a:spcAft>
            </a:pPr>
            <a:r>
              <a:rPr sz="950" b="1">
                <a:solidFill>
                  <a:srgbClr val="1A202C"/>
                </a:solidFill>
                <a:latin typeface="Calibri"/>
              </a:rPr>
              <a:t>• Skill Profile Listing: </a:t>
            </a:r>
            <a:r>
              <a:rPr sz="900">
                <a:solidFill>
                  <a:srgbClr val="2D3748"/>
                </a:solidFill>
                <a:latin typeface="Calibri"/>
              </a:rPr>
              <a:t>Showcase technical skills with granular proficiency depth ratings (Beginner to Expert).</a:t>
            </a:r>
          </a:p>
          <a:p>
            <a:pPr>
              <a:spcAft>
                <a:spcPts val="600"/>
              </a:spcAft>
            </a:pPr>
            <a:r>
              <a:rPr sz="950" b="1">
                <a:solidFill>
                  <a:srgbClr val="1A202C"/>
                </a:solidFill>
                <a:latin typeface="Calibri"/>
              </a:rPr>
              <a:t>• Availability Management: </a:t>
            </a:r>
            <a:r>
              <a:rPr sz="900">
                <a:solidFill>
                  <a:srgbClr val="2D3748"/>
                </a:solidFill>
                <a:latin typeface="Calibri"/>
              </a:rPr>
              <a:t>Define weekly open schedule chips for morning, afternoon, and evening slots.</a:t>
            </a:r>
          </a:p>
          <a:p>
            <a:pPr>
              <a:spcAft>
                <a:spcPts val="600"/>
              </a:spcAft>
            </a:pPr>
            <a:r>
              <a:rPr sz="950" b="1">
                <a:solidFill>
                  <a:srgbClr val="1A202C"/>
                </a:solidFill>
                <a:latin typeface="Calibri"/>
              </a:rPr>
              <a:t>• Session Negotiation: </a:t>
            </a:r>
            <a:r>
              <a:rPr sz="900">
                <a:solidFill>
                  <a:srgbClr val="2D3748"/>
                </a:solidFill>
                <a:latin typeface="Calibri"/>
              </a:rPr>
              <a:t>Accept requests, decline, or propose up to 3 alternate time slots directly.</a:t>
            </a:r>
          </a:p>
          <a:p>
            <a:pPr>
              <a:spcAft>
                <a:spcPts val="600"/>
              </a:spcAft>
            </a:pPr>
            <a:r>
              <a:rPr sz="950" b="1">
                <a:solidFill>
                  <a:srgbClr val="1A202C"/>
                </a:solidFill>
                <a:latin typeface="Calibri"/>
              </a:rPr>
              <a:t>• Teaching Dashboard: </a:t>
            </a:r>
            <a:r>
              <a:rPr sz="900">
                <a:solidFill>
                  <a:srgbClr val="2D3748"/>
                </a:solidFill>
                <a:latin typeface="Calibri"/>
              </a:rPr>
              <a:t>Track total students taught, sessions held, and monitor teaching hours.</a:t>
            </a:r>
          </a:p>
        </p:txBody>
      </p:sp>
      <p:sp>
        <p:nvSpPr>
          <p:cNvPr id="11" name="Rectangle 10"/>
          <p:cNvSpPr/>
          <p:nvPr/>
        </p:nvSpPr>
        <p:spPr>
          <a:xfrm>
            <a:off x="4425696" y="2606040"/>
            <a:ext cx="3328416" cy="3703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08576" y="2788920"/>
            <a:ext cx="2962656" cy="3337560"/>
          </a:xfrm>
          <a:prstGeom prst="rect">
            <a:avLst/>
          </a:prstGeom>
          <a:noFill/>
        </p:spPr>
        <p:txBody>
          <a:bodyPr wrap="square">
            <a:spAutoFit/>
          </a:bodyPr>
          <a:lstStyle/>
          <a:p>
            <a:pPr>
              <a:spcAft>
                <a:spcPts val="200"/>
              </a:spcAft>
              <a:defRPr sz="1300" b="1">
                <a:solidFill>
                  <a:srgbClr val="176B4E"/>
                </a:solidFill>
                <a:latin typeface="Cambria"/>
              </a:defRPr>
            </a:pPr>
            <a:r>
              <a:t>Learner Module Pillar</a:t>
            </a:r>
          </a:p>
          <a:p>
            <a:pPr>
              <a:spcAft>
                <a:spcPts val="1000"/>
              </a:spcAft>
              <a:defRPr sz="950">
                <a:solidFill>
                  <a:srgbClr val="5A6578"/>
                </a:solidFill>
                <a:latin typeface="Calibri"/>
              </a:defRPr>
            </a:pPr>
            <a:r>
              <a:t>For Students Seeking Guidance</a:t>
            </a:r>
          </a:p>
          <a:p>
            <a:pPr>
              <a:spcAft>
                <a:spcPts val="600"/>
              </a:spcAft>
            </a:pPr>
            <a:r>
              <a:rPr sz="950" b="1">
                <a:solidFill>
                  <a:srgbClr val="1A202C"/>
                </a:solidFill>
                <a:latin typeface="Calibri"/>
              </a:rPr>
              <a:t>• Skill Discovery: </a:t>
            </a:r>
            <a:r>
              <a:rPr sz="900">
                <a:solidFill>
                  <a:srgbClr val="2D3748"/>
                </a:solidFill>
                <a:latin typeface="Calibri"/>
              </a:rPr>
              <a:t>Search and filter mentors in real time by name, category, or specific skill tags.</a:t>
            </a:r>
          </a:p>
          <a:p>
            <a:pPr>
              <a:spcAft>
                <a:spcPts val="600"/>
              </a:spcAft>
            </a:pPr>
            <a:r>
              <a:rPr sz="950" b="1">
                <a:solidFill>
                  <a:srgbClr val="1A202C"/>
                </a:solidFill>
                <a:latin typeface="Calibri"/>
              </a:rPr>
              <a:t>• Interactive Booking: </a:t>
            </a:r>
            <a:r>
              <a:rPr sz="900">
                <a:solidFill>
                  <a:srgbClr val="2D3748"/>
                </a:solidFill>
                <a:latin typeface="Calibri"/>
              </a:rPr>
              <a:t>Schedule 1-on-1 sessions via 3-step wizard with duration and date chips.</a:t>
            </a:r>
          </a:p>
          <a:p>
            <a:pPr>
              <a:spcAft>
                <a:spcPts val="600"/>
              </a:spcAft>
            </a:pPr>
            <a:r>
              <a:rPr sz="950" b="1">
                <a:solidFill>
                  <a:srgbClr val="1A202C"/>
                </a:solidFill>
                <a:latin typeface="Calibri"/>
              </a:rPr>
              <a:t>• Real-Time Messaging: </a:t>
            </a:r>
            <a:r>
              <a:rPr sz="900">
                <a:solidFill>
                  <a:srgbClr val="2D3748"/>
                </a:solidFill>
                <a:latin typeface="Calibri"/>
              </a:rPr>
              <a:t>Communicate via Socket.io chat threads with 5 free messages anti-spam limit.</a:t>
            </a:r>
          </a:p>
          <a:p>
            <a:pPr>
              <a:spcAft>
                <a:spcPts val="600"/>
              </a:spcAft>
            </a:pPr>
            <a:r>
              <a:rPr sz="950" b="1">
                <a:solidFill>
                  <a:srgbClr val="1A202C"/>
                </a:solidFill>
                <a:latin typeface="Calibri"/>
              </a:rPr>
              <a:t>• Community Reviews: </a:t>
            </a:r>
            <a:r>
              <a:rPr sz="900">
                <a:solidFill>
                  <a:srgbClr val="2D3748"/>
                </a:solidFill>
                <a:latin typeface="Calibri"/>
              </a:rPr>
              <a:t>Submit 1-to-5 star ratings and qualitative reviews following session completion.</a:t>
            </a:r>
          </a:p>
        </p:txBody>
      </p:sp>
      <p:sp>
        <p:nvSpPr>
          <p:cNvPr id="13" name="Rectangle 12"/>
          <p:cNvSpPr/>
          <p:nvPr/>
        </p:nvSpPr>
        <p:spPr>
          <a:xfrm>
            <a:off x="8119872" y="2606040"/>
            <a:ext cx="3328416" cy="3703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2752" y="2788920"/>
            <a:ext cx="2962656" cy="3337560"/>
          </a:xfrm>
          <a:prstGeom prst="rect">
            <a:avLst/>
          </a:prstGeom>
          <a:noFill/>
        </p:spPr>
        <p:txBody>
          <a:bodyPr wrap="square">
            <a:spAutoFit/>
          </a:bodyPr>
          <a:lstStyle/>
          <a:p>
            <a:pPr>
              <a:spcAft>
                <a:spcPts val="200"/>
              </a:spcAft>
              <a:defRPr sz="1300" b="1">
                <a:solidFill>
                  <a:srgbClr val="176B4E"/>
                </a:solidFill>
                <a:latin typeface="Cambria"/>
              </a:defRPr>
            </a:pPr>
            <a:r>
              <a:t>Security &amp; Admin Pillar</a:t>
            </a:r>
          </a:p>
          <a:p>
            <a:pPr>
              <a:spcAft>
                <a:spcPts val="1000"/>
              </a:spcAft>
              <a:defRPr sz="950">
                <a:solidFill>
                  <a:srgbClr val="5A6578"/>
                </a:solidFill>
                <a:latin typeface="Calibri"/>
              </a:defRPr>
            </a:pPr>
            <a:r>
              <a:t>For Platform Trust &amp; Integrity</a:t>
            </a:r>
          </a:p>
          <a:p>
            <a:pPr>
              <a:spcAft>
                <a:spcPts val="600"/>
              </a:spcAft>
            </a:pPr>
            <a:r>
              <a:rPr sz="950" b="1">
                <a:solidFill>
                  <a:srgbClr val="1A202C"/>
                </a:solidFill>
                <a:latin typeface="Calibri"/>
              </a:rPr>
              <a:t>• Role-Based Auth (RBAC): </a:t>
            </a:r>
            <a:r>
              <a:rPr sz="900">
                <a:solidFill>
                  <a:srgbClr val="2D3748"/>
                </a:solidFill>
                <a:latin typeface="Calibri"/>
              </a:rPr>
              <a:t>Enforce strict route protections across Learner, Mentor, and Admin roles.</a:t>
            </a:r>
          </a:p>
          <a:p>
            <a:pPr>
              <a:spcAft>
                <a:spcPts val="600"/>
              </a:spcAft>
            </a:pPr>
            <a:r>
              <a:rPr sz="950" b="1">
                <a:solidFill>
                  <a:srgbClr val="1A202C"/>
                </a:solidFill>
                <a:latin typeface="Calibri"/>
              </a:rPr>
              <a:t>• Cryptographic Security: </a:t>
            </a:r>
            <a:r>
              <a:rPr sz="900">
                <a:solidFill>
                  <a:srgbClr val="2D3748"/>
                </a:solidFill>
                <a:latin typeface="Calibri"/>
              </a:rPr>
              <a:t>Store passwords using 10-round salted bcrypt hashing and stateless JWT tokens.</a:t>
            </a:r>
          </a:p>
          <a:p>
            <a:pPr>
              <a:spcAft>
                <a:spcPts val="600"/>
              </a:spcAft>
            </a:pPr>
            <a:r>
              <a:rPr sz="950" b="1">
                <a:solidFill>
                  <a:srgbClr val="1A202C"/>
                </a:solidFill>
                <a:latin typeface="Calibri"/>
              </a:rPr>
              <a:t>• Administrative Console: </a:t>
            </a:r>
            <a:r>
              <a:rPr sz="900">
                <a:solidFill>
                  <a:srgbClr val="2D3748"/>
                </a:solidFill>
                <a:latin typeface="Calibri"/>
              </a:rPr>
              <a:t>Audit platform KPIs, verify student credentials, and moderate accounts.</a:t>
            </a:r>
          </a:p>
          <a:p>
            <a:pPr>
              <a:spcAft>
                <a:spcPts val="600"/>
              </a:spcAft>
            </a:pPr>
            <a:r>
              <a:rPr sz="950" b="1">
                <a:solidFill>
                  <a:srgbClr val="1A202C"/>
                </a:solidFill>
                <a:latin typeface="Calibri"/>
              </a:rPr>
              <a:t>• Reporting &amp; Export: </a:t>
            </a:r>
            <a:r>
              <a:rPr sz="900">
                <a:solidFill>
                  <a:srgbClr val="2D3748"/>
                </a:solidFill>
                <a:latin typeface="Calibri"/>
              </a:rPr>
              <a:t>Download financial and user activity records as formatted CSV spreadsheets.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BF9"/>
        </a:solidFill>
        <a:effectLst/>
      </p:bgPr>
    </p:bg>
    <p:spTree>
      <p:nvGrpSpPr>
        <p:cNvPr id="1" name=""/>
        <p:cNvGrpSpPr/>
        <p:nvPr/>
      </p:nvGrpSpPr>
      <p:grpSpPr/>
      <p:sp>
        <p:nvSpPr>
          <p:cNvPr id="2" name="TextBox 1"/>
          <p:cNvSpPr txBox="1"/>
          <p:nvPr/>
        </p:nvSpPr>
        <p:spPr>
          <a:xfrm>
            <a:off x="731520" y="365760"/>
            <a:ext cx="10698480" cy="256032"/>
          </a:xfrm>
          <a:prstGeom prst="rect">
            <a:avLst/>
          </a:prstGeom>
          <a:noFill/>
        </p:spPr>
        <p:txBody>
          <a:bodyPr wrap="square" lIns="0" tIns="0" rIns="0" bIns="0">
            <a:spAutoFit/>
          </a:bodyPr>
          <a:lstStyle/>
          <a:p>
            <a:pPr>
              <a:defRPr sz="950" b="1">
                <a:solidFill>
                  <a:srgbClr val="176B4E"/>
                </a:solidFill>
                <a:latin typeface="Calibri"/>
              </a:defRPr>
            </a:pPr>
            <a:r>
              <a:t>HIGH-LEVEL SYSTEM DESIGN</a:t>
            </a:r>
          </a:p>
        </p:txBody>
      </p:sp>
      <p:sp>
        <p:nvSpPr>
          <p:cNvPr id="3" name="TextBox 2"/>
          <p:cNvSpPr txBox="1"/>
          <p:nvPr/>
        </p:nvSpPr>
        <p:spPr>
          <a:xfrm>
            <a:off x="731520" y="603504"/>
            <a:ext cx="10698480" cy="457200"/>
          </a:xfrm>
          <a:prstGeom prst="rect">
            <a:avLst/>
          </a:prstGeom>
          <a:noFill/>
        </p:spPr>
        <p:txBody>
          <a:bodyPr wrap="square" lIns="0" tIns="0" rIns="0" bIns="0">
            <a:spAutoFit/>
          </a:bodyPr>
          <a:lstStyle/>
          <a:p>
            <a:pPr>
              <a:defRPr sz="2100" b="1">
                <a:solidFill>
                  <a:srgbClr val="1A202C"/>
                </a:solidFill>
                <a:latin typeface="Cambria"/>
              </a:defRPr>
            </a:pPr>
            <a:r>
              <a:t>System Architecture: End-to-End Enterprise Flow</a:t>
            </a:r>
          </a:p>
        </p:txBody>
      </p:sp>
      <p:sp>
        <p:nvSpPr>
          <p:cNvPr id="4" name="Rectangle 3"/>
          <p:cNvSpPr/>
          <p:nvPr/>
        </p:nvSpPr>
        <p:spPr>
          <a:xfrm>
            <a:off x="731520" y="11155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92240"/>
            <a:ext cx="7315200" cy="274320"/>
          </a:xfrm>
          <a:prstGeom prst="rect">
            <a:avLst/>
          </a:prstGeom>
          <a:noFill/>
        </p:spPr>
        <p:txBody>
          <a:bodyPr wrap="none" lIns="0" tIns="0" rIns="0" bIns="0">
            <a:spAutoFit/>
          </a:bodyPr>
          <a:lstStyle/>
          <a:p>
            <a:pPr>
              <a:defRPr sz="900">
                <a:solidFill>
                  <a:srgbClr val="5A6578"/>
                </a:solidFill>
                <a:latin typeface="Calibri"/>
              </a:defRPr>
            </a:pPr>
            <a:r>
              <a:t>Skill Exchange · B.Tech CSE Capstone Project (Team CosmicCoder · Group 13)</a:t>
            </a:r>
          </a:p>
        </p:txBody>
      </p:sp>
      <p:sp>
        <p:nvSpPr>
          <p:cNvPr id="6" name="TextBox 5"/>
          <p:cNvSpPr txBox="1"/>
          <p:nvPr/>
        </p:nvSpPr>
        <p:spPr>
          <a:xfrm>
            <a:off x="8686800" y="6492240"/>
            <a:ext cx="2743200" cy="274320"/>
          </a:xfrm>
          <a:prstGeom prst="rect">
            <a:avLst/>
          </a:prstGeom>
          <a:noFill/>
        </p:spPr>
        <p:txBody>
          <a:bodyPr wrap="none" lIns="0" tIns="0" rIns="0" bIns="0">
            <a:spAutoFit/>
          </a:bodyPr>
          <a:lstStyle/>
          <a:p>
            <a:pPr algn="r">
              <a:defRPr sz="900" b="1">
                <a:solidFill>
                  <a:srgbClr val="5A6578"/>
                </a:solidFill>
                <a:latin typeface="Calibri"/>
              </a:defRPr>
            </a:pPr>
            <a:r>
              <a:t>Slide 4 of 22</a:t>
            </a:r>
          </a:p>
        </p:txBody>
      </p:sp>
      <p:sp>
        <p:nvSpPr>
          <p:cNvPr id="7" name="Rectangle 6"/>
          <p:cNvSpPr/>
          <p:nvPr/>
        </p:nvSpPr>
        <p:spPr>
          <a:xfrm>
            <a:off x="731520" y="1371600"/>
            <a:ext cx="3154680" cy="4846320"/>
          </a:xfrm>
          <a:prstGeom prst="rect">
            <a:avLst/>
          </a:prstGeom>
          <a:solidFill>
            <a:srgbClr val="FFFFFF"/>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54480"/>
            <a:ext cx="2788920" cy="4480560"/>
          </a:xfrm>
          <a:prstGeom prst="rect">
            <a:avLst/>
          </a:prstGeom>
          <a:noFill/>
        </p:spPr>
        <p:txBody>
          <a:bodyPr wrap="square">
            <a:spAutoFit/>
          </a:bodyPr>
          <a:lstStyle/>
          <a:p>
            <a:pPr>
              <a:spcAft>
                <a:spcPts val="1200"/>
              </a:spcAft>
              <a:defRPr sz="1400" b="1">
                <a:solidFill>
                  <a:srgbClr val="176B4E"/>
                </a:solidFill>
                <a:latin typeface="Cambria"/>
              </a:defRPr>
            </a:pPr>
            <a:r>
              <a:t>Presentation Tier</a:t>
            </a:r>
            <a:br/>
            <a:r>
              <a:t>(React Client)</a:t>
            </a:r>
          </a:p>
          <a:p>
            <a:pPr>
              <a:spcAft>
                <a:spcPts val="600"/>
              </a:spcAft>
            </a:pPr>
            <a:r>
              <a:rPr sz="950" b="1">
                <a:solidFill>
                  <a:srgbClr val="1A202C"/>
                </a:solidFill>
                <a:latin typeface="Calibri"/>
              </a:rPr>
              <a:t>• Vite SPA Framework: </a:t>
            </a:r>
            <a:r>
              <a:rPr sz="900">
                <a:solidFill>
                  <a:srgbClr val="2D3748"/>
                </a:solidFill>
                <a:latin typeface="Calibri"/>
              </a:rPr>
              <a:t>High-performance React 19 architecture with sub-second hot reloading.</a:t>
            </a:r>
          </a:p>
          <a:p>
            <a:pPr>
              <a:spcAft>
                <a:spcPts val="600"/>
              </a:spcAft>
            </a:pPr>
            <a:r>
              <a:rPr sz="950" b="1">
                <a:solidFill>
                  <a:srgbClr val="1A202C"/>
                </a:solidFill>
                <a:latin typeface="Calibri"/>
              </a:rPr>
              <a:t>• React Router Navigation: </a:t>
            </a:r>
            <a:r>
              <a:rPr sz="900">
                <a:solidFill>
                  <a:srgbClr val="2D3748"/>
                </a:solidFill>
                <a:latin typeface="Calibri"/>
              </a:rPr>
              <a:t>Client-side declarative routing with role-protected view boundaries.</a:t>
            </a:r>
          </a:p>
          <a:p>
            <a:pPr>
              <a:spcAft>
                <a:spcPts val="600"/>
              </a:spcAft>
            </a:pPr>
            <a:r>
              <a:rPr sz="950" b="1">
                <a:solidFill>
                  <a:srgbClr val="1A202C"/>
                </a:solidFill>
                <a:latin typeface="Calibri"/>
              </a:rPr>
              <a:t>• Role-Based Views: </a:t>
            </a:r>
            <a:r>
              <a:rPr sz="900">
                <a:solidFill>
                  <a:srgbClr val="2D3748"/>
                </a:solidFill>
                <a:latin typeface="Calibri"/>
              </a:rPr>
              <a:t>Custom user interfaces for Learner, Mentor, and Admin workflows.</a:t>
            </a:r>
          </a:p>
          <a:p>
            <a:pPr>
              <a:spcAft>
                <a:spcPts val="600"/>
              </a:spcAft>
            </a:pPr>
            <a:r>
              <a:rPr sz="950" b="1">
                <a:solidFill>
                  <a:srgbClr val="1A202C"/>
                </a:solidFill>
                <a:latin typeface="Calibri"/>
              </a:rPr>
              <a:t>• Socket.io Client: </a:t>
            </a:r>
            <a:r>
              <a:rPr sz="900">
                <a:solidFill>
                  <a:srgbClr val="2D3748"/>
                </a:solidFill>
                <a:latin typeface="Calibri"/>
              </a:rPr>
              <a:t>Persistent WebSocket event listener for live chat and notifications.</a:t>
            </a:r>
          </a:p>
          <a:p>
            <a:pPr>
              <a:spcAft>
                <a:spcPts val="600"/>
              </a:spcAft>
            </a:pPr>
            <a:r>
              <a:rPr sz="950" b="1">
                <a:solidFill>
                  <a:srgbClr val="1A202C"/>
                </a:solidFill>
                <a:latin typeface="Calibri"/>
              </a:rPr>
              <a:t>• Token Persistence: </a:t>
            </a:r>
            <a:r>
              <a:rPr sz="900">
                <a:solidFill>
                  <a:srgbClr val="2D3748"/>
                </a:solidFill>
                <a:latin typeface="Calibri"/>
              </a:rPr>
              <a:t>Secure browser storage of JWT tokens with auto-authorization headers.</a:t>
            </a:r>
          </a:p>
          <a:p>
            <a:pPr>
              <a:spcAft>
                <a:spcPts val="600"/>
              </a:spcAft>
            </a:pPr>
            <a:r>
              <a:rPr sz="950" b="1">
                <a:solidFill>
                  <a:srgbClr val="1A202C"/>
                </a:solidFill>
                <a:latin typeface="Calibri"/>
              </a:rPr>
              <a:t>• Responsive Layout: </a:t>
            </a:r>
            <a:r>
              <a:rPr sz="900">
                <a:solidFill>
                  <a:srgbClr val="2D3748"/>
                </a:solidFill>
                <a:latin typeface="Calibri"/>
              </a:rPr>
              <a:t>Adaptive flexbox and grid layouts responsive on mobile (390px) &amp; desktop.</a:t>
            </a:r>
          </a:p>
        </p:txBody>
      </p:sp>
      <p:sp>
        <p:nvSpPr>
          <p:cNvPr id="9" name="TextBox 8"/>
          <p:cNvSpPr txBox="1"/>
          <p:nvPr/>
        </p:nvSpPr>
        <p:spPr>
          <a:xfrm>
            <a:off x="3931920" y="2926080"/>
            <a:ext cx="640080" cy="1371600"/>
          </a:xfrm>
          <a:prstGeom prst="rect">
            <a:avLst/>
          </a:prstGeom>
          <a:noFill/>
        </p:spPr>
        <p:txBody>
          <a:bodyPr wrap="square">
            <a:spAutoFit/>
          </a:bodyPr>
          <a:lstStyle/>
          <a:p>
            <a:pPr algn="ctr">
              <a:defRPr sz="900" b="1">
                <a:solidFill>
                  <a:srgbClr val="176B4E"/>
                </a:solidFill>
                <a:latin typeface="Calibri"/>
              </a:defRPr>
            </a:pPr>
            <a:r>
              <a:t>REST</a:t>
            </a:r>
            <a:br/>
            <a:r>
              <a:t>APIs</a:t>
            </a:r>
            <a:br/>
            <a:r>
              <a:t>↕</a:t>
            </a:r>
            <a:br/>
            <a:r>
              <a:t>Web</a:t>
            </a:r>
            <a:br/>
            <a:r>
              <a:t>Sockets</a:t>
            </a:r>
          </a:p>
        </p:txBody>
      </p:sp>
      <p:sp>
        <p:nvSpPr>
          <p:cNvPr id="10" name="Rectangle 9"/>
          <p:cNvSpPr/>
          <p:nvPr/>
        </p:nvSpPr>
        <p:spPr>
          <a:xfrm>
            <a:off x="4517136" y="1371600"/>
            <a:ext cx="3154680" cy="4846320"/>
          </a:xfrm>
          <a:prstGeom prst="rect">
            <a:avLst/>
          </a:prstGeom>
          <a:solidFill>
            <a:srgbClr val="F4F8F5"/>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00016" y="1554480"/>
            <a:ext cx="2788920" cy="4480560"/>
          </a:xfrm>
          <a:prstGeom prst="rect">
            <a:avLst/>
          </a:prstGeom>
          <a:noFill/>
        </p:spPr>
        <p:txBody>
          <a:bodyPr wrap="square">
            <a:spAutoFit/>
          </a:bodyPr>
          <a:lstStyle/>
          <a:p>
            <a:pPr>
              <a:spcAft>
                <a:spcPts val="1200"/>
              </a:spcAft>
              <a:defRPr sz="1400" b="1">
                <a:solidFill>
                  <a:srgbClr val="176B4E"/>
                </a:solidFill>
                <a:latin typeface="Cambria"/>
              </a:defRPr>
            </a:pPr>
            <a:r>
              <a:t>Application Tier</a:t>
            </a:r>
            <a:br/>
            <a:r>
              <a:t>(Node.js &amp; Express API)</a:t>
            </a:r>
          </a:p>
          <a:p>
            <a:pPr>
              <a:spcAft>
                <a:spcPts val="600"/>
              </a:spcAft>
            </a:pPr>
            <a:r>
              <a:rPr sz="950" b="1">
                <a:solidFill>
                  <a:srgbClr val="1A202C"/>
                </a:solidFill>
                <a:latin typeface="Calibri"/>
              </a:rPr>
              <a:t>• JWT Auth Middleware: </a:t>
            </a:r>
            <a:r>
              <a:rPr sz="900">
                <a:solidFill>
                  <a:srgbClr val="2D3748"/>
                </a:solidFill>
                <a:latin typeface="Calibri"/>
              </a:rPr>
              <a:t>Verifies digital signatures, extracts claims, and blocks unauthorized traffic.</a:t>
            </a:r>
          </a:p>
          <a:p>
            <a:pPr>
              <a:spcAft>
                <a:spcPts val="600"/>
              </a:spcAft>
            </a:pPr>
            <a:r>
              <a:rPr sz="950" b="1">
                <a:solidFill>
                  <a:srgbClr val="1A202C"/>
                </a:solidFill>
                <a:latin typeface="Calibri"/>
              </a:rPr>
              <a:t>• RBAC Route Guards: </a:t>
            </a:r>
            <a:r>
              <a:rPr sz="900">
                <a:solidFill>
                  <a:srgbClr val="2D3748"/>
                </a:solidFill>
                <a:latin typeface="Calibri"/>
              </a:rPr>
              <a:t>Enforces strict authorization: learner, mentor, or admin access levels.</a:t>
            </a:r>
          </a:p>
          <a:p>
            <a:pPr>
              <a:spcAft>
                <a:spcPts val="600"/>
              </a:spcAft>
            </a:pPr>
            <a:r>
              <a:rPr sz="950" b="1">
                <a:solidFill>
                  <a:srgbClr val="1A202C"/>
                </a:solidFill>
                <a:latin typeface="Calibri"/>
              </a:rPr>
              <a:t>• Booking State Engine: </a:t>
            </a:r>
            <a:r>
              <a:rPr sz="900">
                <a:solidFill>
                  <a:srgbClr val="2D3748"/>
                </a:solidFill>
                <a:latin typeface="Calibri"/>
              </a:rPr>
              <a:t>Manages 5-step lifecycle, 4-hour timers, and slot negotiation rules.</a:t>
            </a:r>
          </a:p>
          <a:p>
            <a:pPr>
              <a:spcAft>
                <a:spcPts val="600"/>
              </a:spcAft>
            </a:pPr>
            <a:r>
              <a:rPr sz="950" b="1">
                <a:solidFill>
                  <a:srgbClr val="1A202C"/>
                </a:solidFill>
                <a:latin typeface="Calibri"/>
              </a:rPr>
              <a:t>• Socket.io Event Server: </a:t>
            </a:r>
            <a:r>
              <a:rPr sz="900">
                <a:solidFill>
                  <a:srgbClr val="2D3748"/>
                </a:solidFill>
                <a:latin typeface="Calibri"/>
              </a:rPr>
              <a:t>Broadcasts 1-on-1 messages, typing status, and read receipt events.</a:t>
            </a:r>
          </a:p>
          <a:p>
            <a:pPr>
              <a:spcAft>
                <a:spcPts val="600"/>
              </a:spcAft>
            </a:pPr>
            <a:r>
              <a:rPr sz="950" b="1">
                <a:solidFill>
                  <a:srgbClr val="1A202C"/>
                </a:solidFill>
                <a:latin typeface="Calibri"/>
              </a:rPr>
              <a:t>• AI Matcher Service: </a:t>
            </a:r>
            <a:r>
              <a:rPr sz="900">
                <a:solidFill>
                  <a:srgbClr val="2D3748"/>
                </a:solidFill>
                <a:latin typeface="Calibri"/>
              </a:rPr>
              <a:t>Multi-factor scoring algorithm with optional Gemini AI re-ranking.</a:t>
            </a:r>
          </a:p>
          <a:p>
            <a:pPr>
              <a:spcAft>
                <a:spcPts val="600"/>
              </a:spcAft>
            </a:pPr>
            <a:r>
              <a:rPr sz="950" b="1">
                <a:solidFill>
                  <a:srgbClr val="1A202C"/>
                </a:solidFill>
                <a:latin typeface="Calibri"/>
              </a:rPr>
              <a:t>• Error &amp; Rate Controls: </a:t>
            </a:r>
            <a:r>
              <a:rPr sz="900">
                <a:solidFill>
                  <a:srgbClr val="2D3748"/>
                </a:solidFill>
                <a:latin typeface="Calibri"/>
              </a:rPr>
              <a:t>Structured JSON error handling, input validation, and API rate limits.</a:t>
            </a:r>
          </a:p>
        </p:txBody>
      </p:sp>
      <p:sp>
        <p:nvSpPr>
          <p:cNvPr id="12" name="TextBox 11"/>
          <p:cNvSpPr txBox="1"/>
          <p:nvPr/>
        </p:nvSpPr>
        <p:spPr>
          <a:xfrm>
            <a:off x="7717536" y="3291840"/>
            <a:ext cx="594360" cy="914400"/>
          </a:xfrm>
          <a:prstGeom prst="rect">
            <a:avLst/>
          </a:prstGeom>
          <a:noFill/>
        </p:spPr>
        <p:txBody>
          <a:bodyPr wrap="square">
            <a:spAutoFit/>
          </a:bodyPr>
          <a:lstStyle/>
          <a:p>
            <a:pPr algn="ctr">
              <a:defRPr sz="900" b="1">
                <a:solidFill>
                  <a:srgbClr val="176B4E"/>
                </a:solidFill>
                <a:latin typeface="Calibri"/>
              </a:defRPr>
            </a:pPr>
            <a:r>
              <a:t>Mongoose</a:t>
            </a:r>
            <a:br/>
            <a:r>
              <a:t>ODM</a:t>
            </a:r>
            <a:br/>
            <a:r>
              <a:t>↕</a:t>
            </a:r>
          </a:p>
        </p:txBody>
      </p:sp>
      <p:sp>
        <p:nvSpPr>
          <p:cNvPr id="13" name="Rectangle 12"/>
          <p:cNvSpPr/>
          <p:nvPr/>
        </p:nvSpPr>
        <p:spPr>
          <a:xfrm>
            <a:off x="8302752" y="1371600"/>
            <a:ext cx="3154680" cy="4846320"/>
          </a:xfrm>
          <a:prstGeom prst="rect">
            <a:avLst/>
          </a:prstGeom>
          <a:solidFill>
            <a:srgbClr val="FFFFFF"/>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85632" y="1554480"/>
            <a:ext cx="2788920" cy="4480560"/>
          </a:xfrm>
          <a:prstGeom prst="rect">
            <a:avLst/>
          </a:prstGeom>
          <a:noFill/>
        </p:spPr>
        <p:txBody>
          <a:bodyPr wrap="square">
            <a:spAutoFit/>
          </a:bodyPr>
          <a:lstStyle/>
          <a:p>
            <a:pPr>
              <a:spcAft>
                <a:spcPts val="1200"/>
              </a:spcAft>
              <a:defRPr sz="1400" b="1">
                <a:solidFill>
                  <a:srgbClr val="176B4E"/>
                </a:solidFill>
                <a:latin typeface="Cambria"/>
              </a:defRPr>
            </a:pPr>
            <a:r>
              <a:t>Data &amp; Services Tier</a:t>
            </a:r>
            <a:br/>
            <a:r>
              <a:t>(MongoDB &amp; Cloud Services)</a:t>
            </a:r>
          </a:p>
          <a:p>
            <a:pPr>
              <a:spcAft>
                <a:spcPts val="600"/>
              </a:spcAft>
            </a:pPr>
            <a:r>
              <a:rPr sz="950" b="1">
                <a:solidFill>
                  <a:srgbClr val="1A202C"/>
                </a:solidFill>
                <a:latin typeface="Calibri"/>
              </a:rPr>
              <a:t>• MongoDB Atlas Cluster: </a:t>
            </a:r>
            <a:r>
              <a:rPr sz="900">
                <a:solidFill>
                  <a:srgbClr val="2D3748"/>
                </a:solidFill>
                <a:latin typeface="Calibri"/>
              </a:rPr>
              <a:t>High-availability cloud NoSQL database with automated replication.</a:t>
            </a:r>
          </a:p>
          <a:p>
            <a:pPr>
              <a:spcAft>
                <a:spcPts val="600"/>
              </a:spcAft>
            </a:pPr>
            <a:r>
              <a:rPr sz="950" b="1">
                <a:solidFill>
                  <a:srgbClr val="1A202C"/>
                </a:solidFill>
                <a:latin typeface="Calibri"/>
              </a:rPr>
              <a:t>• Mongoose Schemas: </a:t>
            </a:r>
            <a:r>
              <a:rPr sz="900">
                <a:solidFill>
                  <a:srgbClr val="2D3748"/>
                </a:solidFill>
                <a:latin typeface="Calibri"/>
              </a:rPr>
              <a:t>Strict schema definitions, field validation, and ObjectId references.</a:t>
            </a:r>
          </a:p>
          <a:p>
            <a:pPr>
              <a:spcAft>
                <a:spcPts val="600"/>
              </a:spcAft>
            </a:pPr>
            <a:r>
              <a:rPr sz="950" b="1">
                <a:solidFill>
                  <a:srgbClr val="1A202C"/>
                </a:solidFill>
                <a:latin typeface="Calibri"/>
              </a:rPr>
              <a:t>• 8 Primary Collections: </a:t>
            </a:r>
            <a:r>
              <a:rPr sz="900">
                <a:solidFill>
                  <a:srgbClr val="2D3748"/>
                </a:solidFill>
                <a:latin typeface="Calibri"/>
              </a:rPr>
              <a:t>Users, Bookings, Conversations, Messages, Reviews, Wallets, Logs, Settings.</a:t>
            </a:r>
          </a:p>
          <a:p>
            <a:pPr>
              <a:spcAft>
                <a:spcPts val="600"/>
              </a:spcAft>
            </a:pPr>
            <a:r>
              <a:rPr sz="950" b="1">
                <a:solidFill>
                  <a:srgbClr val="1A202C"/>
                </a:solidFill>
                <a:latin typeface="Calibri"/>
              </a:rPr>
              <a:t>• Razorpay Integration: </a:t>
            </a:r>
            <a:r>
              <a:rPr sz="900">
                <a:solidFill>
                  <a:srgbClr val="2D3748"/>
                </a:solidFill>
                <a:latin typeface="Calibri"/>
              </a:rPr>
              <a:t>Automated order creation, checkout verification, and webhook handling.</a:t>
            </a:r>
          </a:p>
          <a:p>
            <a:pPr>
              <a:spcAft>
                <a:spcPts val="600"/>
              </a:spcAft>
            </a:pPr>
            <a:r>
              <a:rPr sz="950" b="1">
                <a:solidFill>
                  <a:srgbClr val="1A202C"/>
                </a:solidFill>
                <a:latin typeface="Calibri"/>
              </a:rPr>
              <a:t>• Google Meet Linker: </a:t>
            </a:r>
            <a:r>
              <a:rPr sz="900">
                <a:solidFill>
                  <a:srgbClr val="2D3748"/>
                </a:solidFill>
                <a:latin typeface="Calibri"/>
              </a:rPr>
              <a:t>Generates valid video conference meeting URLs for confirmed calls.</a:t>
            </a:r>
          </a:p>
          <a:p>
            <a:pPr>
              <a:spcAft>
                <a:spcPts val="600"/>
              </a:spcAft>
            </a:pPr>
            <a:r>
              <a:rPr sz="950" b="1">
                <a:solidFill>
                  <a:srgbClr val="1A202C"/>
                </a:solidFill>
                <a:latin typeface="Calibri"/>
              </a:rPr>
              <a:t>• Google Gemini AI SDK: </a:t>
            </a:r>
            <a:r>
              <a:rPr sz="900">
                <a:solidFill>
                  <a:srgbClr val="2D3748"/>
                </a:solidFill>
                <a:latin typeface="Calibri"/>
              </a:rPr>
              <a:t>Optional LLM re-ranking for contextual mentor recommendations.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BF9"/>
        </a:solidFill>
        <a:effectLst/>
      </p:bgPr>
    </p:bg>
    <p:spTree>
      <p:nvGrpSpPr>
        <p:cNvPr id="1" name=""/>
        <p:cNvGrpSpPr/>
        <p:nvPr/>
      </p:nvGrpSpPr>
      <p:grpSpPr/>
      <p:sp>
        <p:nvSpPr>
          <p:cNvPr id="2" name="TextBox 1"/>
          <p:cNvSpPr txBox="1"/>
          <p:nvPr/>
        </p:nvSpPr>
        <p:spPr>
          <a:xfrm>
            <a:off x="731520" y="365760"/>
            <a:ext cx="10698480" cy="256032"/>
          </a:xfrm>
          <a:prstGeom prst="rect">
            <a:avLst/>
          </a:prstGeom>
          <a:noFill/>
        </p:spPr>
        <p:txBody>
          <a:bodyPr wrap="square" lIns="0" tIns="0" rIns="0" bIns="0">
            <a:spAutoFit/>
          </a:bodyPr>
          <a:lstStyle/>
          <a:p>
            <a:pPr>
              <a:defRPr sz="950" b="1">
                <a:solidFill>
                  <a:srgbClr val="176B4E"/>
                </a:solidFill>
                <a:latin typeface="Calibri"/>
              </a:defRPr>
            </a:pPr>
            <a:r>
              <a:t>ENGINEERING FOUNDATION</a:t>
            </a:r>
          </a:p>
        </p:txBody>
      </p:sp>
      <p:sp>
        <p:nvSpPr>
          <p:cNvPr id="3" name="TextBox 2"/>
          <p:cNvSpPr txBox="1"/>
          <p:nvPr/>
        </p:nvSpPr>
        <p:spPr>
          <a:xfrm>
            <a:off x="731520" y="603504"/>
            <a:ext cx="10698480" cy="457200"/>
          </a:xfrm>
          <a:prstGeom prst="rect">
            <a:avLst/>
          </a:prstGeom>
          <a:noFill/>
        </p:spPr>
        <p:txBody>
          <a:bodyPr wrap="square" lIns="0" tIns="0" rIns="0" bIns="0">
            <a:spAutoFit/>
          </a:bodyPr>
          <a:lstStyle/>
          <a:p>
            <a:pPr>
              <a:defRPr sz="2100" b="1">
                <a:solidFill>
                  <a:srgbClr val="1A202C"/>
                </a:solidFill>
                <a:latin typeface="Cambria"/>
              </a:defRPr>
            </a:pPr>
            <a:r>
              <a:t>Technology Stack: Modern MERN Implementation</a:t>
            </a:r>
          </a:p>
        </p:txBody>
      </p:sp>
      <p:sp>
        <p:nvSpPr>
          <p:cNvPr id="4" name="Rectangle 3"/>
          <p:cNvSpPr/>
          <p:nvPr/>
        </p:nvSpPr>
        <p:spPr>
          <a:xfrm>
            <a:off x="731520" y="11155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92240"/>
            <a:ext cx="7315200" cy="274320"/>
          </a:xfrm>
          <a:prstGeom prst="rect">
            <a:avLst/>
          </a:prstGeom>
          <a:noFill/>
        </p:spPr>
        <p:txBody>
          <a:bodyPr wrap="none" lIns="0" tIns="0" rIns="0" bIns="0">
            <a:spAutoFit/>
          </a:bodyPr>
          <a:lstStyle/>
          <a:p>
            <a:pPr>
              <a:defRPr sz="900">
                <a:solidFill>
                  <a:srgbClr val="5A6578"/>
                </a:solidFill>
                <a:latin typeface="Calibri"/>
              </a:defRPr>
            </a:pPr>
            <a:r>
              <a:t>Skill Exchange · B.Tech CSE Capstone Project (Team CosmicCoder · Group 13)</a:t>
            </a:r>
          </a:p>
        </p:txBody>
      </p:sp>
      <p:sp>
        <p:nvSpPr>
          <p:cNvPr id="6" name="TextBox 5"/>
          <p:cNvSpPr txBox="1"/>
          <p:nvPr/>
        </p:nvSpPr>
        <p:spPr>
          <a:xfrm>
            <a:off x="8686800" y="6492240"/>
            <a:ext cx="2743200" cy="274320"/>
          </a:xfrm>
          <a:prstGeom prst="rect">
            <a:avLst/>
          </a:prstGeom>
          <a:noFill/>
        </p:spPr>
        <p:txBody>
          <a:bodyPr wrap="none" lIns="0" tIns="0" rIns="0" bIns="0">
            <a:spAutoFit/>
          </a:bodyPr>
          <a:lstStyle/>
          <a:p>
            <a:pPr algn="r">
              <a:defRPr sz="900" b="1">
                <a:solidFill>
                  <a:srgbClr val="5A6578"/>
                </a:solidFill>
                <a:latin typeface="Calibri"/>
              </a:defRPr>
            </a:pPr>
            <a:r>
              <a:t>Slide 5 of 22</a:t>
            </a:r>
          </a:p>
        </p:txBody>
      </p:sp>
      <p:sp>
        <p:nvSpPr>
          <p:cNvPr id="7" name="Rectangle 6"/>
          <p:cNvSpPr/>
          <p:nvPr/>
        </p:nvSpPr>
        <p:spPr>
          <a:xfrm>
            <a:off x="731520" y="1325880"/>
            <a:ext cx="3328416" cy="24231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463040"/>
            <a:ext cx="2999232" cy="2148840"/>
          </a:xfrm>
          <a:prstGeom prst="rect">
            <a:avLst/>
          </a:prstGeom>
          <a:noFill/>
        </p:spPr>
        <p:txBody>
          <a:bodyPr wrap="square">
            <a:spAutoFit/>
          </a:bodyPr>
          <a:lstStyle/>
          <a:p>
            <a:pPr>
              <a:spcAft>
                <a:spcPts val="200"/>
              </a:spcAft>
              <a:defRPr sz="1200" b="1">
                <a:solidFill>
                  <a:srgbClr val="176B4E"/>
                </a:solidFill>
                <a:latin typeface="Cambria"/>
              </a:defRPr>
            </a:pPr>
            <a:r>
              <a:t>Frontend: React.js 19 + Vite</a:t>
            </a:r>
          </a:p>
          <a:p>
            <a:pPr>
              <a:spcAft>
                <a:spcPts val="600"/>
              </a:spcAft>
              <a:defRPr sz="900">
                <a:solidFill>
                  <a:srgbClr val="5A6578"/>
                </a:solidFill>
                <a:latin typeface="Calibri"/>
              </a:defRPr>
            </a:pPr>
            <a:r>
              <a:t>UI &amp; Client Framework</a:t>
            </a:r>
          </a:p>
          <a:p>
            <a:pPr>
              <a:spcAft>
                <a:spcPts val="300"/>
              </a:spcAft>
              <a:defRPr sz="900">
                <a:solidFill>
                  <a:srgbClr val="2D3748"/>
                </a:solidFill>
                <a:latin typeface="Calibri"/>
              </a:defRPr>
            </a:pPr>
            <a:r>
              <a:t>• Component-driven single page application (SPA).</a:t>
            </a:r>
          </a:p>
          <a:p>
            <a:pPr>
              <a:spcAft>
                <a:spcPts val="300"/>
              </a:spcAft>
              <a:defRPr sz="900">
                <a:solidFill>
                  <a:srgbClr val="2D3748"/>
                </a:solidFill>
                <a:latin typeface="Calibri"/>
              </a:defRPr>
            </a:pPr>
            <a:r>
              <a:t>• Vite bundler providing sub-second hot module replacement.</a:t>
            </a:r>
          </a:p>
          <a:p>
            <a:pPr>
              <a:spcAft>
                <a:spcPts val="300"/>
              </a:spcAft>
              <a:defRPr sz="900">
                <a:solidFill>
                  <a:srgbClr val="2D3748"/>
                </a:solidFill>
                <a:latin typeface="Calibri"/>
              </a:defRPr>
            </a:pPr>
            <a:r>
              <a:t>• React Router DOM for protected, role-based navigation.</a:t>
            </a:r>
          </a:p>
          <a:p>
            <a:pPr>
              <a:spcAft>
                <a:spcPts val="300"/>
              </a:spcAft>
              <a:defRPr sz="900">
                <a:solidFill>
                  <a:srgbClr val="2D3748"/>
                </a:solidFill>
                <a:latin typeface="Calibri"/>
              </a:defRPr>
            </a:pPr>
            <a:r>
              <a:t>• Lucide React icon library and custom CSS variable themes.</a:t>
            </a:r>
          </a:p>
        </p:txBody>
      </p:sp>
      <p:sp>
        <p:nvSpPr>
          <p:cNvPr id="9" name="Rectangle 8"/>
          <p:cNvSpPr/>
          <p:nvPr/>
        </p:nvSpPr>
        <p:spPr>
          <a:xfrm>
            <a:off x="4425696" y="1325880"/>
            <a:ext cx="3328416" cy="24231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0288" y="1463040"/>
            <a:ext cx="2999232" cy="2148840"/>
          </a:xfrm>
          <a:prstGeom prst="rect">
            <a:avLst/>
          </a:prstGeom>
          <a:noFill/>
        </p:spPr>
        <p:txBody>
          <a:bodyPr wrap="square">
            <a:spAutoFit/>
          </a:bodyPr>
          <a:lstStyle/>
          <a:p>
            <a:pPr>
              <a:spcAft>
                <a:spcPts val="200"/>
              </a:spcAft>
              <a:defRPr sz="1200" b="1">
                <a:solidFill>
                  <a:srgbClr val="176B4E"/>
                </a:solidFill>
                <a:latin typeface="Cambria"/>
              </a:defRPr>
            </a:pPr>
            <a:r>
              <a:t>Backend: Node.js + Express.js</a:t>
            </a:r>
          </a:p>
          <a:p>
            <a:pPr>
              <a:spcAft>
                <a:spcPts val="600"/>
              </a:spcAft>
              <a:defRPr sz="900">
                <a:solidFill>
                  <a:srgbClr val="5A6578"/>
                </a:solidFill>
                <a:latin typeface="Calibri"/>
              </a:defRPr>
            </a:pPr>
            <a:r>
              <a:t>Server &amp; RESTful API</a:t>
            </a:r>
          </a:p>
          <a:p>
            <a:pPr>
              <a:spcAft>
                <a:spcPts val="300"/>
              </a:spcAft>
              <a:defRPr sz="900">
                <a:solidFill>
                  <a:srgbClr val="2D3748"/>
                </a:solidFill>
                <a:latin typeface="Calibri"/>
              </a:defRPr>
            </a:pPr>
            <a:r>
              <a:t>• Asynchronous, event-driven Node.js runtime environment.</a:t>
            </a:r>
          </a:p>
          <a:p>
            <a:pPr>
              <a:spcAft>
                <a:spcPts val="300"/>
              </a:spcAft>
              <a:defRPr sz="900">
                <a:solidFill>
                  <a:srgbClr val="2D3748"/>
                </a:solidFill>
                <a:latin typeface="Calibri"/>
              </a:defRPr>
            </a:pPr>
            <a:r>
              <a:t>• Modular Express routing with centralized error middleware.</a:t>
            </a:r>
          </a:p>
          <a:p>
            <a:pPr>
              <a:spcAft>
                <a:spcPts val="300"/>
              </a:spcAft>
              <a:defRPr sz="900">
                <a:solidFill>
                  <a:srgbClr val="2D3748"/>
                </a:solidFill>
                <a:latin typeface="Calibri"/>
              </a:defRPr>
            </a:pPr>
            <a:r>
              <a:t>• Request validation and structured JSON response schemas.</a:t>
            </a:r>
          </a:p>
          <a:p>
            <a:pPr>
              <a:spcAft>
                <a:spcPts val="300"/>
              </a:spcAft>
              <a:defRPr sz="900">
                <a:solidFill>
                  <a:srgbClr val="2D3748"/>
                </a:solidFill>
                <a:latin typeface="Calibri"/>
              </a:defRPr>
            </a:pPr>
            <a:r>
              <a:t>• 59 REST API endpoints covering all system capabilities.</a:t>
            </a:r>
          </a:p>
        </p:txBody>
      </p:sp>
      <p:sp>
        <p:nvSpPr>
          <p:cNvPr id="11" name="Rectangle 10"/>
          <p:cNvSpPr/>
          <p:nvPr/>
        </p:nvSpPr>
        <p:spPr>
          <a:xfrm>
            <a:off x="8119872" y="1325880"/>
            <a:ext cx="3328416" cy="24231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4464" y="1463040"/>
            <a:ext cx="2999232" cy="2148840"/>
          </a:xfrm>
          <a:prstGeom prst="rect">
            <a:avLst/>
          </a:prstGeom>
          <a:noFill/>
        </p:spPr>
        <p:txBody>
          <a:bodyPr wrap="square">
            <a:spAutoFit/>
          </a:bodyPr>
          <a:lstStyle/>
          <a:p>
            <a:pPr>
              <a:spcAft>
                <a:spcPts val="200"/>
              </a:spcAft>
              <a:defRPr sz="1200" b="1">
                <a:solidFill>
                  <a:srgbClr val="176B4E"/>
                </a:solidFill>
                <a:latin typeface="Cambria"/>
              </a:defRPr>
            </a:pPr>
            <a:r>
              <a:t>Database: MongoDB Atlas</a:t>
            </a:r>
          </a:p>
          <a:p>
            <a:pPr>
              <a:spcAft>
                <a:spcPts val="600"/>
              </a:spcAft>
              <a:defRPr sz="900">
                <a:solidFill>
                  <a:srgbClr val="5A6578"/>
                </a:solidFill>
                <a:latin typeface="Calibri"/>
              </a:defRPr>
            </a:pPr>
            <a:r>
              <a:t>Cloud NoSQL Data Layer</a:t>
            </a:r>
          </a:p>
          <a:p>
            <a:pPr>
              <a:spcAft>
                <a:spcPts val="300"/>
              </a:spcAft>
              <a:defRPr sz="900">
                <a:solidFill>
                  <a:srgbClr val="2D3748"/>
                </a:solidFill>
                <a:latin typeface="Calibri"/>
              </a:defRPr>
            </a:pPr>
            <a:r>
              <a:t>• Cloud document database with automated replica sets.</a:t>
            </a:r>
          </a:p>
          <a:p>
            <a:pPr>
              <a:spcAft>
                <a:spcPts val="300"/>
              </a:spcAft>
              <a:defRPr sz="900">
                <a:solidFill>
                  <a:srgbClr val="2D3748"/>
                </a:solidFill>
                <a:latin typeface="Calibri"/>
              </a:defRPr>
            </a:pPr>
            <a:r>
              <a:t>• Mongoose Object Data Modeling (ODM) for strict typing.</a:t>
            </a:r>
          </a:p>
          <a:p>
            <a:pPr>
              <a:spcAft>
                <a:spcPts val="300"/>
              </a:spcAft>
              <a:defRPr sz="900">
                <a:solidFill>
                  <a:srgbClr val="2D3748"/>
                </a:solidFill>
                <a:latin typeface="Calibri"/>
              </a:defRPr>
            </a:pPr>
            <a:r>
              <a:t>• Relational references and aggregation pipelines for reviews.</a:t>
            </a:r>
          </a:p>
          <a:p>
            <a:pPr>
              <a:spcAft>
                <a:spcPts val="300"/>
              </a:spcAft>
              <a:defRPr sz="900">
                <a:solidFill>
                  <a:srgbClr val="2D3748"/>
                </a:solidFill>
                <a:latin typeface="Calibri"/>
              </a:defRPr>
            </a:pPr>
            <a:r>
              <a:t>• Indexed fields on user names, skills, and booking statuses.</a:t>
            </a:r>
          </a:p>
        </p:txBody>
      </p:sp>
      <p:sp>
        <p:nvSpPr>
          <p:cNvPr id="13" name="Rectangle 12"/>
          <p:cNvSpPr/>
          <p:nvPr/>
        </p:nvSpPr>
        <p:spPr>
          <a:xfrm>
            <a:off x="731520" y="3886200"/>
            <a:ext cx="3328416" cy="24231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4023360"/>
            <a:ext cx="2999232" cy="2148840"/>
          </a:xfrm>
          <a:prstGeom prst="rect">
            <a:avLst/>
          </a:prstGeom>
          <a:noFill/>
        </p:spPr>
        <p:txBody>
          <a:bodyPr wrap="square">
            <a:spAutoFit/>
          </a:bodyPr>
          <a:lstStyle/>
          <a:p>
            <a:pPr>
              <a:spcAft>
                <a:spcPts val="200"/>
              </a:spcAft>
              <a:defRPr sz="1200" b="1">
                <a:solidFill>
                  <a:srgbClr val="176B4E"/>
                </a:solidFill>
                <a:latin typeface="Cambria"/>
              </a:defRPr>
            </a:pPr>
            <a:r>
              <a:t>Security: JWT &amp; Bcrypt</a:t>
            </a:r>
          </a:p>
          <a:p>
            <a:pPr>
              <a:spcAft>
                <a:spcPts val="600"/>
              </a:spcAft>
              <a:defRPr sz="900">
                <a:solidFill>
                  <a:srgbClr val="5A6578"/>
                </a:solidFill>
                <a:latin typeface="Calibri"/>
              </a:defRPr>
            </a:pPr>
            <a:r>
              <a:t>Authentication &amp; Cryptography</a:t>
            </a:r>
          </a:p>
          <a:p>
            <a:pPr>
              <a:spcAft>
                <a:spcPts val="300"/>
              </a:spcAft>
              <a:defRPr sz="900">
                <a:solidFill>
                  <a:srgbClr val="2D3748"/>
                </a:solidFill>
                <a:latin typeface="Calibri"/>
              </a:defRPr>
            </a:pPr>
            <a:r>
              <a:t>• 10-round salted Bcrypt password hashing prior to storage.</a:t>
            </a:r>
          </a:p>
          <a:p>
            <a:pPr>
              <a:spcAft>
                <a:spcPts val="300"/>
              </a:spcAft>
              <a:defRPr sz="900">
                <a:solidFill>
                  <a:srgbClr val="2D3748"/>
                </a:solidFill>
                <a:latin typeface="Calibri"/>
              </a:defRPr>
            </a:pPr>
            <a:r>
              <a:t>• Stateless JSON Web Tokens with HS256 cryptographic signatures.</a:t>
            </a:r>
          </a:p>
          <a:p>
            <a:pPr>
              <a:spcAft>
                <a:spcPts val="300"/>
              </a:spcAft>
              <a:defRPr sz="900">
                <a:solidFill>
                  <a:srgbClr val="2D3748"/>
                </a:solidFill>
                <a:latin typeface="Calibri"/>
              </a:defRPr>
            </a:pPr>
            <a:r>
              <a:t>• Role-Based Access Control (RBAC) middleware guards.</a:t>
            </a:r>
          </a:p>
          <a:p>
            <a:pPr>
              <a:spcAft>
                <a:spcPts val="300"/>
              </a:spcAft>
              <a:defRPr sz="900">
                <a:solidFill>
                  <a:srgbClr val="2D3748"/>
                </a:solidFill>
                <a:latin typeface="Calibri"/>
              </a:defRPr>
            </a:pPr>
            <a:r>
              <a:t>• HTTP Bearer token header authorization protocol.</a:t>
            </a:r>
          </a:p>
        </p:txBody>
      </p:sp>
      <p:sp>
        <p:nvSpPr>
          <p:cNvPr id="15" name="Rectangle 14"/>
          <p:cNvSpPr/>
          <p:nvPr/>
        </p:nvSpPr>
        <p:spPr>
          <a:xfrm>
            <a:off x="4425696" y="3886200"/>
            <a:ext cx="3328416" cy="24231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0288" y="4023360"/>
            <a:ext cx="2999232" cy="2148840"/>
          </a:xfrm>
          <a:prstGeom prst="rect">
            <a:avLst/>
          </a:prstGeom>
          <a:noFill/>
        </p:spPr>
        <p:txBody>
          <a:bodyPr wrap="square">
            <a:spAutoFit/>
          </a:bodyPr>
          <a:lstStyle/>
          <a:p>
            <a:pPr>
              <a:spcAft>
                <a:spcPts val="200"/>
              </a:spcAft>
              <a:defRPr sz="1200" b="1">
                <a:solidFill>
                  <a:srgbClr val="176B4E"/>
                </a:solidFill>
                <a:latin typeface="Cambria"/>
              </a:defRPr>
            </a:pPr>
            <a:r>
              <a:t>Real-Time: Socket.io</a:t>
            </a:r>
          </a:p>
          <a:p>
            <a:pPr>
              <a:spcAft>
                <a:spcPts val="600"/>
              </a:spcAft>
              <a:defRPr sz="900">
                <a:solidFill>
                  <a:srgbClr val="5A6578"/>
                </a:solidFill>
                <a:latin typeface="Calibri"/>
              </a:defRPr>
            </a:pPr>
            <a:r>
              <a:t>WebSocket Communication</a:t>
            </a:r>
          </a:p>
          <a:p>
            <a:pPr>
              <a:spcAft>
                <a:spcPts val="300"/>
              </a:spcAft>
              <a:defRPr sz="900">
                <a:solidFill>
                  <a:srgbClr val="2D3748"/>
                </a:solidFill>
                <a:latin typeface="Calibri"/>
              </a:defRPr>
            </a:pPr>
            <a:r>
              <a:t>• Bi-directional WebSocket connection for instant chat.</a:t>
            </a:r>
          </a:p>
          <a:p>
            <a:pPr>
              <a:spcAft>
                <a:spcPts val="300"/>
              </a:spcAft>
              <a:defRPr sz="900">
                <a:solidFill>
                  <a:srgbClr val="2D3748"/>
                </a:solidFill>
                <a:latin typeface="Calibri"/>
              </a:defRPr>
            </a:pPr>
            <a:r>
              <a:t>• Room-based channel isolation per conversation thread.</a:t>
            </a:r>
          </a:p>
          <a:p>
            <a:pPr>
              <a:spcAft>
                <a:spcPts val="300"/>
              </a:spcAft>
              <a:defRPr sz="900">
                <a:solidFill>
                  <a:srgbClr val="2D3748"/>
                </a:solidFill>
                <a:latin typeface="Calibri"/>
              </a:defRPr>
            </a:pPr>
            <a:r>
              <a:t>• Event listeners for message delivery, read status, and typing.</a:t>
            </a:r>
          </a:p>
          <a:p>
            <a:pPr>
              <a:spcAft>
                <a:spcPts val="300"/>
              </a:spcAft>
              <a:defRPr sz="900">
                <a:solidFill>
                  <a:srgbClr val="2D3748"/>
                </a:solidFill>
                <a:latin typeface="Calibri"/>
              </a:defRPr>
            </a:pPr>
            <a:r>
              <a:t>• Built-in 5 free messages limit anti-spam logic.</a:t>
            </a:r>
          </a:p>
        </p:txBody>
      </p:sp>
      <p:sp>
        <p:nvSpPr>
          <p:cNvPr id="17" name="Rectangle 16"/>
          <p:cNvSpPr/>
          <p:nvPr/>
        </p:nvSpPr>
        <p:spPr>
          <a:xfrm>
            <a:off x="8119872" y="3886200"/>
            <a:ext cx="3328416" cy="24231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84464" y="4023360"/>
            <a:ext cx="2999232" cy="2148840"/>
          </a:xfrm>
          <a:prstGeom prst="rect">
            <a:avLst/>
          </a:prstGeom>
          <a:noFill/>
        </p:spPr>
        <p:txBody>
          <a:bodyPr wrap="square">
            <a:spAutoFit/>
          </a:bodyPr>
          <a:lstStyle/>
          <a:p>
            <a:pPr>
              <a:spcAft>
                <a:spcPts val="200"/>
              </a:spcAft>
              <a:defRPr sz="1200" b="1">
                <a:solidFill>
                  <a:srgbClr val="176B4E"/>
                </a:solidFill>
                <a:latin typeface="Cambria"/>
              </a:defRPr>
            </a:pPr>
            <a:r>
              <a:t>External APIs &amp; Tooling</a:t>
            </a:r>
          </a:p>
          <a:p>
            <a:pPr>
              <a:spcAft>
                <a:spcPts val="600"/>
              </a:spcAft>
              <a:defRPr sz="900">
                <a:solidFill>
                  <a:srgbClr val="5A6578"/>
                </a:solidFill>
                <a:latin typeface="Calibri"/>
              </a:defRPr>
            </a:pPr>
            <a:r>
              <a:t>Services &amp; Payment Processing</a:t>
            </a:r>
          </a:p>
          <a:p>
            <a:pPr>
              <a:spcAft>
                <a:spcPts val="300"/>
              </a:spcAft>
              <a:defRPr sz="900">
                <a:solidFill>
                  <a:srgbClr val="2D3748"/>
                </a:solidFill>
                <a:latin typeface="Calibri"/>
              </a:defRPr>
            </a:pPr>
            <a:r>
              <a:t>• Razorpay payment gateway order creation &amp; HMAC verification.</a:t>
            </a:r>
          </a:p>
          <a:p>
            <a:pPr>
              <a:spcAft>
                <a:spcPts val="300"/>
              </a:spcAft>
              <a:defRPr sz="900">
                <a:solidFill>
                  <a:srgbClr val="2D3748"/>
                </a:solidFill>
                <a:latin typeface="Calibri"/>
              </a:defRPr>
            </a:pPr>
            <a:r>
              <a:t>• Google Gemini AI SDK for intelligent candidate matching.</a:t>
            </a:r>
          </a:p>
          <a:p>
            <a:pPr>
              <a:spcAft>
                <a:spcPts val="300"/>
              </a:spcAft>
              <a:defRPr sz="900">
                <a:solidFill>
                  <a:srgbClr val="2D3748"/>
                </a:solidFill>
                <a:latin typeface="Calibri"/>
              </a:defRPr>
            </a:pPr>
            <a:r>
              <a:t>• Google Meet URL validation for confirmed video calls.</a:t>
            </a:r>
          </a:p>
          <a:p>
            <a:pPr>
              <a:spcAft>
                <a:spcPts val="300"/>
              </a:spcAft>
              <a:defRPr sz="900">
                <a:solidFill>
                  <a:srgbClr val="2D3748"/>
                </a:solidFill>
                <a:latin typeface="Calibri"/>
              </a:defRPr>
            </a:pPr>
            <a:r>
              <a:t>• Playwright automated browser testing and Jest test suites.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BF9"/>
        </a:solidFill>
        <a:effectLst/>
      </p:bgPr>
    </p:bg>
    <p:spTree>
      <p:nvGrpSpPr>
        <p:cNvPr id="1" name=""/>
        <p:cNvGrpSpPr/>
        <p:nvPr/>
      </p:nvGrpSpPr>
      <p:grpSpPr/>
      <p:sp>
        <p:nvSpPr>
          <p:cNvPr id="2" name="TextBox 1"/>
          <p:cNvSpPr txBox="1"/>
          <p:nvPr/>
        </p:nvSpPr>
        <p:spPr>
          <a:xfrm>
            <a:off x="731520" y="365760"/>
            <a:ext cx="10698480" cy="256032"/>
          </a:xfrm>
          <a:prstGeom prst="rect">
            <a:avLst/>
          </a:prstGeom>
          <a:noFill/>
        </p:spPr>
        <p:txBody>
          <a:bodyPr wrap="square" lIns="0" tIns="0" rIns="0" bIns="0">
            <a:spAutoFit/>
          </a:bodyPr>
          <a:lstStyle/>
          <a:p>
            <a:pPr>
              <a:defRPr sz="950" b="1">
                <a:solidFill>
                  <a:srgbClr val="176B4E"/>
                </a:solidFill>
                <a:latin typeface="Calibri"/>
              </a:defRPr>
            </a:pPr>
            <a:r>
              <a:t>MODULE 1 OF 12: USER ACCESS &amp; SECURITY</a:t>
            </a:r>
          </a:p>
        </p:txBody>
      </p:sp>
      <p:sp>
        <p:nvSpPr>
          <p:cNvPr id="3" name="TextBox 2"/>
          <p:cNvSpPr txBox="1"/>
          <p:nvPr/>
        </p:nvSpPr>
        <p:spPr>
          <a:xfrm>
            <a:off x="731520" y="603504"/>
            <a:ext cx="10698480" cy="457200"/>
          </a:xfrm>
          <a:prstGeom prst="rect">
            <a:avLst/>
          </a:prstGeom>
          <a:noFill/>
        </p:spPr>
        <p:txBody>
          <a:bodyPr wrap="square" lIns="0" tIns="0" rIns="0" bIns="0">
            <a:spAutoFit/>
          </a:bodyPr>
          <a:lstStyle/>
          <a:p>
            <a:pPr>
              <a:defRPr sz="2100" b="1">
                <a:solidFill>
                  <a:srgbClr val="1A202C"/>
                </a:solidFill>
                <a:latin typeface="Cambria"/>
              </a:defRPr>
            </a:pPr>
            <a:r>
              <a:t>Authentication &amp; Authorization Module</a:t>
            </a:r>
          </a:p>
        </p:txBody>
      </p:sp>
      <p:sp>
        <p:nvSpPr>
          <p:cNvPr id="4" name="Rectangle 3"/>
          <p:cNvSpPr/>
          <p:nvPr/>
        </p:nvSpPr>
        <p:spPr>
          <a:xfrm>
            <a:off x="731520" y="11155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92240"/>
            <a:ext cx="7315200" cy="274320"/>
          </a:xfrm>
          <a:prstGeom prst="rect">
            <a:avLst/>
          </a:prstGeom>
          <a:noFill/>
        </p:spPr>
        <p:txBody>
          <a:bodyPr wrap="none" lIns="0" tIns="0" rIns="0" bIns="0">
            <a:spAutoFit/>
          </a:bodyPr>
          <a:lstStyle/>
          <a:p>
            <a:pPr>
              <a:defRPr sz="900">
                <a:solidFill>
                  <a:srgbClr val="5A6578"/>
                </a:solidFill>
                <a:latin typeface="Calibri"/>
              </a:defRPr>
            </a:pPr>
            <a:r>
              <a:t>Skill Exchange · B.Tech CSE Capstone Project (Team CosmicCoder · Group 13)</a:t>
            </a:r>
          </a:p>
        </p:txBody>
      </p:sp>
      <p:sp>
        <p:nvSpPr>
          <p:cNvPr id="6" name="TextBox 5"/>
          <p:cNvSpPr txBox="1"/>
          <p:nvPr/>
        </p:nvSpPr>
        <p:spPr>
          <a:xfrm>
            <a:off x="8686800" y="6492240"/>
            <a:ext cx="2743200" cy="274320"/>
          </a:xfrm>
          <a:prstGeom prst="rect">
            <a:avLst/>
          </a:prstGeom>
          <a:noFill/>
        </p:spPr>
        <p:txBody>
          <a:bodyPr wrap="none" lIns="0" tIns="0" rIns="0" bIns="0">
            <a:spAutoFit/>
          </a:bodyPr>
          <a:lstStyle/>
          <a:p>
            <a:pPr algn="r">
              <a:defRPr sz="900" b="1">
                <a:solidFill>
                  <a:srgbClr val="5A6578"/>
                </a:solidFill>
                <a:latin typeface="Calibri"/>
              </a:defRPr>
            </a:pPr>
            <a:r>
              <a:t>Slide 6 of 22</a:t>
            </a:r>
          </a:p>
        </p:txBody>
      </p:sp>
      <p:sp>
        <p:nvSpPr>
          <p:cNvPr id="7" name="Rectangle 6"/>
          <p:cNvSpPr/>
          <p:nvPr/>
        </p:nvSpPr>
        <p:spPr>
          <a:xfrm>
            <a:off x="731520" y="1325880"/>
            <a:ext cx="5120640" cy="1051560"/>
          </a:xfrm>
          <a:prstGeom prst="rect">
            <a:avLst/>
          </a:prstGeom>
          <a:solidFill>
            <a:srgbClr val="F4F8F5"/>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35608"/>
            <a:ext cx="4754880" cy="832104"/>
          </a:xfrm>
          <a:prstGeom prst="rect">
            <a:avLst/>
          </a:prstGeom>
          <a:noFill/>
        </p:spPr>
        <p:txBody>
          <a:bodyPr wrap="square">
            <a:spAutoFit/>
          </a:bodyPr>
          <a:lstStyle/>
          <a:p>
            <a:pPr>
              <a:spcAft>
                <a:spcPts val="300"/>
              </a:spcAft>
              <a:defRPr sz="1100" b="1">
                <a:solidFill>
                  <a:srgbClr val="176B4E"/>
                </a:solidFill>
                <a:latin typeface="Cambria"/>
              </a:defRPr>
            </a:pPr>
            <a:r>
              <a:t>Module Overview</a:t>
            </a:r>
          </a:p>
          <a:p>
            <a:pPr>
              <a:defRPr sz="950">
                <a:solidFill>
                  <a:srgbClr val="2D3748"/>
                </a:solidFill>
                <a:latin typeface="Calibri"/>
              </a:defRPr>
            </a:pPr>
            <a:r>
              <a:t>Provides secure account onboarding, role-based registration, and stateless session authentication using 10-round salted Bcrypt password hashing and JSON Web Tokens (JWT).</a:t>
            </a:r>
          </a:p>
        </p:txBody>
      </p:sp>
      <p:sp>
        <p:nvSpPr>
          <p:cNvPr id="9" name="Rectangle 8"/>
          <p:cNvSpPr/>
          <p:nvPr/>
        </p:nvSpPr>
        <p:spPr>
          <a:xfrm>
            <a:off x="731520" y="2514600"/>
            <a:ext cx="5120640" cy="2148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642616"/>
            <a:ext cx="4754880" cy="1892808"/>
          </a:xfrm>
          <a:prstGeom prst="rect">
            <a:avLst/>
          </a:prstGeom>
          <a:noFill/>
        </p:spPr>
        <p:txBody>
          <a:bodyPr wrap="square">
            <a:spAutoFit/>
          </a:bodyPr>
          <a:lstStyle/>
          <a:p>
            <a:pPr>
              <a:spcAft>
                <a:spcPts val="600"/>
              </a:spcAft>
              <a:defRPr sz="1100" b="1">
                <a:solidFill>
                  <a:srgbClr val="176B4E"/>
                </a:solidFill>
                <a:latin typeface="Cambria"/>
              </a:defRPr>
            </a:pPr>
            <a:r>
              <a:t>Key Functional Features</a:t>
            </a:r>
          </a:p>
          <a:p>
            <a:pPr>
              <a:spcAft>
                <a:spcPts val="400"/>
              </a:spcAft>
            </a:pPr>
            <a:r>
              <a:rPr sz="950" b="1">
                <a:solidFill>
                  <a:srgbClr val="1A202C"/>
                </a:solidFill>
                <a:latin typeface="Calibri"/>
              </a:rPr>
              <a:t>• Dual Role Registration: </a:t>
            </a:r>
            <a:r>
              <a:rPr sz="900">
                <a:solidFill>
                  <a:srgbClr val="2D3748"/>
                </a:solidFill>
                <a:latin typeface="Calibri"/>
              </a:rPr>
              <a:t>Allows users to register specifically as 'Learners' or 'Mentors' with dedicated input validations.</a:t>
            </a:r>
          </a:p>
          <a:p>
            <a:pPr>
              <a:spcAft>
                <a:spcPts val="400"/>
              </a:spcAft>
            </a:pPr>
            <a:r>
              <a:rPr sz="950" b="1">
                <a:solidFill>
                  <a:srgbClr val="1A202C"/>
                </a:solidFill>
                <a:latin typeface="Calibri"/>
              </a:rPr>
              <a:t>• Cryptographic Password Hashing: </a:t>
            </a:r>
            <a:r>
              <a:rPr sz="900">
                <a:solidFill>
                  <a:srgbClr val="2D3748"/>
                </a:solidFill>
                <a:latin typeface="Calibri"/>
              </a:rPr>
              <a:t>Encrypts user passwords using 10-round salted Bcrypt before storing them in MongoDB Atlas.</a:t>
            </a:r>
          </a:p>
          <a:p>
            <a:pPr>
              <a:spcAft>
                <a:spcPts val="400"/>
              </a:spcAft>
            </a:pPr>
            <a:r>
              <a:rPr sz="950" b="1">
                <a:solidFill>
                  <a:srgbClr val="1A202C"/>
                </a:solidFill>
                <a:latin typeface="Calibri"/>
              </a:rPr>
              <a:t>• Stateless JWT Issuance: </a:t>
            </a:r>
            <a:r>
              <a:rPr sz="900">
                <a:solidFill>
                  <a:srgbClr val="2D3748"/>
                </a:solidFill>
                <a:latin typeface="Calibri"/>
              </a:rPr>
              <a:t>Generates digitally signed JWT bearer tokens upon login, containing user ID and active role claims.</a:t>
            </a:r>
          </a:p>
          <a:p>
            <a:pPr>
              <a:spcAft>
                <a:spcPts val="400"/>
              </a:spcAft>
            </a:pPr>
            <a:r>
              <a:rPr sz="950" b="1">
                <a:solidFill>
                  <a:srgbClr val="1A202C"/>
                </a:solidFill>
                <a:latin typeface="Calibri"/>
              </a:rPr>
              <a:t>• Role-Based Route Protection: </a:t>
            </a:r>
            <a:r>
              <a:rPr sz="900">
                <a:solidFill>
                  <a:srgbClr val="2D3748"/>
                </a:solidFill>
                <a:latin typeface="Calibri"/>
              </a:rPr>
              <a:t>Enforces RBAC middleware guards on both client routes and Express API endpoints to prevent privilege escalation.</a:t>
            </a:r>
          </a:p>
        </p:txBody>
      </p:sp>
      <p:sp>
        <p:nvSpPr>
          <p:cNvPr id="11" name="Rectangle 10"/>
          <p:cNvSpPr/>
          <p:nvPr/>
        </p:nvSpPr>
        <p:spPr>
          <a:xfrm>
            <a:off x="731520" y="4800600"/>
            <a:ext cx="5120640" cy="1508760"/>
          </a:xfrm>
          <a:prstGeom prst="rect">
            <a:avLst/>
          </a:prstGeom>
          <a:solidFill>
            <a:srgbClr val="F8FBF9"/>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910328"/>
            <a:ext cx="4754880" cy="1289304"/>
          </a:xfrm>
          <a:prstGeom prst="rect">
            <a:avLst/>
          </a:prstGeom>
          <a:noFill/>
        </p:spPr>
        <p:txBody>
          <a:bodyPr wrap="square">
            <a:spAutoFit/>
          </a:bodyPr>
          <a:lstStyle/>
          <a:p>
            <a:pPr>
              <a:spcAft>
                <a:spcPts val="400"/>
              </a:spcAft>
              <a:defRPr sz="1100" b="1">
                <a:solidFill>
                  <a:srgbClr val="176B4E"/>
                </a:solidFill>
                <a:latin typeface="Cambria"/>
              </a:defRPr>
            </a:pPr>
            <a:r>
              <a:t>Technical Specifications &amp; APIs</a:t>
            </a:r>
          </a:p>
          <a:p>
            <a:pPr>
              <a:spcAft>
                <a:spcPts val="200"/>
              </a:spcAft>
            </a:pPr>
            <a:r>
              <a:rPr sz="900" b="1">
                <a:solidFill>
                  <a:srgbClr val="1A202C"/>
                </a:solidFill>
                <a:latin typeface="Calibri"/>
              </a:rPr>
              <a:t>Core Endpoints: </a:t>
            </a:r>
            <a:r>
              <a:rPr sz="850">
                <a:solidFill>
                  <a:srgbClr val="2D3748"/>
                </a:solidFill>
                <a:latin typeface="Calibri"/>
              </a:rPr>
              <a:t>POST /api/register, POST /api/login, GET /api/me, POST /api/logout</a:t>
            </a:r>
          </a:p>
          <a:p>
            <a:pPr>
              <a:spcAft>
                <a:spcPts val="200"/>
              </a:spcAft>
            </a:pPr>
            <a:r>
              <a:rPr sz="900" b="1">
                <a:solidFill>
                  <a:srgbClr val="1A202C"/>
                </a:solidFill>
                <a:latin typeface="Calibri"/>
              </a:rPr>
              <a:t>Security Technologies: </a:t>
            </a:r>
            <a:r>
              <a:rPr sz="850">
                <a:solidFill>
                  <a:srgbClr val="2D3748"/>
                </a:solidFill>
                <a:latin typeface="Calibri"/>
              </a:rPr>
              <a:t>JSON Web Tokens (HS256), Bcrypt.js (10 salt rounds), Auth Middleware</a:t>
            </a:r>
          </a:p>
          <a:p>
            <a:pPr>
              <a:spcAft>
                <a:spcPts val="200"/>
              </a:spcAft>
            </a:pPr>
            <a:r>
              <a:rPr sz="900" b="1">
                <a:solidFill>
                  <a:srgbClr val="1A202C"/>
                </a:solidFill>
                <a:latin typeface="Calibri"/>
              </a:rPr>
              <a:t>Database Model: </a:t>
            </a:r>
            <a:r>
              <a:rPr sz="850">
                <a:solidFill>
                  <a:srgbClr val="2D3748"/>
                </a:solidFill>
                <a:latin typeface="Calibri"/>
              </a:rPr>
              <a:t>User schema (fields: email, password, role: 'learner'|'mentor'|'admin', isActive)</a:t>
            </a:r>
          </a:p>
          <a:p>
            <a:pPr>
              <a:spcAft>
                <a:spcPts val="200"/>
              </a:spcAft>
            </a:pPr>
            <a:r>
              <a:rPr sz="900" b="1">
                <a:solidFill>
                  <a:srgbClr val="1A202C"/>
                </a:solidFill>
                <a:latin typeface="Calibri"/>
              </a:rPr>
              <a:t>Client State: </a:t>
            </a:r>
            <a:r>
              <a:rPr sz="850">
                <a:solidFill>
                  <a:srgbClr val="2D3748"/>
                </a:solidFill>
                <a:latin typeface="Calibri"/>
              </a:rPr>
              <a:t>LocalStorage token persistence with Axios/Fetch authorization bearer interceptor</a:t>
            </a:r>
          </a:p>
        </p:txBody>
      </p:sp>
      <p:sp>
        <p:nvSpPr>
          <p:cNvPr id="13" name="Rectangle 12"/>
          <p:cNvSpPr/>
          <p:nvPr/>
        </p:nvSpPr>
        <p:spPr>
          <a:xfrm>
            <a:off x="6080760" y="1325880"/>
            <a:ext cx="5376672" cy="4983480"/>
          </a:xfrm>
          <a:prstGeom prst="rect">
            <a:avLst/>
          </a:prstGeom>
          <a:solidFill>
            <a:srgbClr val="FFFFFF"/>
          </a:solidFill>
          <a:ln w="1905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02b_signup.png"/>
          <p:cNvPicPr>
            <a:picLocks noChangeAspect="1"/>
          </p:cNvPicPr>
          <p:nvPr/>
        </p:nvPicPr>
        <p:blipFill>
          <a:blip r:embed="rId2"/>
          <a:stretch>
            <a:fillRect/>
          </a:stretch>
        </p:blipFill>
        <p:spPr>
          <a:xfrm>
            <a:off x="6117336" y="1362456"/>
            <a:ext cx="5303520" cy="491032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BF9"/>
        </a:solidFill>
        <a:effectLst/>
      </p:bgPr>
    </p:bg>
    <p:spTree>
      <p:nvGrpSpPr>
        <p:cNvPr id="1" name=""/>
        <p:cNvGrpSpPr/>
        <p:nvPr/>
      </p:nvGrpSpPr>
      <p:grpSpPr/>
      <p:sp>
        <p:nvSpPr>
          <p:cNvPr id="2" name="TextBox 1"/>
          <p:cNvSpPr txBox="1"/>
          <p:nvPr/>
        </p:nvSpPr>
        <p:spPr>
          <a:xfrm>
            <a:off x="731520" y="365760"/>
            <a:ext cx="10698480" cy="256032"/>
          </a:xfrm>
          <a:prstGeom prst="rect">
            <a:avLst/>
          </a:prstGeom>
          <a:noFill/>
        </p:spPr>
        <p:txBody>
          <a:bodyPr wrap="square" lIns="0" tIns="0" rIns="0" bIns="0">
            <a:spAutoFit/>
          </a:bodyPr>
          <a:lstStyle/>
          <a:p>
            <a:pPr>
              <a:defRPr sz="950" b="1">
                <a:solidFill>
                  <a:srgbClr val="176B4E"/>
                </a:solidFill>
                <a:latin typeface="Calibri"/>
              </a:defRPr>
            </a:pPr>
            <a:r>
              <a:t>MODULE 2 OF 12: USER PROFILES</a:t>
            </a:r>
          </a:p>
        </p:txBody>
      </p:sp>
      <p:sp>
        <p:nvSpPr>
          <p:cNvPr id="3" name="TextBox 2"/>
          <p:cNvSpPr txBox="1"/>
          <p:nvPr/>
        </p:nvSpPr>
        <p:spPr>
          <a:xfrm>
            <a:off x="731520" y="603504"/>
            <a:ext cx="10698480" cy="457200"/>
          </a:xfrm>
          <a:prstGeom prst="rect">
            <a:avLst/>
          </a:prstGeom>
          <a:noFill/>
        </p:spPr>
        <p:txBody>
          <a:bodyPr wrap="square" lIns="0" tIns="0" rIns="0" bIns="0">
            <a:spAutoFit/>
          </a:bodyPr>
          <a:lstStyle/>
          <a:p>
            <a:pPr>
              <a:defRPr sz="2100" b="1">
                <a:solidFill>
                  <a:srgbClr val="1A202C"/>
                </a:solidFill>
                <a:latin typeface="Cambria"/>
              </a:defRPr>
            </a:pPr>
            <a:r>
              <a:t>Learner Profile Module</a:t>
            </a:r>
          </a:p>
        </p:txBody>
      </p:sp>
      <p:sp>
        <p:nvSpPr>
          <p:cNvPr id="4" name="Rectangle 3"/>
          <p:cNvSpPr/>
          <p:nvPr/>
        </p:nvSpPr>
        <p:spPr>
          <a:xfrm>
            <a:off x="731520" y="11155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92240"/>
            <a:ext cx="7315200" cy="274320"/>
          </a:xfrm>
          <a:prstGeom prst="rect">
            <a:avLst/>
          </a:prstGeom>
          <a:noFill/>
        </p:spPr>
        <p:txBody>
          <a:bodyPr wrap="none" lIns="0" tIns="0" rIns="0" bIns="0">
            <a:spAutoFit/>
          </a:bodyPr>
          <a:lstStyle/>
          <a:p>
            <a:pPr>
              <a:defRPr sz="900">
                <a:solidFill>
                  <a:srgbClr val="5A6578"/>
                </a:solidFill>
                <a:latin typeface="Calibri"/>
              </a:defRPr>
            </a:pPr>
            <a:r>
              <a:t>Skill Exchange · B.Tech CSE Capstone Project (Team CosmicCoder · Group 13)</a:t>
            </a:r>
          </a:p>
        </p:txBody>
      </p:sp>
      <p:sp>
        <p:nvSpPr>
          <p:cNvPr id="6" name="TextBox 5"/>
          <p:cNvSpPr txBox="1"/>
          <p:nvPr/>
        </p:nvSpPr>
        <p:spPr>
          <a:xfrm>
            <a:off x="8686800" y="6492240"/>
            <a:ext cx="2743200" cy="274320"/>
          </a:xfrm>
          <a:prstGeom prst="rect">
            <a:avLst/>
          </a:prstGeom>
          <a:noFill/>
        </p:spPr>
        <p:txBody>
          <a:bodyPr wrap="none" lIns="0" tIns="0" rIns="0" bIns="0">
            <a:spAutoFit/>
          </a:bodyPr>
          <a:lstStyle/>
          <a:p>
            <a:pPr algn="r">
              <a:defRPr sz="900" b="1">
                <a:solidFill>
                  <a:srgbClr val="5A6578"/>
                </a:solidFill>
                <a:latin typeface="Calibri"/>
              </a:defRPr>
            </a:pPr>
            <a:r>
              <a:t>Slide 7 of 22</a:t>
            </a:r>
          </a:p>
        </p:txBody>
      </p:sp>
      <p:sp>
        <p:nvSpPr>
          <p:cNvPr id="7" name="Rectangle 6"/>
          <p:cNvSpPr/>
          <p:nvPr/>
        </p:nvSpPr>
        <p:spPr>
          <a:xfrm>
            <a:off x="731520" y="1325880"/>
            <a:ext cx="5120640" cy="1051560"/>
          </a:xfrm>
          <a:prstGeom prst="rect">
            <a:avLst/>
          </a:prstGeom>
          <a:solidFill>
            <a:srgbClr val="F4F8F5"/>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35608"/>
            <a:ext cx="4754880" cy="832104"/>
          </a:xfrm>
          <a:prstGeom prst="rect">
            <a:avLst/>
          </a:prstGeom>
          <a:noFill/>
        </p:spPr>
        <p:txBody>
          <a:bodyPr wrap="square">
            <a:spAutoFit/>
          </a:bodyPr>
          <a:lstStyle/>
          <a:p>
            <a:pPr>
              <a:spcAft>
                <a:spcPts val="300"/>
              </a:spcAft>
              <a:defRPr sz="1100" b="1">
                <a:solidFill>
                  <a:srgbClr val="176B4E"/>
                </a:solidFill>
                <a:latin typeface="Cambria"/>
              </a:defRPr>
            </a:pPr>
            <a:r>
              <a:t>Module Overview</a:t>
            </a:r>
          </a:p>
          <a:p>
            <a:pPr>
              <a:defRPr sz="950">
                <a:solidFill>
                  <a:srgbClr val="2D3748"/>
                </a:solidFill>
                <a:latin typeface="Calibri"/>
              </a:defRPr>
            </a:pPr>
            <a:r>
              <a:t>Enables learners to maintain an academic identity, define customized learning objectives, specify desired skill targets, and track their personal mentorship participation.</a:t>
            </a:r>
          </a:p>
        </p:txBody>
      </p:sp>
      <p:sp>
        <p:nvSpPr>
          <p:cNvPr id="9" name="Rectangle 8"/>
          <p:cNvSpPr/>
          <p:nvPr/>
        </p:nvSpPr>
        <p:spPr>
          <a:xfrm>
            <a:off x="731520" y="2514600"/>
            <a:ext cx="5120640" cy="2148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642616"/>
            <a:ext cx="4754880" cy="1892808"/>
          </a:xfrm>
          <a:prstGeom prst="rect">
            <a:avLst/>
          </a:prstGeom>
          <a:noFill/>
        </p:spPr>
        <p:txBody>
          <a:bodyPr wrap="square">
            <a:spAutoFit/>
          </a:bodyPr>
          <a:lstStyle/>
          <a:p>
            <a:pPr>
              <a:spcAft>
                <a:spcPts val="600"/>
              </a:spcAft>
              <a:defRPr sz="1100" b="1">
                <a:solidFill>
                  <a:srgbClr val="176B4E"/>
                </a:solidFill>
                <a:latin typeface="Cambria"/>
              </a:defRPr>
            </a:pPr>
            <a:r>
              <a:t>Key Functional Features</a:t>
            </a:r>
          </a:p>
          <a:p>
            <a:pPr>
              <a:spcAft>
                <a:spcPts val="400"/>
              </a:spcAft>
            </a:pPr>
            <a:r>
              <a:rPr sz="950" b="1">
                <a:solidFill>
                  <a:srgbClr val="1A202C"/>
                </a:solidFill>
                <a:latin typeface="Calibri"/>
              </a:rPr>
              <a:t>• Learning Goals Definition: </a:t>
            </a:r>
            <a:r>
              <a:rPr sz="900">
                <a:solidFill>
                  <a:srgbClr val="2D3748"/>
                </a:solidFill>
                <a:latin typeface="Calibri"/>
              </a:rPr>
              <a:t>Allows learners to add target skills to learn (e.g., React, Node.js, System Design) for discovery matching.</a:t>
            </a:r>
          </a:p>
          <a:p>
            <a:pPr>
              <a:spcAft>
                <a:spcPts val="400"/>
              </a:spcAft>
            </a:pPr>
            <a:r>
              <a:rPr sz="950" b="1">
                <a:solidFill>
                  <a:srgbClr val="1A202C"/>
                </a:solidFill>
                <a:latin typeface="Calibri"/>
              </a:rPr>
              <a:t>• Academic Bio &amp; Overview: </a:t>
            </a:r>
            <a:r>
              <a:rPr sz="900">
                <a:solidFill>
                  <a:srgbClr val="2D3748"/>
                </a:solidFill>
                <a:latin typeface="Calibri"/>
              </a:rPr>
              <a:t>Presents personal introduction, university affiliation, and educational interests.</a:t>
            </a:r>
          </a:p>
          <a:p>
            <a:pPr>
              <a:spcAft>
                <a:spcPts val="400"/>
              </a:spcAft>
            </a:pPr>
            <a:r>
              <a:rPr sz="950" b="1">
                <a:solidFill>
                  <a:srgbClr val="1A202C"/>
                </a:solidFill>
                <a:latin typeface="Calibri"/>
              </a:rPr>
              <a:t>• Profile Completion Indicator: </a:t>
            </a:r>
            <a:r>
              <a:rPr sz="900">
                <a:solidFill>
                  <a:srgbClr val="2D3748"/>
                </a:solidFill>
                <a:latin typeface="Calibri"/>
              </a:rPr>
              <a:t>Tracks profile readiness to ensure users provide sufficient details for matching and booking.</a:t>
            </a:r>
          </a:p>
          <a:p>
            <a:pPr>
              <a:spcAft>
                <a:spcPts val="400"/>
              </a:spcAft>
            </a:pPr>
            <a:r>
              <a:rPr sz="950" b="1">
                <a:solidFill>
                  <a:srgbClr val="1A202C"/>
                </a:solidFill>
                <a:latin typeface="Calibri"/>
              </a:rPr>
              <a:t>• Engagement Metrics: </a:t>
            </a:r>
            <a:r>
              <a:rPr sz="900">
                <a:solidFill>
                  <a:srgbClr val="2D3748"/>
                </a:solidFill>
                <a:latin typeface="Calibri"/>
              </a:rPr>
              <a:t>Displays live counts of reviews received, reviews given, and total skills listed on the platform.</a:t>
            </a:r>
          </a:p>
        </p:txBody>
      </p:sp>
      <p:sp>
        <p:nvSpPr>
          <p:cNvPr id="11" name="Rectangle 10"/>
          <p:cNvSpPr/>
          <p:nvPr/>
        </p:nvSpPr>
        <p:spPr>
          <a:xfrm>
            <a:off x="731520" y="4800600"/>
            <a:ext cx="5120640" cy="1508760"/>
          </a:xfrm>
          <a:prstGeom prst="rect">
            <a:avLst/>
          </a:prstGeom>
          <a:solidFill>
            <a:srgbClr val="F8FBF9"/>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910328"/>
            <a:ext cx="4754880" cy="1289304"/>
          </a:xfrm>
          <a:prstGeom prst="rect">
            <a:avLst/>
          </a:prstGeom>
          <a:noFill/>
        </p:spPr>
        <p:txBody>
          <a:bodyPr wrap="square">
            <a:spAutoFit/>
          </a:bodyPr>
          <a:lstStyle/>
          <a:p>
            <a:pPr>
              <a:spcAft>
                <a:spcPts val="400"/>
              </a:spcAft>
              <a:defRPr sz="1100" b="1">
                <a:solidFill>
                  <a:srgbClr val="176B4E"/>
                </a:solidFill>
                <a:latin typeface="Cambria"/>
              </a:defRPr>
            </a:pPr>
            <a:r>
              <a:t>Technical Specifications &amp; APIs</a:t>
            </a:r>
          </a:p>
          <a:p>
            <a:pPr>
              <a:spcAft>
                <a:spcPts val="200"/>
              </a:spcAft>
            </a:pPr>
            <a:r>
              <a:rPr sz="900" b="1">
                <a:solidFill>
                  <a:srgbClr val="1A202C"/>
                </a:solidFill>
                <a:latin typeface="Calibri"/>
              </a:rPr>
              <a:t>Core Endpoints: </a:t>
            </a:r>
            <a:r>
              <a:rPr sz="850">
                <a:solidFill>
                  <a:srgbClr val="2D3748"/>
                </a:solidFill>
                <a:latin typeface="Calibri"/>
              </a:rPr>
              <a:t>GET /api/profile, PUT /api/profile, POST /api/users/update-profile</a:t>
            </a:r>
          </a:p>
          <a:p>
            <a:pPr>
              <a:spcAft>
                <a:spcPts val="200"/>
              </a:spcAft>
            </a:pPr>
            <a:r>
              <a:rPr sz="900" b="1">
                <a:solidFill>
                  <a:srgbClr val="1A202C"/>
                </a:solidFill>
                <a:latin typeface="Calibri"/>
              </a:rPr>
              <a:t>Client Component: </a:t>
            </a:r>
            <a:r>
              <a:rPr sz="850">
                <a:solidFill>
                  <a:srgbClr val="2D3748"/>
                </a:solidFill>
                <a:latin typeface="Calibri"/>
              </a:rPr>
              <a:t>ProfilePage.jsx, CompleteProfile.jsx, AccountManagement.jsx</a:t>
            </a:r>
          </a:p>
          <a:p>
            <a:pPr>
              <a:spcAft>
                <a:spcPts val="200"/>
              </a:spcAft>
            </a:pPr>
            <a:r>
              <a:rPr sz="900" b="1">
                <a:solidFill>
                  <a:srgbClr val="1A202C"/>
                </a:solidFill>
                <a:latin typeface="Calibri"/>
              </a:rPr>
              <a:t>Database Model: </a:t>
            </a:r>
            <a:r>
              <a:rPr sz="850">
                <a:solidFill>
                  <a:srgbClr val="2D3748"/>
                </a:solidFill>
                <a:latin typeface="Calibri"/>
              </a:rPr>
              <a:t>User schema (fields: skillsToLearn: [String], bio: String, profileCompleted: Boolean)</a:t>
            </a:r>
          </a:p>
          <a:p>
            <a:pPr>
              <a:spcAft>
                <a:spcPts val="200"/>
              </a:spcAft>
            </a:pPr>
            <a:r>
              <a:rPr sz="900" b="1">
                <a:solidFill>
                  <a:srgbClr val="1A202C"/>
                </a:solidFill>
                <a:latin typeface="Calibri"/>
              </a:rPr>
              <a:t>Validation Rules: </a:t>
            </a:r>
            <a:r>
              <a:rPr sz="850">
                <a:solidFill>
                  <a:srgbClr val="2D3748"/>
                </a:solidFill>
                <a:latin typeface="Calibri"/>
              </a:rPr>
              <a:t>Requires non-empty bio and at least one target skill to mark profile completed</a:t>
            </a:r>
          </a:p>
        </p:txBody>
      </p:sp>
      <p:sp>
        <p:nvSpPr>
          <p:cNvPr id="13" name="Rectangle 12"/>
          <p:cNvSpPr/>
          <p:nvPr/>
        </p:nvSpPr>
        <p:spPr>
          <a:xfrm>
            <a:off x="6080760" y="1325880"/>
            <a:ext cx="5376672" cy="4983480"/>
          </a:xfrm>
          <a:prstGeom prst="rect">
            <a:avLst/>
          </a:prstGeom>
          <a:solidFill>
            <a:srgbClr val="FFFFFF"/>
          </a:solidFill>
          <a:ln w="1905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03a_my_profile.png"/>
          <p:cNvPicPr>
            <a:picLocks noChangeAspect="1"/>
          </p:cNvPicPr>
          <p:nvPr/>
        </p:nvPicPr>
        <p:blipFill>
          <a:blip r:embed="rId2"/>
          <a:stretch>
            <a:fillRect/>
          </a:stretch>
        </p:blipFill>
        <p:spPr>
          <a:xfrm>
            <a:off x="6117336" y="1362456"/>
            <a:ext cx="5303520" cy="491032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BF9"/>
        </a:solidFill>
        <a:effectLst/>
      </p:bgPr>
    </p:bg>
    <p:spTree>
      <p:nvGrpSpPr>
        <p:cNvPr id="1" name=""/>
        <p:cNvGrpSpPr/>
        <p:nvPr/>
      </p:nvGrpSpPr>
      <p:grpSpPr/>
      <p:sp>
        <p:nvSpPr>
          <p:cNvPr id="2" name="TextBox 1"/>
          <p:cNvSpPr txBox="1"/>
          <p:nvPr/>
        </p:nvSpPr>
        <p:spPr>
          <a:xfrm>
            <a:off x="731520" y="365760"/>
            <a:ext cx="10698480" cy="256032"/>
          </a:xfrm>
          <a:prstGeom prst="rect">
            <a:avLst/>
          </a:prstGeom>
          <a:noFill/>
        </p:spPr>
        <p:txBody>
          <a:bodyPr wrap="square" lIns="0" tIns="0" rIns="0" bIns="0">
            <a:spAutoFit/>
          </a:bodyPr>
          <a:lstStyle/>
          <a:p>
            <a:pPr>
              <a:defRPr sz="950" b="1">
                <a:solidFill>
                  <a:srgbClr val="176B4E"/>
                </a:solidFill>
                <a:latin typeface="Calibri"/>
              </a:defRPr>
            </a:pPr>
            <a:r>
              <a:t>MODULE 3 OF 12: USER PROFILES</a:t>
            </a:r>
          </a:p>
        </p:txBody>
      </p:sp>
      <p:sp>
        <p:nvSpPr>
          <p:cNvPr id="3" name="TextBox 2"/>
          <p:cNvSpPr txBox="1"/>
          <p:nvPr/>
        </p:nvSpPr>
        <p:spPr>
          <a:xfrm>
            <a:off x="731520" y="603504"/>
            <a:ext cx="10698480" cy="457200"/>
          </a:xfrm>
          <a:prstGeom prst="rect">
            <a:avLst/>
          </a:prstGeom>
          <a:noFill/>
        </p:spPr>
        <p:txBody>
          <a:bodyPr wrap="square" lIns="0" tIns="0" rIns="0" bIns="0">
            <a:spAutoFit/>
          </a:bodyPr>
          <a:lstStyle/>
          <a:p>
            <a:pPr>
              <a:defRPr sz="2100" b="1">
                <a:solidFill>
                  <a:srgbClr val="1A202C"/>
                </a:solidFill>
                <a:latin typeface="Cambria"/>
              </a:defRPr>
            </a:pPr>
            <a:r>
              <a:t>Mentor Profile Module</a:t>
            </a:r>
          </a:p>
        </p:txBody>
      </p:sp>
      <p:sp>
        <p:nvSpPr>
          <p:cNvPr id="4" name="Rectangle 3"/>
          <p:cNvSpPr/>
          <p:nvPr/>
        </p:nvSpPr>
        <p:spPr>
          <a:xfrm>
            <a:off x="731520" y="11155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92240"/>
            <a:ext cx="7315200" cy="274320"/>
          </a:xfrm>
          <a:prstGeom prst="rect">
            <a:avLst/>
          </a:prstGeom>
          <a:noFill/>
        </p:spPr>
        <p:txBody>
          <a:bodyPr wrap="none" lIns="0" tIns="0" rIns="0" bIns="0">
            <a:spAutoFit/>
          </a:bodyPr>
          <a:lstStyle/>
          <a:p>
            <a:pPr>
              <a:defRPr sz="900">
                <a:solidFill>
                  <a:srgbClr val="5A6578"/>
                </a:solidFill>
                <a:latin typeface="Calibri"/>
              </a:defRPr>
            </a:pPr>
            <a:r>
              <a:t>Skill Exchange · B.Tech CSE Capstone Project (Team CosmicCoder · Group 13)</a:t>
            </a:r>
          </a:p>
        </p:txBody>
      </p:sp>
      <p:sp>
        <p:nvSpPr>
          <p:cNvPr id="6" name="TextBox 5"/>
          <p:cNvSpPr txBox="1"/>
          <p:nvPr/>
        </p:nvSpPr>
        <p:spPr>
          <a:xfrm>
            <a:off x="8686800" y="6492240"/>
            <a:ext cx="2743200" cy="274320"/>
          </a:xfrm>
          <a:prstGeom prst="rect">
            <a:avLst/>
          </a:prstGeom>
          <a:noFill/>
        </p:spPr>
        <p:txBody>
          <a:bodyPr wrap="none" lIns="0" tIns="0" rIns="0" bIns="0">
            <a:spAutoFit/>
          </a:bodyPr>
          <a:lstStyle/>
          <a:p>
            <a:pPr algn="r">
              <a:defRPr sz="900" b="1">
                <a:solidFill>
                  <a:srgbClr val="5A6578"/>
                </a:solidFill>
                <a:latin typeface="Calibri"/>
              </a:defRPr>
            </a:pPr>
            <a:r>
              <a:t>Slide 8 of 22</a:t>
            </a:r>
          </a:p>
        </p:txBody>
      </p:sp>
      <p:sp>
        <p:nvSpPr>
          <p:cNvPr id="7" name="Rectangle 6"/>
          <p:cNvSpPr/>
          <p:nvPr/>
        </p:nvSpPr>
        <p:spPr>
          <a:xfrm>
            <a:off x="731520" y="1325880"/>
            <a:ext cx="5120640" cy="1051560"/>
          </a:xfrm>
          <a:prstGeom prst="rect">
            <a:avLst/>
          </a:prstGeom>
          <a:solidFill>
            <a:srgbClr val="F4F8F5"/>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35608"/>
            <a:ext cx="4754880" cy="832104"/>
          </a:xfrm>
          <a:prstGeom prst="rect">
            <a:avLst/>
          </a:prstGeom>
          <a:noFill/>
        </p:spPr>
        <p:txBody>
          <a:bodyPr wrap="square">
            <a:spAutoFit/>
          </a:bodyPr>
          <a:lstStyle/>
          <a:p>
            <a:pPr>
              <a:spcAft>
                <a:spcPts val="300"/>
              </a:spcAft>
              <a:defRPr sz="1100" b="1">
                <a:solidFill>
                  <a:srgbClr val="176B4E"/>
                </a:solidFill>
                <a:latin typeface="Cambria"/>
              </a:defRPr>
            </a:pPr>
            <a:r>
              <a:t>Module Overview</a:t>
            </a:r>
          </a:p>
          <a:p>
            <a:pPr>
              <a:defRPr sz="950">
                <a:solidFill>
                  <a:srgbClr val="2D3748"/>
                </a:solidFill>
                <a:latin typeface="Calibri"/>
              </a:defRPr>
            </a:pPr>
            <a:r>
              <a:t>Empowers student mentors to showcase domain expertise, specify skill proficiency levels, set hourly rates, publish weekly availability, and display verified student testimonials.</a:t>
            </a:r>
          </a:p>
        </p:txBody>
      </p:sp>
      <p:sp>
        <p:nvSpPr>
          <p:cNvPr id="9" name="Rectangle 8"/>
          <p:cNvSpPr/>
          <p:nvPr/>
        </p:nvSpPr>
        <p:spPr>
          <a:xfrm>
            <a:off x="731520" y="2514600"/>
            <a:ext cx="5120640" cy="2148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642616"/>
            <a:ext cx="4754880" cy="1892808"/>
          </a:xfrm>
          <a:prstGeom prst="rect">
            <a:avLst/>
          </a:prstGeom>
          <a:noFill/>
        </p:spPr>
        <p:txBody>
          <a:bodyPr wrap="square">
            <a:spAutoFit/>
          </a:bodyPr>
          <a:lstStyle/>
          <a:p>
            <a:pPr>
              <a:spcAft>
                <a:spcPts val="600"/>
              </a:spcAft>
              <a:defRPr sz="1100" b="1">
                <a:solidFill>
                  <a:srgbClr val="176B4E"/>
                </a:solidFill>
                <a:latin typeface="Cambria"/>
              </a:defRPr>
            </a:pPr>
            <a:r>
              <a:t>Key Functional Features</a:t>
            </a:r>
          </a:p>
          <a:p>
            <a:pPr>
              <a:spcAft>
                <a:spcPts val="400"/>
              </a:spcAft>
            </a:pPr>
            <a:r>
              <a:rPr sz="950" b="1">
                <a:solidFill>
                  <a:srgbClr val="1A202C"/>
                </a:solidFill>
                <a:latin typeface="Calibri"/>
              </a:rPr>
              <a:t>• Public Portfolio Showcase: </a:t>
            </a:r>
            <a:r>
              <a:rPr sz="900">
                <a:solidFill>
                  <a:srgbClr val="2D3748"/>
                </a:solidFill>
                <a:latin typeface="Calibri"/>
              </a:rPr>
              <a:t>Displays mentor identity with avatar, verified badge, university background, and technical bio.</a:t>
            </a:r>
          </a:p>
          <a:p>
            <a:pPr>
              <a:spcAft>
                <a:spcPts val="400"/>
              </a:spcAft>
            </a:pPr>
            <a:r>
              <a:rPr sz="950" b="1">
                <a:solidFill>
                  <a:srgbClr val="1A202C"/>
                </a:solidFill>
                <a:latin typeface="Calibri"/>
              </a:rPr>
              <a:t>• Granular Skill Depth Ratings: </a:t>
            </a:r>
            <a:r>
              <a:rPr sz="900">
                <a:solidFill>
                  <a:srgbClr val="2D3748"/>
                </a:solidFill>
                <a:latin typeface="Calibri"/>
              </a:rPr>
              <a:t>Visualizes proficiency across listed skills from Beginner, Intermediate, Advanced, to Expert.</a:t>
            </a:r>
          </a:p>
          <a:p>
            <a:pPr>
              <a:spcAft>
                <a:spcPts val="400"/>
              </a:spcAft>
            </a:pPr>
            <a:r>
              <a:rPr sz="950" b="1">
                <a:solidFill>
                  <a:srgbClr val="1A202C"/>
                </a:solidFill>
                <a:latin typeface="Calibri"/>
              </a:rPr>
              <a:t>• Hourly Fee Configuration: </a:t>
            </a:r>
            <a:r>
              <a:rPr sz="900">
                <a:solidFill>
                  <a:srgbClr val="2D3748"/>
                </a:solidFill>
                <a:latin typeface="Calibri"/>
              </a:rPr>
              <a:t>Allows mentors to set custom hourly rates (e.g., ₹500/hr) with automatic pro-rata session calculations.</a:t>
            </a:r>
          </a:p>
          <a:p>
            <a:pPr>
              <a:spcAft>
                <a:spcPts val="400"/>
              </a:spcAft>
            </a:pPr>
            <a:r>
              <a:rPr sz="950" b="1">
                <a:solidFill>
                  <a:srgbClr val="1A202C"/>
                </a:solidFill>
                <a:latin typeface="Calibri"/>
              </a:rPr>
              <a:t>• Weekly Availability Schedule: </a:t>
            </a:r>
            <a:r>
              <a:rPr sz="900">
                <a:solidFill>
                  <a:srgbClr val="2D3748"/>
                </a:solidFill>
                <a:latin typeface="Calibri"/>
              </a:rPr>
              <a:t>Defines open schedule chips (Weekdays, Weekends, Evenings) and direct 'Book Session' triggers.</a:t>
            </a:r>
          </a:p>
        </p:txBody>
      </p:sp>
      <p:sp>
        <p:nvSpPr>
          <p:cNvPr id="11" name="Rectangle 10"/>
          <p:cNvSpPr/>
          <p:nvPr/>
        </p:nvSpPr>
        <p:spPr>
          <a:xfrm>
            <a:off x="731520" y="4800600"/>
            <a:ext cx="5120640" cy="1508760"/>
          </a:xfrm>
          <a:prstGeom prst="rect">
            <a:avLst/>
          </a:prstGeom>
          <a:solidFill>
            <a:srgbClr val="F8FBF9"/>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910328"/>
            <a:ext cx="4754880" cy="1289304"/>
          </a:xfrm>
          <a:prstGeom prst="rect">
            <a:avLst/>
          </a:prstGeom>
          <a:noFill/>
        </p:spPr>
        <p:txBody>
          <a:bodyPr wrap="square">
            <a:spAutoFit/>
          </a:bodyPr>
          <a:lstStyle/>
          <a:p>
            <a:pPr>
              <a:spcAft>
                <a:spcPts val="400"/>
              </a:spcAft>
              <a:defRPr sz="1100" b="1">
                <a:solidFill>
                  <a:srgbClr val="176B4E"/>
                </a:solidFill>
                <a:latin typeface="Cambria"/>
              </a:defRPr>
            </a:pPr>
            <a:r>
              <a:t>Technical Specifications &amp; APIs</a:t>
            </a:r>
          </a:p>
          <a:p>
            <a:pPr>
              <a:spcAft>
                <a:spcPts val="200"/>
              </a:spcAft>
            </a:pPr>
            <a:r>
              <a:rPr sz="900" b="1">
                <a:solidFill>
                  <a:srgbClr val="1A202C"/>
                </a:solidFill>
                <a:latin typeface="Calibri"/>
              </a:rPr>
              <a:t>Core Endpoints: </a:t>
            </a:r>
            <a:r>
              <a:rPr sz="850">
                <a:solidFill>
                  <a:srgbClr val="2D3748"/>
                </a:solidFill>
                <a:latin typeface="Calibri"/>
              </a:rPr>
              <a:t>GET /api/mentors/:id, GET /api/profile/:id, PUT /api/mentors/availability</a:t>
            </a:r>
          </a:p>
          <a:p>
            <a:pPr>
              <a:spcAft>
                <a:spcPts val="200"/>
              </a:spcAft>
            </a:pPr>
            <a:r>
              <a:rPr sz="900" b="1">
                <a:solidFill>
                  <a:srgbClr val="1A202C"/>
                </a:solidFill>
                <a:latin typeface="Calibri"/>
              </a:rPr>
              <a:t>Client Component: </a:t>
            </a:r>
            <a:r>
              <a:rPr sz="850">
                <a:solidFill>
                  <a:srgbClr val="2D3748"/>
                </a:solidFill>
                <a:latin typeface="Calibri"/>
              </a:rPr>
              <a:t>OtherProfilePage.jsx, MentorScheduleChips.jsx, SkillDepthMeter.jsx</a:t>
            </a:r>
          </a:p>
          <a:p>
            <a:pPr>
              <a:spcAft>
                <a:spcPts val="200"/>
              </a:spcAft>
            </a:pPr>
            <a:r>
              <a:rPr sz="900" b="1">
                <a:solidFill>
                  <a:srgbClr val="1A202C"/>
                </a:solidFill>
                <a:latin typeface="Calibri"/>
              </a:rPr>
              <a:t>Database Model: </a:t>
            </a:r>
            <a:r>
              <a:rPr sz="850">
                <a:solidFill>
                  <a:srgbClr val="2D3748"/>
                </a:solidFill>
                <a:latin typeface="Calibri"/>
              </a:rPr>
              <a:t>User schema (fields: skillsToTeach: [String], teachingSkillLevels: Map, hourlyRate: Number)</a:t>
            </a:r>
          </a:p>
          <a:p>
            <a:pPr>
              <a:spcAft>
                <a:spcPts val="200"/>
              </a:spcAft>
            </a:pPr>
            <a:r>
              <a:rPr sz="900" b="1">
                <a:solidFill>
                  <a:srgbClr val="1A202C"/>
                </a:solidFill>
                <a:latin typeface="Calibri"/>
              </a:rPr>
              <a:t>Data Relationship: </a:t>
            </a:r>
            <a:r>
              <a:rPr sz="850">
                <a:solidFill>
                  <a:srgbClr val="2D3748"/>
                </a:solidFill>
                <a:latin typeface="Calibri"/>
              </a:rPr>
              <a:t>One-to-many relationship with Review collection to calculate live average ratings</a:t>
            </a:r>
          </a:p>
        </p:txBody>
      </p:sp>
      <p:sp>
        <p:nvSpPr>
          <p:cNvPr id="13" name="Rectangle 12"/>
          <p:cNvSpPr/>
          <p:nvPr/>
        </p:nvSpPr>
        <p:spPr>
          <a:xfrm>
            <a:off x="6080760" y="1325880"/>
            <a:ext cx="5376672" cy="4983480"/>
          </a:xfrm>
          <a:prstGeom prst="rect">
            <a:avLst/>
          </a:prstGeom>
          <a:solidFill>
            <a:srgbClr val="FFFFFF"/>
          </a:solidFill>
          <a:ln w="1905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03b_other_user_profile.png"/>
          <p:cNvPicPr>
            <a:picLocks noChangeAspect="1"/>
          </p:cNvPicPr>
          <p:nvPr/>
        </p:nvPicPr>
        <p:blipFill>
          <a:blip r:embed="rId2"/>
          <a:stretch>
            <a:fillRect/>
          </a:stretch>
        </p:blipFill>
        <p:spPr>
          <a:xfrm>
            <a:off x="6117336" y="1362456"/>
            <a:ext cx="5303520" cy="4910328"/>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BF9"/>
        </a:solidFill>
        <a:effectLst/>
      </p:bgPr>
    </p:bg>
    <p:spTree>
      <p:nvGrpSpPr>
        <p:cNvPr id="1" name=""/>
        <p:cNvGrpSpPr/>
        <p:nvPr/>
      </p:nvGrpSpPr>
      <p:grpSpPr/>
      <p:sp>
        <p:nvSpPr>
          <p:cNvPr id="2" name="TextBox 1"/>
          <p:cNvSpPr txBox="1"/>
          <p:nvPr/>
        </p:nvSpPr>
        <p:spPr>
          <a:xfrm>
            <a:off x="731520" y="365760"/>
            <a:ext cx="10698480" cy="256032"/>
          </a:xfrm>
          <a:prstGeom prst="rect">
            <a:avLst/>
          </a:prstGeom>
          <a:noFill/>
        </p:spPr>
        <p:txBody>
          <a:bodyPr wrap="square" lIns="0" tIns="0" rIns="0" bIns="0">
            <a:spAutoFit/>
          </a:bodyPr>
          <a:lstStyle/>
          <a:p>
            <a:pPr>
              <a:defRPr sz="950" b="1">
                <a:solidFill>
                  <a:srgbClr val="176B4E"/>
                </a:solidFill>
                <a:latin typeface="Calibri"/>
              </a:defRPr>
            </a:pPr>
            <a:r>
              <a:t>MODULE 4 OF 12: DISCOVERY &amp; DIRECTORY</a:t>
            </a:r>
          </a:p>
        </p:txBody>
      </p:sp>
      <p:sp>
        <p:nvSpPr>
          <p:cNvPr id="3" name="TextBox 2"/>
          <p:cNvSpPr txBox="1"/>
          <p:nvPr/>
        </p:nvSpPr>
        <p:spPr>
          <a:xfrm>
            <a:off x="731520" y="603504"/>
            <a:ext cx="10698480" cy="457200"/>
          </a:xfrm>
          <a:prstGeom prst="rect">
            <a:avLst/>
          </a:prstGeom>
          <a:noFill/>
        </p:spPr>
        <p:txBody>
          <a:bodyPr wrap="square" lIns="0" tIns="0" rIns="0" bIns="0">
            <a:spAutoFit/>
          </a:bodyPr>
          <a:lstStyle/>
          <a:p>
            <a:pPr>
              <a:defRPr sz="2100" b="1">
                <a:solidFill>
                  <a:srgbClr val="1A202C"/>
                </a:solidFill>
                <a:latin typeface="Cambria"/>
              </a:defRPr>
            </a:pPr>
            <a:r>
              <a:t>Discover &amp; Search Module</a:t>
            </a:r>
          </a:p>
        </p:txBody>
      </p:sp>
      <p:sp>
        <p:nvSpPr>
          <p:cNvPr id="4" name="Rectangle 3"/>
          <p:cNvSpPr/>
          <p:nvPr/>
        </p:nvSpPr>
        <p:spPr>
          <a:xfrm>
            <a:off x="731520" y="11155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92240"/>
            <a:ext cx="7315200" cy="274320"/>
          </a:xfrm>
          <a:prstGeom prst="rect">
            <a:avLst/>
          </a:prstGeom>
          <a:noFill/>
        </p:spPr>
        <p:txBody>
          <a:bodyPr wrap="none" lIns="0" tIns="0" rIns="0" bIns="0">
            <a:spAutoFit/>
          </a:bodyPr>
          <a:lstStyle/>
          <a:p>
            <a:pPr>
              <a:defRPr sz="900">
                <a:solidFill>
                  <a:srgbClr val="5A6578"/>
                </a:solidFill>
                <a:latin typeface="Calibri"/>
              </a:defRPr>
            </a:pPr>
            <a:r>
              <a:t>Skill Exchange · B.Tech CSE Capstone Project (Team CosmicCoder · Group 13)</a:t>
            </a:r>
          </a:p>
        </p:txBody>
      </p:sp>
      <p:sp>
        <p:nvSpPr>
          <p:cNvPr id="6" name="TextBox 5"/>
          <p:cNvSpPr txBox="1"/>
          <p:nvPr/>
        </p:nvSpPr>
        <p:spPr>
          <a:xfrm>
            <a:off x="8686800" y="6492240"/>
            <a:ext cx="2743200" cy="274320"/>
          </a:xfrm>
          <a:prstGeom prst="rect">
            <a:avLst/>
          </a:prstGeom>
          <a:noFill/>
        </p:spPr>
        <p:txBody>
          <a:bodyPr wrap="none" lIns="0" tIns="0" rIns="0" bIns="0">
            <a:spAutoFit/>
          </a:bodyPr>
          <a:lstStyle/>
          <a:p>
            <a:pPr algn="r">
              <a:defRPr sz="900" b="1">
                <a:solidFill>
                  <a:srgbClr val="5A6578"/>
                </a:solidFill>
                <a:latin typeface="Calibri"/>
              </a:defRPr>
            </a:pPr>
            <a:r>
              <a:t>Slide 9 of 22</a:t>
            </a:r>
          </a:p>
        </p:txBody>
      </p:sp>
      <p:sp>
        <p:nvSpPr>
          <p:cNvPr id="7" name="Rectangle 6"/>
          <p:cNvSpPr/>
          <p:nvPr/>
        </p:nvSpPr>
        <p:spPr>
          <a:xfrm>
            <a:off x="731520" y="1325880"/>
            <a:ext cx="5120640" cy="1051560"/>
          </a:xfrm>
          <a:prstGeom prst="rect">
            <a:avLst/>
          </a:prstGeom>
          <a:solidFill>
            <a:srgbClr val="F4F8F5"/>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35608"/>
            <a:ext cx="4754880" cy="832104"/>
          </a:xfrm>
          <a:prstGeom prst="rect">
            <a:avLst/>
          </a:prstGeom>
          <a:noFill/>
        </p:spPr>
        <p:txBody>
          <a:bodyPr wrap="square">
            <a:spAutoFit/>
          </a:bodyPr>
          <a:lstStyle/>
          <a:p>
            <a:pPr>
              <a:spcAft>
                <a:spcPts val="300"/>
              </a:spcAft>
              <a:defRPr sz="1100" b="1">
                <a:solidFill>
                  <a:srgbClr val="176B4E"/>
                </a:solidFill>
                <a:latin typeface="Cambria"/>
              </a:defRPr>
            </a:pPr>
            <a:r>
              <a:t>Module Overview</a:t>
            </a:r>
          </a:p>
          <a:p>
            <a:pPr>
              <a:defRPr sz="950">
                <a:solidFill>
                  <a:srgbClr val="2D3748"/>
                </a:solidFill>
                <a:latin typeface="Calibri"/>
              </a:defRPr>
            </a:pPr>
            <a:r>
              <a:t>Provides a high-performance searchable directory for learners to browse, filter, and discover qualified mentors and peer tutors across technical domains.</a:t>
            </a:r>
          </a:p>
        </p:txBody>
      </p:sp>
      <p:sp>
        <p:nvSpPr>
          <p:cNvPr id="9" name="Rectangle 8"/>
          <p:cNvSpPr/>
          <p:nvPr/>
        </p:nvSpPr>
        <p:spPr>
          <a:xfrm>
            <a:off x="731520" y="2514600"/>
            <a:ext cx="5120640" cy="2148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642616"/>
            <a:ext cx="4754880" cy="1892808"/>
          </a:xfrm>
          <a:prstGeom prst="rect">
            <a:avLst/>
          </a:prstGeom>
          <a:noFill/>
        </p:spPr>
        <p:txBody>
          <a:bodyPr wrap="square">
            <a:spAutoFit/>
          </a:bodyPr>
          <a:lstStyle/>
          <a:p>
            <a:pPr>
              <a:spcAft>
                <a:spcPts val="600"/>
              </a:spcAft>
              <a:defRPr sz="1100" b="1">
                <a:solidFill>
                  <a:srgbClr val="176B4E"/>
                </a:solidFill>
                <a:latin typeface="Cambria"/>
              </a:defRPr>
            </a:pPr>
            <a:r>
              <a:t>Key Functional Features</a:t>
            </a:r>
          </a:p>
          <a:p>
            <a:pPr>
              <a:spcAft>
                <a:spcPts val="400"/>
              </a:spcAft>
            </a:pPr>
            <a:r>
              <a:rPr sz="950" b="1">
                <a:solidFill>
                  <a:srgbClr val="1A202C"/>
                </a:solidFill>
                <a:latin typeface="Calibri"/>
              </a:rPr>
              <a:t>• Real-Time Keyword Search: </a:t>
            </a:r>
            <a:r>
              <a:rPr sz="900">
                <a:solidFill>
                  <a:srgbClr val="2D3748"/>
                </a:solidFill>
                <a:latin typeface="Calibri"/>
              </a:rPr>
              <a:t>Instantly filters mentors by name, technical skill tags, or biographical keywords with debounced input.</a:t>
            </a:r>
          </a:p>
          <a:p>
            <a:pPr>
              <a:spcAft>
                <a:spcPts val="400"/>
              </a:spcAft>
            </a:pPr>
            <a:r>
              <a:rPr sz="950" b="1">
                <a:solidFill>
                  <a:srgbClr val="1A202C"/>
                </a:solidFill>
                <a:latin typeface="Calibri"/>
              </a:rPr>
              <a:t>• Domain Category Filters: </a:t>
            </a:r>
            <a:r>
              <a:rPr sz="900">
                <a:solidFill>
                  <a:srgbClr val="2D3748"/>
                </a:solidFill>
                <a:latin typeface="Calibri"/>
              </a:rPr>
              <a:t>Allows quick 1-click filtering across categories such as Web Development, AI/ML, Design, and Core CS.</a:t>
            </a:r>
          </a:p>
          <a:p>
            <a:pPr>
              <a:spcAft>
                <a:spcPts val="400"/>
              </a:spcAft>
            </a:pPr>
            <a:r>
              <a:rPr sz="950" b="1">
                <a:solidFill>
                  <a:srgbClr val="1A202C"/>
                </a:solidFill>
                <a:latin typeface="Calibri"/>
              </a:rPr>
              <a:t>• Directory Mentor Cards: </a:t>
            </a:r>
            <a:r>
              <a:rPr sz="900">
                <a:solidFill>
                  <a:srgbClr val="2D3748"/>
                </a:solidFill>
                <a:latin typeface="Calibri"/>
              </a:rPr>
              <a:t>Displays mentor credentials, hourly rates, verified badges, active skills, and direct profile links.</a:t>
            </a:r>
          </a:p>
          <a:p>
            <a:pPr>
              <a:spcAft>
                <a:spcPts val="400"/>
              </a:spcAft>
            </a:pPr>
            <a:r>
              <a:rPr sz="950" b="1">
                <a:solidFill>
                  <a:srgbClr val="1A202C"/>
                </a:solidFill>
                <a:latin typeface="Calibri"/>
              </a:rPr>
              <a:t>• Dual Role Directory Toggling: </a:t>
            </a:r>
            <a:r>
              <a:rPr sz="900">
                <a:solidFill>
                  <a:srgbClr val="2D3748"/>
                </a:solidFill>
                <a:latin typeface="Calibri"/>
              </a:rPr>
              <a:t>Enables users to toggle between discovering mentors to learn from, or exploring fellow peer learners.</a:t>
            </a:r>
          </a:p>
        </p:txBody>
      </p:sp>
      <p:sp>
        <p:nvSpPr>
          <p:cNvPr id="11" name="Rectangle 10"/>
          <p:cNvSpPr/>
          <p:nvPr/>
        </p:nvSpPr>
        <p:spPr>
          <a:xfrm>
            <a:off x="731520" y="4800600"/>
            <a:ext cx="5120640" cy="1508760"/>
          </a:xfrm>
          <a:prstGeom prst="rect">
            <a:avLst/>
          </a:prstGeom>
          <a:solidFill>
            <a:srgbClr val="F8FBF9"/>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910328"/>
            <a:ext cx="4754880" cy="1289304"/>
          </a:xfrm>
          <a:prstGeom prst="rect">
            <a:avLst/>
          </a:prstGeom>
          <a:noFill/>
        </p:spPr>
        <p:txBody>
          <a:bodyPr wrap="square">
            <a:spAutoFit/>
          </a:bodyPr>
          <a:lstStyle/>
          <a:p>
            <a:pPr>
              <a:spcAft>
                <a:spcPts val="400"/>
              </a:spcAft>
              <a:defRPr sz="1100" b="1">
                <a:solidFill>
                  <a:srgbClr val="176B4E"/>
                </a:solidFill>
                <a:latin typeface="Cambria"/>
              </a:defRPr>
            </a:pPr>
            <a:r>
              <a:t>Technical Specifications &amp; APIs</a:t>
            </a:r>
          </a:p>
          <a:p>
            <a:pPr>
              <a:spcAft>
                <a:spcPts val="200"/>
              </a:spcAft>
            </a:pPr>
            <a:r>
              <a:rPr sz="900" b="1">
                <a:solidFill>
                  <a:srgbClr val="1A202C"/>
                </a:solidFill>
                <a:latin typeface="Calibri"/>
              </a:rPr>
              <a:t>Core Endpoints: </a:t>
            </a:r>
            <a:r>
              <a:rPr sz="850">
                <a:solidFill>
                  <a:srgbClr val="2D3748"/>
                </a:solidFill>
                <a:latin typeface="Calibri"/>
              </a:rPr>
              <a:t>GET /api/mentors, GET /api/categories, GET /api/users/search?q=:query</a:t>
            </a:r>
          </a:p>
          <a:p>
            <a:pPr>
              <a:spcAft>
                <a:spcPts val="200"/>
              </a:spcAft>
            </a:pPr>
            <a:r>
              <a:rPr sz="900" b="1">
                <a:solidFill>
                  <a:srgbClr val="1A202C"/>
                </a:solidFill>
                <a:latin typeface="Calibri"/>
              </a:rPr>
              <a:t>Client Component: </a:t>
            </a:r>
            <a:r>
              <a:rPr sz="850">
                <a:solidFill>
                  <a:srgbClr val="2D3748"/>
                </a:solidFill>
                <a:latin typeface="Calibri"/>
              </a:rPr>
              <a:t>DiscoverPage.jsx, MemberCard.jsx, CategoryFilterPills.jsx</a:t>
            </a:r>
          </a:p>
          <a:p>
            <a:pPr>
              <a:spcAft>
                <a:spcPts val="200"/>
              </a:spcAft>
            </a:pPr>
            <a:r>
              <a:rPr sz="900" b="1">
                <a:solidFill>
                  <a:srgbClr val="1A202C"/>
                </a:solidFill>
                <a:latin typeface="Calibri"/>
              </a:rPr>
              <a:t>Database Optimization: </a:t>
            </a:r>
            <a:r>
              <a:rPr sz="850">
                <a:solidFill>
                  <a:srgbClr val="2D3748"/>
                </a:solidFill>
                <a:latin typeface="Calibri"/>
              </a:rPr>
              <a:t>Text indexes on User collection fields: name, bio, skillsToTeach, and skillsToLearn</a:t>
            </a:r>
          </a:p>
          <a:p>
            <a:pPr>
              <a:spcAft>
                <a:spcPts val="200"/>
              </a:spcAft>
            </a:pPr>
            <a:r>
              <a:rPr sz="900" b="1">
                <a:solidFill>
                  <a:srgbClr val="1A202C"/>
                </a:solidFill>
                <a:latin typeface="Calibri"/>
              </a:rPr>
              <a:t>Performance Feature: </a:t>
            </a:r>
            <a:r>
              <a:rPr sz="850">
                <a:solidFill>
                  <a:srgbClr val="2D3748"/>
                </a:solidFill>
                <a:latin typeface="Calibri"/>
              </a:rPr>
              <a:t>Debounced search queries (300ms) to eliminate redundant backend API roundtrips</a:t>
            </a:r>
          </a:p>
        </p:txBody>
      </p:sp>
      <p:sp>
        <p:nvSpPr>
          <p:cNvPr id="13" name="Rectangle 12"/>
          <p:cNvSpPr/>
          <p:nvPr/>
        </p:nvSpPr>
        <p:spPr>
          <a:xfrm>
            <a:off x="6080760" y="1325880"/>
            <a:ext cx="5376672" cy="4983480"/>
          </a:xfrm>
          <a:prstGeom prst="rect">
            <a:avLst/>
          </a:prstGeom>
          <a:solidFill>
            <a:srgbClr val="FFFFFF"/>
          </a:solidFill>
          <a:ln w="1905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04_discover.png"/>
          <p:cNvPicPr>
            <a:picLocks noChangeAspect="1"/>
          </p:cNvPicPr>
          <p:nvPr/>
        </p:nvPicPr>
        <p:blipFill>
          <a:blip r:embed="rId2"/>
          <a:stretch>
            <a:fillRect/>
          </a:stretch>
        </p:blipFill>
        <p:spPr>
          <a:xfrm>
            <a:off x="6117336" y="1362456"/>
            <a:ext cx="5303520" cy="4910328"/>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BF9"/>
        </a:solidFill>
        <a:effectLst/>
      </p:bgPr>
    </p:bg>
    <p:spTree>
      <p:nvGrpSpPr>
        <p:cNvPr id="1" name=""/>
        <p:cNvGrpSpPr/>
        <p:nvPr/>
      </p:nvGrpSpPr>
      <p:grpSpPr/>
      <p:sp>
        <p:nvSpPr>
          <p:cNvPr id="2" name="TextBox 1"/>
          <p:cNvSpPr txBox="1"/>
          <p:nvPr/>
        </p:nvSpPr>
        <p:spPr>
          <a:xfrm>
            <a:off x="731520" y="365760"/>
            <a:ext cx="10698480" cy="256032"/>
          </a:xfrm>
          <a:prstGeom prst="rect">
            <a:avLst/>
          </a:prstGeom>
          <a:noFill/>
        </p:spPr>
        <p:txBody>
          <a:bodyPr wrap="square" lIns="0" tIns="0" rIns="0" bIns="0">
            <a:spAutoFit/>
          </a:bodyPr>
          <a:lstStyle/>
          <a:p>
            <a:pPr>
              <a:defRPr sz="950" b="1">
                <a:solidFill>
                  <a:srgbClr val="176B4E"/>
                </a:solidFill>
                <a:latin typeface="Calibri"/>
              </a:defRPr>
            </a:pPr>
            <a:r>
              <a:t>MODULE 5 OF 12: INTELLIGENT MATCHING</a:t>
            </a:r>
          </a:p>
        </p:txBody>
      </p:sp>
      <p:sp>
        <p:nvSpPr>
          <p:cNvPr id="3" name="TextBox 2"/>
          <p:cNvSpPr txBox="1"/>
          <p:nvPr/>
        </p:nvSpPr>
        <p:spPr>
          <a:xfrm>
            <a:off x="731520" y="603504"/>
            <a:ext cx="10698480" cy="457200"/>
          </a:xfrm>
          <a:prstGeom prst="rect">
            <a:avLst/>
          </a:prstGeom>
          <a:noFill/>
        </p:spPr>
        <p:txBody>
          <a:bodyPr wrap="square" lIns="0" tIns="0" rIns="0" bIns="0">
            <a:spAutoFit/>
          </a:bodyPr>
          <a:lstStyle/>
          <a:p>
            <a:pPr>
              <a:defRPr sz="2100" b="1">
                <a:solidFill>
                  <a:srgbClr val="1A202C"/>
                </a:solidFill>
                <a:latin typeface="Cambria"/>
              </a:defRPr>
            </a:pPr>
            <a:r>
              <a:t>AI Mentor Matching Module</a:t>
            </a:r>
          </a:p>
        </p:txBody>
      </p:sp>
      <p:sp>
        <p:nvSpPr>
          <p:cNvPr id="4" name="Rectangle 3"/>
          <p:cNvSpPr/>
          <p:nvPr/>
        </p:nvSpPr>
        <p:spPr>
          <a:xfrm>
            <a:off x="731520" y="11155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92240"/>
            <a:ext cx="7315200" cy="274320"/>
          </a:xfrm>
          <a:prstGeom prst="rect">
            <a:avLst/>
          </a:prstGeom>
          <a:noFill/>
        </p:spPr>
        <p:txBody>
          <a:bodyPr wrap="none" lIns="0" tIns="0" rIns="0" bIns="0">
            <a:spAutoFit/>
          </a:bodyPr>
          <a:lstStyle/>
          <a:p>
            <a:pPr>
              <a:defRPr sz="900">
                <a:solidFill>
                  <a:srgbClr val="5A6578"/>
                </a:solidFill>
                <a:latin typeface="Calibri"/>
              </a:defRPr>
            </a:pPr>
            <a:r>
              <a:t>Skill Exchange · B.Tech CSE Capstone Project (Team CosmicCoder · Group 13)</a:t>
            </a:r>
          </a:p>
        </p:txBody>
      </p:sp>
      <p:sp>
        <p:nvSpPr>
          <p:cNvPr id="6" name="TextBox 5"/>
          <p:cNvSpPr txBox="1"/>
          <p:nvPr/>
        </p:nvSpPr>
        <p:spPr>
          <a:xfrm>
            <a:off x="8686800" y="6492240"/>
            <a:ext cx="2743200" cy="274320"/>
          </a:xfrm>
          <a:prstGeom prst="rect">
            <a:avLst/>
          </a:prstGeom>
          <a:noFill/>
        </p:spPr>
        <p:txBody>
          <a:bodyPr wrap="none" lIns="0" tIns="0" rIns="0" bIns="0">
            <a:spAutoFit/>
          </a:bodyPr>
          <a:lstStyle/>
          <a:p>
            <a:pPr algn="r">
              <a:defRPr sz="900" b="1">
                <a:solidFill>
                  <a:srgbClr val="5A6578"/>
                </a:solidFill>
                <a:latin typeface="Calibri"/>
              </a:defRPr>
            </a:pPr>
            <a:r>
              <a:t>Slide 10 of 22</a:t>
            </a:r>
          </a:p>
        </p:txBody>
      </p:sp>
      <p:sp>
        <p:nvSpPr>
          <p:cNvPr id="7" name="Rectangle 6"/>
          <p:cNvSpPr/>
          <p:nvPr/>
        </p:nvSpPr>
        <p:spPr>
          <a:xfrm>
            <a:off x="731520" y="1325880"/>
            <a:ext cx="5120640" cy="1051560"/>
          </a:xfrm>
          <a:prstGeom prst="rect">
            <a:avLst/>
          </a:prstGeom>
          <a:solidFill>
            <a:srgbClr val="F4F8F5"/>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35608"/>
            <a:ext cx="4754880" cy="832104"/>
          </a:xfrm>
          <a:prstGeom prst="rect">
            <a:avLst/>
          </a:prstGeom>
          <a:noFill/>
        </p:spPr>
        <p:txBody>
          <a:bodyPr wrap="square">
            <a:spAutoFit/>
          </a:bodyPr>
          <a:lstStyle/>
          <a:p>
            <a:pPr>
              <a:spcAft>
                <a:spcPts val="300"/>
              </a:spcAft>
              <a:defRPr sz="1100" b="1">
                <a:solidFill>
                  <a:srgbClr val="176B4E"/>
                </a:solidFill>
                <a:latin typeface="Cambria"/>
              </a:defRPr>
            </a:pPr>
            <a:r>
              <a:t>Module Overview</a:t>
            </a:r>
          </a:p>
          <a:p>
            <a:pPr>
              <a:defRPr sz="950">
                <a:solidFill>
                  <a:srgbClr val="2D3748"/>
                </a:solidFill>
                <a:latin typeface="Calibri"/>
              </a:defRPr>
            </a:pPr>
            <a:r>
              <a:t>Leverages an automated multi-factor scoring algorithm and Google Gemini AI to rank and recommend the best-suited mentors based on learner goals, budget, and availability.</a:t>
            </a:r>
          </a:p>
        </p:txBody>
      </p:sp>
      <p:sp>
        <p:nvSpPr>
          <p:cNvPr id="9" name="Rectangle 8"/>
          <p:cNvSpPr/>
          <p:nvPr/>
        </p:nvSpPr>
        <p:spPr>
          <a:xfrm>
            <a:off x="731520" y="2514600"/>
            <a:ext cx="5120640" cy="2148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642616"/>
            <a:ext cx="4754880" cy="1892808"/>
          </a:xfrm>
          <a:prstGeom prst="rect">
            <a:avLst/>
          </a:prstGeom>
          <a:noFill/>
        </p:spPr>
        <p:txBody>
          <a:bodyPr wrap="square">
            <a:spAutoFit/>
          </a:bodyPr>
          <a:lstStyle/>
          <a:p>
            <a:pPr>
              <a:spcAft>
                <a:spcPts val="600"/>
              </a:spcAft>
              <a:defRPr sz="1100" b="1">
                <a:solidFill>
                  <a:srgbClr val="176B4E"/>
                </a:solidFill>
                <a:latin typeface="Cambria"/>
              </a:defRPr>
            </a:pPr>
            <a:r>
              <a:t>Key Functional Features</a:t>
            </a:r>
          </a:p>
          <a:p>
            <a:pPr>
              <a:spcAft>
                <a:spcPts val="400"/>
              </a:spcAft>
            </a:pPr>
            <a:r>
              <a:rPr sz="950" b="1">
                <a:solidFill>
                  <a:srgbClr val="1A202C"/>
                </a:solidFill>
                <a:latin typeface="Calibri"/>
              </a:rPr>
              <a:t>• Multi-Factor Heuristic Engine: </a:t>
            </a:r>
            <a:r>
              <a:rPr sz="900">
                <a:solidFill>
                  <a:srgbClr val="2D3748"/>
                </a:solidFill>
                <a:latin typeface="Calibri"/>
              </a:rPr>
              <a:t>Evaluates skill overlap, schedule compatibility, learner budget match, and mentor rating metrics.</a:t>
            </a:r>
          </a:p>
          <a:p>
            <a:pPr>
              <a:spcAft>
                <a:spcPts val="400"/>
              </a:spcAft>
            </a:pPr>
            <a:r>
              <a:rPr sz="950" b="1">
                <a:solidFill>
                  <a:srgbClr val="1A202C"/>
                </a:solidFill>
                <a:latin typeface="Calibri"/>
              </a:rPr>
              <a:t>• Transparent Match Percentage: </a:t>
            </a:r>
            <a:r>
              <a:rPr sz="900">
                <a:solidFill>
                  <a:srgbClr val="2D3748"/>
                </a:solidFill>
                <a:latin typeface="Calibri"/>
              </a:rPr>
              <a:t>Displays normalized match scores (e.g., 66% Match) with specific reasons explaining why the mentor was chosen.</a:t>
            </a:r>
          </a:p>
          <a:p>
            <a:pPr>
              <a:spcAft>
                <a:spcPts val="400"/>
              </a:spcAft>
            </a:pPr>
            <a:r>
              <a:rPr sz="950" b="1">
                <a:solidFill>
                  <a:srgbClr val="1A202C"/>
                </a:solidFill>
                <a:latin typeface="Calibri"/>
              </a:rPr>
              <a:t>• On-The-Fly Criteria Overrides: </a:t>
            </a:r>
            <a:r>
              <a:rPr sz="900">
                <a:solidFill>
                  <a:srgbClr val="2D3748"/>
                </a:solidFill>
                <a:latin typeface="Calibri"/>
              </a:rPr>
              <a:t>Allows learners to test custom target skills, timing preferences, and budget caps inside the modal.</a:t>
            </a:r>
          </a:p>
          <a:p>
            <a:pPr>
              <a:spcAft>
                <a:spcPts val="400"/>
              </a:spcAft>
            </a:pPr>
            <a:r>
              <a:rPr sz="950" b="1">
                <a:solidFill>
                  <a:srgbClr val="1A202C"/>
                </a:solidFill>
                <a:latin typeface="Calibri"/>
              </a:rPr>
              <a:t>• Gemini AI Re-Ranking: </a:t>
            </a:r>
            <a:r>
              <a:rPr sz="900">
                <a:solidFill>
                  <a:srgbClr val="2D3748"/>
                </a:solidFill>
                <a:latin typeface="Calibri"/>
              </a:rPr>
              <a:t>Uses Google Gemini LLM API to analyze unstructured bios and contextually re-rank recommendations.</a:t>
            </a:r>
          </a:p>
          <a:p>
            <a:pPr>
              <a:spcAft>
                <a:spcPts val="400"/>
              </a:spcAft>
            </a:pPr>
            <a:r>
              <a:rPr sz="950" b="1">
                <a:solidFill>
                  <a:srgbClr val="1A202C"/>
                </a:solidFill>
                <a:latin typeface="Calibri"/>
              </a:rPr>
              <a:t>• Caching &amp; Rate Protection: </a:t>
            </a:r>
            <a:r>
              <a:rPr sz="900">
                <a:solidFill>
                  <a:srgbClr val="2D3748"/>
                </a:solidFill>
                <a:latin typeface="Calibri"/>
              </a:rPr>
              <a:t>Features an in-memory cache (15-min TTL) and rate-limiting (10 req/min) to ensure sub-100ms response times.</a:t>
            </a:r>
          </a:p>
        </p:txBody>
      </p:sp>
      <p:sp>
        <p:nvSpPr>
          <p:cNvPr id="11" name="Rectangle 10"/>
          <p:cNvSpPr/>
          <p:nvPr/>
        </p:nvSpPr>
        <p:spPr>
          <a:xfrm>
            <a:off x="731520" y="4800600"/>
            <a:ext cx="5120640" cy="1508760"/>
          </a:xfrm>
          <a:prstGeom prst="rect">
            <a:avLst/>
          </a:prstGeom>
          <a:solidFill>
            <a:srgbClr val="F8FBF9"/>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910328"/>
            <a:ext cx="4754880" cy="1289304"/>
          </a:xfrm>
          <a:prstGeom prst="rect">
            <a:avLst/>
          </a:prstGeom>
          <a:noFill/>
        </p:spPr>
        <p:txBody>
          <a:bodyPr wrap="square">
            <a:spAutoFit/>
          </a:bodyPr>
          <a:lstStyle/>
          <a:p>
            <a:pPr>
              <a:spcAft>
                <a:spcPts val="400"/>
              </a:spcAft>
              <a:defRPr sz="1100" b="1">
                <a:solidFill>
                  <a:srgbClr val="176B4E"/>
                </a:solidFill>
                <a:latin typeface="Cambria"/>
              </a:defRPr>
            </a:pPr>
            <a:r>
              <a:t>Technical Specifications &amp; APIs</a:t>
            </a:r>
          </a:p>
          <a:p>
            <a:pPr>
              <a:spcAft>
                <a:spcPts val="200"/>
              </a:spcAft>
            </a:pPr>
            <a:r>
              <a:rPr sz="900" b="1">
                <a:solidFill>
                  <a:srgbClr val="1A202C"/>
                </a:solidFill>
                <a:latin typeface="Calibri"/>
              </a:rPr>
              <a:t>Core Endpoints: </a:t>
            </a:r>
            <a:r>
              <a:rPr sz="850">
                <a:solidFill>
                  <a:srgbClr val="2D3748"/>
                </a:solidFill>
                <a:latin typeface="Calibri"/>
              </a:rPr>
              <a:t>GET /api/matches?skill=:skill&amp;maxPrice=:price&amp;timing=:time&amp;refresh=true</a:t>
            </a:r>
          </a:p>
          <a:p>
            <a:pPr>
              <a:spcAft>
                <a:spcPts val="200"/>
              </a:spcAft>
            </a:pPr>
            <a:r>
              <a:rPr sz="900" b="1">
                <a:solidFill>
                  <a:srgbClr val="1A202C"/>
                </a:solidFill>
                <a:latin typeface="Calibri"/>
              </a:rPr>
              <a:t>Services &amp; Helpers: </a:t>
            </a:r>
            <a:r>
              <a:rPr sz="850">
                <a:solidFill>
                  <a:srgbClr val="2D3748"/>
                </a:solidFill>
                <a:latin typeface="Calibri"/>
              </a:rPr>
              <a:t>matcherService.js, scoreCandidate(), reRankWithGemini(), checkRateLimit()</a:t>
            </a:r>
          </a:p>
          <a:p>
            <a:pPr>
              <a:spcAft>
                <a:spcPts val="200"/>
              </a:spcAft>
            </a:pPr>
            <a:r>
              <a:rPr sz="900" b="1">
                <a:solidFill>
                  <a:srgbClr val="1A202C"/>
                </a:solidFill>
                <a:latin typeface="Calibri"/>
              </a:rPr>
              <a:t>AI Integration: </a:t>
            </a:r>
            <a:r>
              <a:rPr sz="850">
                <a:solidFill>
                  <a:srgbClr val="2D3748"/>
                </a:solidFill>
                <a:latin typeface="Calibri"/>
              </a:rPr>
              <a:t>Google Gemini API (gemini-1.5-flash / gemini-2.0) with automated fallback to heuristic scores</a:t>
            </a:r>
          </a:p>
          <a:p>
            <a:pPr>
              <a:spcAft>
                <a:spcPts val="200"/>
              </a:spcAft>
            </a:pPr>
            <a:r>
              <a:rPr sz="900" b="1">
                <a:solidFill>
                  <a:srgbClr val="1A202C"/>
                </a:solidFill>
                <a:latin typeface="Calibri"/>
              </a:rPr>
              <a:t>Data Aggregation: </a:t>
            </a:r>
            <a:r>
              <a:rPr sz="850">
                <a:solidFill>
                  <a:srgbClr val="2D3748"/>
                </a:solidFill>
                <a:latin typeface="Calibri"/>
              </a:rPr>
              <a:t>Single-pass MongoDB aggregation pipeline on Reviews and Bookings to eliminate N+1 queries</a:t>
            </a:r>
          </a:p>
        </p:txBody>
      </p:sp>
      <p:sp>
        <p:nvSpPr>
          <p:cNvPr id="13" name="Rectangle 12"/>
          <p:cNvSpPr/>
          <p:nvPr/>
        </p:nvSpPr>
        <p:spPr>
          <a:xfrm>
            <a:off x="6080760" y="1325880"/>
            <a:ext cx="5376672" cy="4983480"/>
          </a:xfrm>
          <a:prstGeom prst="rect">
            <a:avLst/>
          </a:prstGeom>
          <a:solidFill>
            <a:srgbClr val="FFFFFF"/>
          </a:solidFill>
          <a:ln w="1905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04b_ai_matcher.png"/>
          <p:cNvPicPr>
            <a:picLocks noChangeAspect="1"/>
          </p:cNvPicPr>
          <p:nvPr/>
        </p:nvPicPr>
        <p:blipFill>
          <a:blip r:embed="rId2"/>
          <a:stretch>
            <a:fillRect/>
          </a:stretch>
        </p:blipFill>
        <p:spPr>
          <a:xfrm>
            <a:off x="6117336" y="1362456"/>
            <a:ext cx="5303520" cy="4910328"/>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BF9"/>
        </a:solidFill>
        <a:effectLst/>
      </p:bgPr>
    </p:bg>
    <p:spTree>
      <p:nvGrpSpPr>
        <p:cNvPr id="1" name=""/>
        <p:cNvGrpSpPr/>
        <p:nvPr/>
      </p:nvGrpSpPr>
      <p:grpSpPr/>
      <p:sp>
        <p:nvSpPr>
          <p:cNvPr id="2" name="TextBox 1"/>
          <p:cNvSpPr txBox="1"/>
          <p:nvPr/>
        </p:nvSpPr>
        <p:spPr>
          <a:xfrm>
            <a:off x="731520" y="365760"/>
            <a:ext cx="10698480" cy="256032"/>
          </a:xfrm>
          <a:prstGeom prst="rect">
            <a:avLst/>
          </a:prstGeom>
          <a:noFill/>
        </p:spPr>
        <p:txBody>
          <a:bodyPr wrap="square" lIns="0" tIns="0" rIns="0" bIns="0">
            <a:spAutoFit/>
          </a:bodyPr>
          <a:lstStyle/>
          <a:p>
            <a:pPr>
              <a:defRPr sz="950" b="1">
                <a:solidFill>
                  <a:srgbClr val="176B4E"/>
                </a:solidFill>
                <a:latin typeface="Calibri"/>
              </a:defRPr>
            </a:pPr>
            <a:r>
              <a:t>MODULE 6 OF 12: SESSION LIFECYCLE</a:t>
            </a:r>
          </a:p>
        </p:txBody>
      </p:sp>
      <p:sp>
        <p:nvSpPr>
          <p:cNvPr id="3" name="TextBox 2"/>
          <p:cNvSpPr txBox="1"/>
          <p:nvPr/>
        </p:nvSpPr>
        <p:spPr>
          <a:xfrm>
            <a:off x="731520" y="603504"/>
            <a:ext cx="10698480" cy="457200"/>
          </a:xfrm>
          <a:prstGeom prst="rect">
            <a:avLst/>
          </a:prstGeom>
          <a:noFill/>
        </p:spPr>
        <p:txBody>
          <a:bodyPr wrap="square" lIns="0" tIns="0" rIns="0" bIns="0">
            <a:spAutoFit/>
          </a:bodyPr>
          <a:lstStyle/>
          <a:p>
            <a:pPr>
              <a:defRPr sz="2100" b="1">
                <a:solidFill>
                  <a:srgbClr val="1A202C"/>
                </a:solidFill>
                <a:latin typeface="Cambria"/>
              </a:defRPr>
            </a:pPr>
            <a:r>
              <a:t>Booking &amp; Slot Negotiation Module</a:t>
            </a:r>
          </a:p>
        </p:txBody>
      </p:sp>
      <p:sp>
        <p:nvSpPr>
          <p:cNvPr id="4" name="Rectangle 3"/>
          <p:cNvSpPr/>
          <p:nvPr/>
        </p:nvSpPr>
        <p:spPr>
          <a:xfrm>
            <a:off x="731520" y="11155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92240"/>
            <a:ext cx="7315200" cy="274320"/>
          </a:xfrm>
          <a:prstGeom prst="rect">
            <a:avLst/>
          </a:prstGeom>
          <a:noFill/>
        </p:spPr>
        <p:txBody>
          <a:bodyPr wrap="none" lIns="0" tIns="0" rIns="0" bIns="0">
            <a:spAutoFit/>
          </a:bodyPr>
          <a:lstStyle/>
          <a:p>
            <a:pPr>
              <a:defRPr sz="900">
                <a:solidFill>
                  <a:srgbClr val="5A6578"/>
                </a:solidFill>
                <a:latin typeface="Calibri"/>
              </a:defRPr>
            </a:pPr>
            <a:r>
              <a:t>Skill Exchange · B.Tech CSE Capstone Project (Team CosmicCoder · Group 13)</a:t>
            </a:r>
          </a:p>
        </p:txBody>
      </p:sp>
      <p:sp>
        <p:nvSpPr>
          <p:cNvPr id="6" name="TextBox 5"/>
          <p:cNvSpPr txBox="1"/>
          <p:nvPr/>
        </p:nvSpPr>
        <p:spPr>
          <a:xfrm>
            <a:off x="8686800" y="6492240"/>
            <a:ext cx="2743200" cy="274320"/>
          </a:xfrm>
          <a:prstGeom prst="rect">
            <a:avLst/>
          </a:prstGeom>
          <a:noFill/>
        </p:spPr>
        <p:txBody>
          <a:bodyPr wrap="none" lIns="0" tIns="0" rIns="0" bIns="0">
            <a:spAutoFit/>
          </a:bodyPr>
          <a:lstStyle/>
          <a:p>
            <a:pPr algn="r">
              <a:defRPr sz="900" b="1">
                <a:solidFill>
                  <a:srgbClr val="5A6578"/>
                </a:solidFill>
                <a:latin typeface="Calibri"/>
              </a:defRPr>
            </a:pPr>
            <a:r>
              <a:t>Slide 11 of 22</a:t>
            </a:r>
          </a:p>
        </p:txBody>
      </p:sp>
      <p:sp>
        <p:nvSpPr>
          <p:cNvPr id="7" name="Rectangle 6"/>
          <p:cNvSpPr/>
          <p:nvPr/>
        </p:nvSpPr>
        <p:spPr>
          <a:xfrm>
            <a:off x="731520" y="1325880"/>
            <a:ext cx="5120640" cy="1051560"/>
          </a:xfrm>
          <a:prstGeom prst="rect">
            <a:avLst/>
          </a:prstGeom>
          <a:solidFill>
            <a:srgbClr val="F4F8F5"/>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35608"/>
            <a:ext cx="4754880" cy="832104"/>
          </a:xfrm>
          <a:prstGeom prst="rect">
            <a:avLst/>
          </a:prstGeom>
          <a:noFill/>
        </p:spPr>
        <p:txBody>
          <a:bodyPr wrap="square">
            <a:spAutoFit/>
          </a:bodyPr>
          <a:lstStyle/>
          <a:p>
            <a:pPr>
              <a:spcAft>
                <a:spcPts val="300"/>
              </a:spcAft>
              <a:defRPr sz="1100" b="1">
                <a:solidFill>
                  <a:srgbClr val="176B4E"/>
                </a:solidFill>
                <a:latin typeface="Cambria"/>
              </a:defRPr>
            </a:pPr>
            <a:r>
              <a:t>Module Overview</a:t>
            </a:r>
          </a:p>
          <a:p>
            <a:pPr>
              <a:defRPr sz="950">
                <a:solidFill>
                  <a:srgbClr val="2D3748"/>
                </a:solidFill>
                <a:latin typeface="Calibri"/>
              </a:defRPr>
            </a:pPr>
            <a:r>
              <a:t>Orchestrates the complete 5-stage session scheduling lifecycle, enabling learners to select time slots and empowering mentors to accept, decline, or counter-propose times.</a:t>
            </a:r>
          </a:p>
        </p:txBody>
      </p:sp>
      <p:sp>
        <p:nvSpPr>
          <p:cNvPr id="9" name="Rectangle 8"/>
          <p:cNvSpPr/>
          <p:nvPr/>
        </p:nvSpPr>
        <p:spPr>
          <a:xfrm>
            <a:off x="731520" y="2514600"/>
            <a:ext cx="5120640" cy="2148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642616"/>
            <a:ext cx="4754880" cy="1892808"/>
          </a:xfrm>
          <a:prstGeom prst="rect">
            <a:avLst/>
          </a:prstGeom>
          <a:noFill/>
        </p:spPr>
        <p:txBody>
          <a:bodyPr wrap="square">
            <a:spAutoFit/>
          </a:bodyPr>
          <a:lstStyle/>
          <a:p>
            <a:pPr>
              <a:spcAft>
                <a:spcPts val="600"/>
              </a:spcAft>
              <a:defRPr sz="1100" b="1">
                <a:solidFill>
                  <a:srgbClr val="176B4E"/>
                </a:solidFill>
                <a:latin typeface="Cambria"/>
              </a:defRPr>
            </a:pPr>
            <a:r>
              <a:t>Key Functional Features</a:t>
            </a:r>
          </a:p>
          <a:p>
            <a:pPr>
              <a:spcAft>
                <a:spcPts val="400"/>
              </a:spcAft>
            </a:pPr>
            <a:r>
              <a:rPr sz="950" b="1">
                <a:solidFill>
                  <a:srgbClr val="1A202C"/>
                </a:solidFill>
                <a:latin typeface="Calibri"/>
              </a:rPr>
              <a:t>• 3-Step Booking Wizard: </a:t>
            </a:r>
            <a:r>
              <a:rPr sz="900">
                <a:solidFill>
                  <a:srgbClr val="2D3748"/>
                </a:solidFill>
                <a:latin typeface="Calibri"/>
              </a:rPr>
              <a:t>Select duration (30, 45, 60, 90, 120 mins), choose upcoming date chip, and pick morning/evening slots.</a:t>
            </a:r>
          </a:p>
          <a:p>
            <a:pPr>
              <a:spcAft>
                <a:spcPts val="400"/>
              </a:spcAft>
            </a:pPr>
            <a:r>
              <a:rPr sz="950" b="1">
                <a:solidFill>
                  <a:srgbClr val="1A202C"/>
                </a:solidFill>
                <a:latin typeface="Calibri"/>
              </a:rPr>
              <a:t>• Schedule Conflict Validation: </a:t>
            </a:r>
            <a:r>
              <a:rPr sz="900">
                <a:solidFill>
                  <a:srgbClr val="2D3748"/>
                </a:solidFill>
                <a:latin typeface="Calibri"/>
              </a:rPr>
              <a:t>Validates mentor open hours, blocks past timestamps, and strictly prohibits self-booking attempts.</a:t>
            </a:r>
          </a:p>
          <a:p>
            <a:pPr>
              <a:spcAft>
                <a:spcPts val="400"/>
              </a:spcAft>
            </a:pPr>
            <a:r>
              <a:rPr sz="950" b="1">
                <a:solidFill>
                  <a:srgbClr val="1A202C"/>
                </a:solidFill>
                <a:latin typeface="Calibri"/>
              </a:rPr>
              <a:t>• Automatic 4-Hour Action Window: </a:t>
            </a:r>
            <a:r>
              <a:rPr sz="900">
                <a:solidFill>
                  <a:srgbClr val="2D3748"/>
                </a:solidFill>
                <a:latin typeface="Calibri"/>
              </a:rPr>
              <a:t>Enforces a 4-hour expiration timeout on pending requests to free learner schedules if mentors are inactive.</a:t>
            </a:r>
          </a:p>
          <a:p>
            <a:pPr>
              <a:spcAft>
                <a:spcPts val="400"/>
              </a:spcAft>
            </a:pPr>
            <a:r>
              <a:rPr sz="950" b="1">
                <a:solidFill>
                  <a:srgbClr val="1A202C"/>
                </a:solidFill>
                <a:latin typeface="Calibri"/>
              </a:rPr>
              <a:t>• Counter-Proposal Negotiation: </a:t>
            </a:r>
            <a:r>
              <a:rPr sz="900">
                <a:solidFill>
                  <a:srgbClr val="2D3748"/>
                </a:solidFill>
                <a:latin typeface="Calibri"/>
              </a:rPr>
              <a:t>Allows mentors to propose up to 3 alternate time slots directly without outright rejecting the learner.</a:t>
            </a:r>
          </a:p>
          <a:p>
            <a:pPr>
              <a:spcAft>
                <a:spcPts val="400"/>
              </a:spcAft>
            </a:pPr>
            <a:r>
              <a:rPr sz="950" b="1">
                <a:solidFill>
                  <a:srgbClr val="1A202C"/>
                </a:solidFill>
                <a:latin typeface="Calibri"/>
              </a:rPr>
              <a:t>• Meeting Link Attachment: </a:t>
            </a:r>
            <a:r>
              <a:rPr sz="900">
                <a:solidFill>
                  <a:srgbClr val="2D3748"/>
                </a:solidFill>
                <a:latin typeface="Calibri"/>
              </a:rPr>
              <a:t>Automatically attaches a valid Google Meet link upon session confirmation for live video interaction.</a:t>
            </a:r>
          </a:p>
        </p:txBody>
      </p:sp>
      <p:sp>
        <p:nvSpPr>
          <p:cNvPr id="11" name="Rectangle 10"/>
          <p:cNvSpPr/>
          <p:nvPr/>
        </p:nvSpPr>
        <p:spPr>
          <a:xfrm>
            <a:off x="731520" y="4800600"/>
            <a:ext cx="5120640" cy="1508760"/>
          </a:xfrm>
          <a:prstGeom prst="rect">
            <a:avLst/>
          </a:prstGeom>
          <a:solidFill>
            <a:srgbClr val="F8FBF9"/>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910328"/>
            <a:ext cx="4754880" cy="1289304"/>
          </a:xfrm>
          <a:prstGeom prst="rect">
            <a:avLst/>
          </a:prstGeom>
          <a:noFill/>
        </p:spPr>
        <p:txBody>
          <a:bodyPr wrap="square">
            <a:spAutoFit/>
          </a:bodyPr>
          <a:lstStyle/>
          <a:p>
            <a:pPr>
              <a:spcAft>
                <a:spcPts val="400"/>
              </a:spcAft>
              <a:defRPr sz="1100" b="1">
                <a:solidFill>
                  <a:srgbClr val="176B4E"/>
                </a:solidFill>
                <a:latin typeface="Cambria"/>
              </a:defRPr>
            </a:pPr>
            <a:r>
              <a:t>Technical Specifications &amp; APIs</a:t>
            </a:r>
          </a:p>
          <a:p>
            <a:pPr>
              <a:spcAft>
                <a:spcPts val="200"/>
              </a:spcAft>
            </a:pPr>
            <a:r>
              <a:rPr sz="900" b="1">
                <a:solidFill>
                  <a:srgbClr val="1A202C"/>
                </a:solidFill>
                <a:latin typeface="Calibri"/>
              </a:rPr>
              <a:t>Core Endpoints: </a:t>
            </a:r>
            <a:r>
              <a:rPr sz="850">
                <a:solidFill>
                  <a:srgbClr val="2D3748"/>
                </a:solidFill>
                <a:latin typeface="Calibri"/>
              </a:rPr>
              <a:t>POST /api/bookings, PUT /api/bookings/:id/respond, PUT /api/bookings/:id/slots, PUT /api/bookings/:id/cancel</a:t>
            </a:r>
          </a:p>
          <a:p>
            <a:pPr>
              <a:spcAft>
                <a:spcPts val="200"/>
              </a:spcAft>
            </a:pPr>
            <a:r>
              <a:rPr sz="900" b="1">
                <a:solidFill>
                  <a:srgbClr val="1A202C"/>
                </a:solidFill>
                <a:latin typeface="Calibri"/>
              </a:rPr>
              <a:t>Lifecycle States: </a:t>
            </a:r>
            <a:r>
              <a:rPr sz="850">
                <a:solidFill>
                  <a:srgbClr val="2D3748"/>
                </a:solidFill>
                <a:latin typeface="Calibri"/>
              </a:rPr>
              <a:t>pending → slots_offered / approved → confirmed → completed / cancelled</a:t>
            </a:r>
          </a:p>
          <a:p>
            <a:pPr>
              <a:spcAft>
                <a:spcPts val="200"/>
              </a:spcAft>
            </a:pPr>
            <a:r>
              <a:rPr sz="900" b="1">
                <a:solidFill>
                  <a:srgbClr val="1A202C"/>
                </a:solidFill>
                <a:latin typeface="Calibri"/>
              </a:rPr>
              <a:t>Database Model: </a:t>
            </a:r>
            <a:r>
              <a:rPr sz="850">
                <a:solidFill>
                  <a:srgbClr val="2D3748"/>
                </a:solidFill>
                <a:latin typeface="Calibri"/>
              </a:rPr>
              <a:t>Booking schema (learner: Ref, mentor: Ref, date, time, duration, status, actionExpiresAt, meetingUrl)</a:t>
            </a:r>
          </a:p>
          <a:p>
            <a:pPr>
              <a:spcAft>
                <a:spcPts val="200"/>
              </a:spcAft>
            </a:pPr>
            <a:r>
              <a:rPr sz="900" b="1">
                <a:solidFill>
                  <a:srgbClr val="1A202C"/>
                </a:solidFill>
                <a:latin typeface="Calibri"/>
              </a:rPr>
              <a:t>Business Logic: </a:t>
            </a:r>
            <a:r>
              <a:rPr sz="850">
                <a:solidFill>
                  <a:srgbClr val="2D3748"/>
                </a:solidFill>
                <a:latin typeface="Calibri"/>
              </a:rPr>
              <a:t>Atomic Mongoose findOneAndUpdate operations preventing race-condition double-booking</a:t>
            </a:r>
          </a:p>
        </p:txBody>
      </p:sp>
      <p:sp>
        <p:nvSpPr>
          <p:cNvPr id="13" name="Rectangle 12"/>
          <p:cNvSpPr/>
          <p:nvPr/>
        </p:nvSpPr>
        <p:spPr>
          <a:xfrm>
            <a:off x="6080760" y="1325880"/>
            <a:ext cx="5376672" cy="4983480"/>
          </a:xfrm>
          <a:prstGeom prst="rect">
            <a:avLst/>
          </a:prstGeom>
          <a:solidFill>
            <a:srgbClr val="FFFFFF"/>
          </a:solidFill>
          <a:ln w="1905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07_booking_flow.png"/>
          <p:cNvPicPr>
            <a:picLocks noChangeAspect="1"/>
          </p:cNvPicPr>
          <p:nvPr/>
        </p:nvPicPr>
        <p:blipFill>
          <a:blip r:embed="rId2"/>
          <a:stretch>
            <a:fillRect/>
          </a:stretch>
        </p:blipFill>
        <p:spPr>
          <a:xfrm>
            <a:off x="6117336" y="1362456"/>
            <a:ext cx="5303520" cy="4910328"/>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BF9"/>
        </a:solidFill>
        <a:effectLst/>
      </p:bgPr>
    </p:bg>
    <p:spTree>
      <p:nvGrpSpPr>
        <p:cNvPr id="1" name=""/>
        <p:cNvGrpSpPr/>
        <p:nvPr/>
      </p:nvGrpSpPr>
      <p:grpSpPr/>
      <p:sp>
        <p:nvSpPr>
          <p:cNvPr id="2" name="TextBox 1"/>
          <p:cNvSpPr txBox="1"/>
          <p:nvPr/>
        </p:nvSpPr>
        <p:spPr>
          <a:xfrm>
            <a:off x="731520" y="365760"/>
            <a:ext cx="10698480" cy="256032"/>
          </a:xfrm>
          <a:prstGeom prst="rect">
            <a:avLst/>
          </a:prstGeom>
          <a:noFill/>
        </p:spPr>
        <p:txBody>
          <a:bodyPr wrap="square" lIns="0" tIns="0" rIns="0" bIns="0">
            <a:spAutoFit/>
          </a:bodyPr>
          <a:lstStyle/>
          <a:p>
            <a:pPr>
              <a:defRPr sz="950" b="1">
                <a:solidFill>
                  <a:srgbClr val="176B4E"/>
                </a:solidFill>
                <a:latin typeface="Calibri"/>
              </a:defRPr>
            </a:pPr>
            <a:r>
              <a:t>MODULE 7 OF 12: FINANCIAL TRANSACTIONS</a:t>
            </a:r>
          </a:p>
        </p:txBody>
      </p:sp>
      <p:sp>
        <p:nvSpPr>
          <p:cNvPr id="3" name="TextBox 2"/>
          <p:cNvSpPr txBox="1"/>
          <p:nvPr/>
        </p:nvSpPr>
        <p:spPr>
          <a:xfrm>
            <a:off x="731520" y="603504"/>
            <a:ext cx="10698480" cy="457200"/>
          </a:xfrm>
          <a:prstGeom prst="rect">
            <a:avLst/>
          </a:prstGeom>
          <a:noFill/>
        </p:spPr>
        <p:txBody>
          <a:bodyPr wrap="square" lIns="0" tIns="0" rIns="0" bIns="0">
            <a:spAutoFit/>
          </a:bodyPr>
          <a:lstStyle/>
          <a:p>
            <a:pPr>
              <a:defRPr sz="2100" b="1">
                <a:solidFill>
                  <a:srgbClr val="1A202C"/>
                </a:solidFill>
                <a:latin typeface="Cambria"/>
              </a:defRPr>
            </a:pPr>
            <a:r>
              <a:t>Payment &amp; Escrow Module</a:t>
            </a:r>
          </a:p>
        </p:txBody>
      </p:sp>
      <p:sp>
        <p:nvSpPr>
          <p:cNvPr id="4" name="Rectangle 3"/>
          <p:cNvSpPr/>
          <p:nvPr/>
        </p:nvSpPr>
        <p:spPr>
          <a:xfrm>
            <a:off x="731520" y="11155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92240"/>
            <a:ext cx="7315200" cy="274320"/>
          </a:xfrm>
          <a:prstGeom prst="rect">
            <a:avLst/>
          </a:prstGeom>
          <a:noFill/>
        </p:spPr>
        <p:txBody>
          <a:bodyPr wrap="none" lIns="0" tIns="0" rIns="0" bIns="0">
            <a:spAutoFit/>
          </a:bodyPr>
          <a:lstStyle/>
          <a:p>
            <a:pPr>
              <a:defRPr sz="900">
                <a:solidFill>
                  <a:srgbClr val="5A6578"/>
                </a:solidFill>
                <a:latin typeface="Calibri"/>
              </a:defRPr>
            </a:pPr>
            <a:r>
              <a:t>Skill Exchange · B.Tech CSE Capstone Project (Team CosmicCoder · Group 13)</a:t>
            </a:r>
          </a:p>
        </p:txBody>
      </p:sp>
      <p:sp>
        <p:nvSpPr>
          <p:cNvPr id="6" name="TextBox 5"/>
          <p:cNvSpPr txBox="1"/>
          <p:nvPr/>
        </p:nvSpPr>
        <p:spPr>
          <a:xfrm>
            <a:off x="8686800" y="6492240"/>
            <a:ext cx="2743200" cy="274320"/>
          </a:xfrm>
          <a:prstGeom prst="rect">
            <a:avLst/>
          </a:prstGeom>
          <a:noFill/>
        </p:spPr>
        <p:txBody>
          <a:bodyPr wrap="none" lIns="0" tIns="0" rIns="0" bIns="0">
            <a:spAutoFit/>
          </a:bodyPr>
          <a:lstStyle/>
          <a:p>
            <a:pPr algn="r">
              <a:defRPr sz="900" b="1">
                <a:solidFill>
                  <a:srgbClr val="5A6578"/>
                </a:solidFill>
                <a:latin typeface="Calibri"/>
              </a:defRPr>
            </a:pPr>
            <a:r>
              <a:t>Slide 12 of 22</a:t>
            </a:r>
          </a:p>
        </p:txBody>
      </p:sp>
      <p:sp>
        <p:nvSpPr>
          <p:cNvPr id="7" name="Rectangle 6"/>
          <p:cNvSpPr/>
          <p:nvPr/>
        </p:nvSpPr>
        <p:spPr>
          <a:xfrm>
            <a:off x="731520" y="1325880"/>
            <a:ext cx="5120640" cy="1051560"/>
          </a:xfrm>
          <a:prstGeom prst="rect">
            <a:avLst/>
          </a:prstGeom>
          <a:solidFill>
            <a:srgbClr val="F4F8F5"/>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35608"/>
            <a:ext cx="4754880" cy="832104"/>
          </a:xfrm>
          <a:prstGeom prst="rect">
            <a:avLst/>
          </a:prstGeom>
          <a:noFill/>
        </p:spPr>
        <p:txBody>
          <a:bodyPr wrap="square">
            <a:spAutoFit/>
          </a:bodyPr>
          <a:lstStyle/>
          <a:p>
            <a:pPr>
              <a:spcAft>
                <a:spcPts val="300"/>
              </a:spcAft>
              <a:defRPr sz="1100" b="1">
                <a:solidFill>
                  <a:srgbClr val="176B4E"/>
                </a:solidFill>
                <a:latin typeface="Cambria"/>
              </a:defRPr>
            </a:pPr>
            <a:r>
              <a:t>Module Overview</a:t>
            </a:r>
          </a:p>
          <a:p>
            <a:pPr>
              <a:defRPr sz="950">
                <a:solidFill>
                  <a:srgbClr val="2D3748"/>
                </a:solidFill>
                <a:latin typeface="Calibri"/>
              </a:defRPr>
            </a:pPr>
            <a:r>
              <a:t>Provides transparent session pricing, simulated wallet management, and a production-grade Razorpay checkout integration with escrow protection.</a:t>
            </a:r>
          </a:p>
        </p:txBody>
      </p:sp>
      <p:sp>
        <p:nvSpPr>
          <p:cNvPr id="9" name="Rectangle 8"/>
          <p:cNvSpPr/>
          <p:nvPr/>
        </p:nvSpPr>
        <p:spPr>
          <a:xfrm>
            <a:off x="731520" y="2514600"/>
            <a:ext cx="5120640" cy="2148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642616"/>
            <a:ext cx="4754880" cy="1892808"/>
          </a:xfrm>
          <a:prstGeom prst="rect">
            <a:avLst/>
          </a:prstGeom>
          <a:noFill/>
        </p:spPr>
        <p:txBody>
          <a:bodyPr wrap="square">
            <a:spAutoFit/>
          </a:bodyPr>
          <a:lstStyle/>
          <a:p>
            <a:pPr>
              <a:spcAft>
                <a:spcPts val="600"/>
              </a:spcAft>
              <a:defRPr sz="1100" b="1">
                <a:solidFill>
                  <a:srgbClr val="176B4E"/>
                </a:solidFill>
                <a:latin typeface="Cambria"/>
              </a:defRPr>
            </a:pPr>
            <a:r>
              <a:t>Key Functional Features</a:t>
            </a:r>
          </a:p>
          <a:p>
            <a:pPr>
              <a:spcAft>
                <a:spcPts val="400"/>
              </a:spcAft>
            </a:pPr>
            <a:r>
              <a:rPr sz="950" b="1">
                <a:solidFill>
                  <a:srgbClr val="1A202C"/>
                </a:solidFill>
                <a:latin typeface="Calibri"/>
              </a:rPr>
              <a:t>• Pro-Rata Pricing Calculation: </a:t>
            </a:r>
            <a:r>
              <a:rPr sz="900">
                <a:solidFill>
                  <a:srgbClr val="2D3748"/>
                </a:solidFill>
                <a:latin typeface="Calibri"/>
              </a:rPr>
              <a:t>Calculates exact session fee from mentor hourly rate and duration with 0% extra platform commission.</a:t>
            </a:r>
          </a:p>
          <a:p>
            <a:pPr>
              <a:spcAft>
                <a:spcPts val="400"/>
              </a:spcAft>
            </a:pPr>
            <a:r>
              <a:rPr sz="950" b="1">
                <a:solidFill>
                  <a:srgbClr val="1A202C"/>
                </a:solidFill>
                <a:latin typeface="Calibri"/>
              </a:rPr>
              <a:t>• 100% Escrow Protection: </a:t>
            </a:r>
            <a:r>
              <a:rPr sz="900">
                <a:solidFill>
                  <a:srgbClr val="2D3748"/>
                </a:solidFill>
                <a:latin typeface="Calibri"/>
              </a:rPr>
              <a:t>Enforces escrow semantics: payment is held safely until the session is successfully delivered.</a:t>
            </a:r>
          </a:p>
          <a:p>
            <a:pPr>
              <a:spcAft>
                <a:spcPts val="400"/>
              </a:spcAft>
            </a:pPr>
            <a:r>
              <a:rPr sz="950" b="1">
                <a:solidFill>
                  <a:srgbClr val="1A202C"/>
                </a:solidFill>
                <a:latin typeface="Calibri"/>
              </a:rPr>
              <a:t>• Razorpay Checkout Integration: </a:t>
            </a:r>
            <a:r>
              <a:rPr sz="900">
                <a:solidFill>
                  <a:srgbClr val="2D3748"/>
                </a:solidFill>
                <a:latin typeface="Calibri"/>
              </a:rPr>
              <a:t>Creates verified Razorpay orders in paise (INR) with secure modal checkout on the client.</a:t>
            </a:r>
          </a:p>
          <a:p>
            <a:pPr>
              <a:spcAft>
                <a:spcPts val="400"/>
              </a:spcAft>
            </a:pPr>
            <a:r>
              <a:rPr sz="950" b="1">
                <a:solidFill>
                  <a:srgbClr val="1A202C"/>
                </a:solidFill>
                <a:latin typeface="Calibri"/>
              </a:rPr>
              <a:t>• HMAC SHA-256 Verification: </a:t>
            </a:r>
            <a:r>
              <a:rPr sz="900">
                <a:solidFill>
                  <a:srgbClr val="2D3748"/>
                </a:solidFill>
                <a:latin typeface="Calibri"/>
              </a:rPr>
              <a:t>Cryptographically validates payment signatures via secret keys to prevent fraud and order tampering.</a:t>
            </a:r>
          </a:p>
          <a:p>
            <a:pPr>
              <a:spcAft>
                <a:spcPts val="400"/>
              </a:spcAft>
            </a:pPr>
            <a:r>
              <a:rPr sz="950" b="1">
                <a:solidFill>
                  <a:srgbClr val="1A202C"/>
                </a:solidFill>
                <a:latin typeface="Calibri"/>
              </a:rPr>
              <a:t>• Mentor Payout Management: </a:t>
            </a:r>
            <a:r>
              <a:rPr sz="900">
                <a:solidFill>
                  <a:srgbClr val="2D3748"/>
                </a:solidFill>
                <a:latin typeface="Calibri"/>
              </a:rPr>
              <a:t>Enables mentors to configure their payout UPI ID for manual or automated revenue settlements.</a:t>
            </a:r>
          </a:p>
        </p:txBody>
      </p:sp>
      <p:sp>
        <p:nvSpPr>
          <p:cNvPr id="11" name="Rectangle 10"/>
          <p:cNvSpPr/>
          <p:nvPr/>
        </p:nvSpPr>
        <p:spPr>
          <a:xfrm>
            <a:off x="731520" y="4800600"/>
            <a:ext cx="5120640" cy="1508760"/>
          </a:xfrm>
          <a:prstGeom prst="rect">
            <a:avLst/>
          </a:prstGeom>
          <a:solidFill>
            <a:srgbClr val="F8FBF9"/>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910328"/>
            <a:ext cx="4754880" cy="1289304"/>
          </a:xfrm>
          <a:prstGeom prst="rect">
            <a:avLst/>
          </a:prstGeom>
          <a:noFill/>
        </p:spPr>
        <p:txBody>
          <a:bodyPr wrap="square">
            <a:spAutoFit/>
          </a:bodyPr>
          <a:lstStyle/>
          <a:p>
            <a:pPr>
              <a:spcAft>
                <a:spcPts val="400"/>
              </a:spcAft>
              <a:defRPr sz="1100" b="1">
                <a:solidFill>
                  <a:srgbClr val="176B4E"/>
                </a:solidFill>
                <a:latin typeface="Cambria"/>
              </a:defRPr>
            </a:pPr>
            <a:r>
              <a:t>Technical Specifications &amp; APIs</a:t>
            </a:r>
          </a:p>
          <a:p>
            <a:pPr>
              <a:spcAft>
                <a:spcPts val="200"/>
              </a:spcAft>
            </a:pPr>
            <a:r>
              <a:rPr sz="900" b="1">
                <a:solidFill>
                  <a:srgbClr val="1A202C"/>
                </a:solidFill>
                <a:latin typeface="Calibri"/>
              </a:rPr>
              <a:t>Core Endpoints: </a:t>
            </a:r>
            <a:r>
              <a:rPr sz="850">
                <a:solidFill>
                  <a:srgbClr val="2D3748"/>
                </a:solidFill>
                <a:latin typeface="Calibri"/>
              </a:rPr>
              <a:t>POST /api/payments/create-order, POST /api/payments/verify, POST /api/payments/webhook</a:t>
            </a:r>
          </a:p>
          <a:p>
            <a:pPr>
              <a:spcAft>
                <a:spcPts val="200"/>
              </a:spcAft>
            </a:pPr>
            <a:r>
              <a:rPr sz="900" b="1">
                <a:solidFill>
                  <a:srgbClr val="1A202C"/>
                </a:solidFill>
                <a:latin typeface="Calibri"/>
              </a:rPr>
              <a:t>Security Technologies: </a:t>
            </a:r>
            <a:r>
              <a:rPr sz="850">
                <a:solidFill>
                  <a:srgbClr val="2D3748"/>
                </a:solidFill>
                <a:latin typeface="Calibri"/>
              </a:rPr>
              <a:t>Razorpay Node.js SDK, Crypto HMAC-SHA256 signature verification, Webhook listeners</a:t>
            </a:r>
          </a:p>
          <a:p>
            <a:pPr>
              <a:spcAft>
                <a:spcPts val="200"/>
              </a:spcAft>
            </a:pPr>
            <a:r>
              <a:rPr sz="900" b="1">
                <a:solidFill>
                  <a:srgbClr val="1A202C"/>
                </a:solidFill>
                <a:latin typeface="Calibri"/>
              </a:rPr>
              <a:t>Database Models: </a:t>
            </a:r>
            <a:r>
              <a:rPr sz="850">
                <a:solidFill>
                  <a:srgbClr val="2D3748"/>
                </a:solidFill>
                <a:latin typeface="Calibri"/>
              </a:rPr>
              <a:t>Booking.payment object (razorpayOrderId, razorpayPaymentId, status: 'paid', logs: Array), Wallet schema</a:t>
            </a:r>
          </a:p>
          <a:p>
            <a:pPr>
              <a:spcAft>
                <a:spcPts val="200"/>
              </a:spcAft>
            </a:pPr>
            <a:r>
              <a:rPr sz="900" b="1">
                <a:solidFill>
                  <a:srgbClr val="1A202C"/>
                </a:solidFill>
                <a:latin typeface="Calibri"/>
              </a:rPr>
              <a:t>Idempotency: </a:t>
            </a:r>
            <a:r>
              <a:rPr sz="850">
                <a:solidFill>
                  <a:srgbClr val="2D3748"/>
                </a:solidFill>
                <a:latin typeface="Calibri"/>
              </a:rPr>
              <a:t>Database-level checks ensuring duplicate webhook events do not re-trigger payment logs</a:t>
            </a:r>
          </a:p>
        </p:txBody>
      </p:sp>
      <p:sp>
        <p:nvSpPr>
          <p:cNvPr id="13" name="Rectangle 12"/>
          <p:cNvSpPr/>
          <p:nvPr/>
        </p:nvSpPr>
        <p:spPr>
          <a:xfrm>
            <a:off x="6080760" y="1325880"/>
            <a:ext cx="5376672" cy="4983480"/>
          </a:xfrm>
          <a:prstGeom prst="rect">
            <a:avLst/>
          </a:prstGeom>
          <a:solidFill>
            <a:srgbClr val="FFFFFF"/>
          </a:solidFill>
          <a:ln w="1905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07b_payment_escrow.png"/>
          <p:cNvPicPr>
            <a:picLocks noChangeAspect="1"/>
          </p:cNvPicPr>
          <p:nvPr/>
        </p:nvPicPr>
        <p:blipFill>
          <a:blip r:embed="rId2"/>
          <a:stretch>
            <a:fillRect/>
          </a:stretch>
        </p:blipFill>
        <p:spPr>
          <a:xfrm>
            <a:off x="6117336" y="1362456"/>
            <a:ext cx="5303520" cy="4910328"/>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BF9"/>
        </a:solidFill>
        <a:effectLst/>
      </p:bgPr>
    </p:bg>
    <p:spTree>
      <p:nvGrpSpPr>
        <p:cNvPr id="1" name=""/>
        <p:cNvGrpSpPr/>
        <p:nvPr/>
      </p:nvGrpSpPr>
      <p:grpSpPr/>
      <p:sp>
        <p:nvSpPr>
          <p:cNvPr id="2" name="TextBox 1"/>
          <p:cNvSpPr txBox="1"/>
          <p:nvPr/>
        </p:nvSpPr>
        <p:spPr>
          <a:xfrm>
            <a:off x="731520" y="365760"/>
            <a:ext cx="10698480" cy="256032"/>
          </a:xfrm>
          <a:prstGeom prst="rect">
            <a:avLst/>
          </a:prstGeom>
          <a:noFill/>
        </p:spPr>
        <p:txBody>
          <a:bodyPr wrap="square" lIns="0" tIns="0" rIns="0" bIns="0">
            <a:spAutoFit/>
          </a:bodyPr>
          <a:lstStyle/>
          <a:p>
            <a:pPr>
              <a:defRPr sz="950" b="1">
                <a:solidFill>
                  <a:srgbClr val="176B4E"/>
                </a:solidFill>
                <a:latin typeface="Calibri"/>
              </a:defRPr>
            </a:pPr>
            <a:r>
              <a:t>MODULE 8 OF 12: REAL-TIME MESSAGING</a:t>
            </a:r>
          </a:p>
        </p:txBody>
      </p:sp>
      <p:sp>
        <p:nvSpPr>
          <p:cNvPr id="3" name="TextBox 2"/>
          <p:cNvSpPr txBox="1"/>
          <p:nvPr/>
        </p:nvSpPr>
        <p:spPr>
          <a:xfrm>
            <a:off x="731520" y="603504"/>
            <a:ext cx="10698480" cy="457200"/>
          </a:xfrm>
          <a:prstGeom prst="rect">
            <a:avLst/>
          </a:prstGeom>
          <a:noFill/>
        </p:spPr>
        <p:txBody>
          <a:bodyPr wrap="square" lIns="0" tIns="0" rIns="0" bIns="0">
            <a:spAutoFit/>
          </a:bodyPr>
          <a:lstStyle/>
          <a:p>
            <a:pPr>
              <a:defRPr sz="2100" b="1">
                <a:solidFill>
                  <a:srgbClr val="1A202C"/>
                </a:solidFill>
                <a:latin typeface="Cambria"/>
              </a:defRPr>
            </a:pPr>
            <a:r>
              <a:t>Real-Time Chat Module</a:t>
            </a:r>
          </a:p>
        </p:txBody>
      </p:sp>
      <p:sp>
        <p:nvSpPr>
          <p:cNvPr id="4" name="Rectangle 3"/>
          <p:cNvSpPr/>
          <p:nvPr/>
        </p:nvSpPr>
        <p:spPr>
          <a:xfrm>
            <a:off x="731520" y="11155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92240"/>
            <a:ext cx="7315200" cy="274320"/>
          </a:xfrm>
          <a:prstGeom prst="rect">
            <a:avLst/>
          </a:prstGeom>
          <a:noFill/>
        </p:spPr>
        <p:txBody>
          <a:bodyPr wrap="none" lIns="0" tIns="0" rIns="0" bIns="0">
            <a:spAutoFit/>
          </a:bodyPr>
          <a:lstStyle/>
          <a:p>
            <a:pPr>
              <a:defRPr sz="900">
                <a:solidFill>
                  <a:srgbClr val="5A6578"/>
                </a:solidFill>
                <a:latin typeface="Calibri"/>
              </a:defRPr>
            </a:pPr>
            <a:r>
              <a:t>Skill Exchange · B.Tech CSE Capstone Project (Team CosmicCoder · Group 13)</a:t>
            </a:r>
          </a:p>
        </p:txBody>
      </p:sp>
      <p:sp>
        <p:nvSpPr>
          <p:cNvPr id="6" name="TextBox 5"/>
          <p:cNvSpPr txBox="1"/>
          <p:nvPr/>
        </p:nvSpPr>
        <p:spPr>
          <a:xfrm>
            <a:off x="8686800" y="6492240"/>
            <a:ext cx="2743200" cy="274320"/>
          </a:xfrm>
          <a:prstGeom prst="rect">
            <a:avLst/>
          </a:prstGeom>
          <a:noFill/>
        </p:spPr>
        <p:txBody>
          <a:bodyPr wrap="none" lIns="0" tIns="0" rIns="0" bIns="0">
            <a:spAutoFit/>
          </a:bodyPr>
          <a:lstStyle/>
          <a:p>
            <a:pPr algn="r">
              <a:defRPr sz="900" b="1">
                <a:solidFill>
                  <a:srgbClr val="5A6578"/>
                </a:solidFill>
                <a:latin typeface="Calibri"/>
              </a:defRPr>
            </a:pPr>
            <a:r>
              <a:t>Slide 13 of 22</a:t>
            </a:r>
          </a:p>
        </p:txBody>
      </p:sp>
      <p:sp>
        <p:nvSpPr>
          <p:cNvPr id="7" name="Rectangle 6"/>
          <p:cNvSpPr/>
          <p:nvPr/>
        </p:nvSpPr>
        <p:spPr>
          <a:xfrm>
            <a:off x="731520" y="1325880"/>
            <a:ext cx="5120640" cy="1051560"/>
          </a:xfrm>
          <a:prstGeom prst="rect">
            <a:avLst/>
          </a:prstGeom>
          <a:solidFill>
            <a:srgbClr val="F4F8F5"/>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35608"/>
            <a:ext cx="4754880" cy="832104"/>
          </a:xfrm>
          <a:prstGeom prst="rect">
            <a:avLst/>
          </a:prstGeom>
          <a:noFill/>
        </p:spPr>
        <p:txBody>
          <a:bodyPr wrap="square">
            <a:spAutoFit/>
          </a:bodyPr>
          <a:lstStyle/>
          <a:p>
            <a:pPr>
              <a:spcAft>
                <a:spcPts val="300"/>
              </a:spcAft>
              <a:defRPr sz="1100" b="1">
                <a:solidFill>
                  <a:srgbClr val="176B4E"/>
                </a:solidFill>
                <a:latin typeface="Cambria"/>
              </a:defRPr>
            </a:pPr>
            <a:r>
              <a:t>Module Overview</a:t>
            </a:r>
          </a:p>
          <a:p>
            <a:pPr>
              <a:defRPr sz="950">
                <a:solidFill>
                  <a:srgbClr val="2D3748"/>
                </a:solidFill>
                <a:latin typeface="Calibri"/>
              </a:defRPr>
            </a:pPr>
            <a:r>
              <a:t>Facilitates persistent, low-latency 1-on-1 messaging between mentors and learners to coordinate session agendas, share resources, and discuss technical questions.</a:t>
            </a:r>
          </a:p>
        </p:txBody>
      </p:sp>
      <p:sp>
        <p:nvSpPr>
          <p:cNvPr id="9" name="Rectangle 8"/>
          <p:cNvSpPr/>
          <p:nvPr/>
        </p:nvSpPr>
        <p:spPr>
          <a:xfrm>
            <a:off x="731520" y="2514600"/>
            <a:ext cx="5120640" cy="2148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642616"/>
            <a:ext cx="4754880" cy="1892808"/>
          </a:xfrm>
          <a:prstGeom prst="rect">
            <a:avLst/>
          </a:prstGeom>
          <a:noFill/>
        </p:spPr>
        <p:txBody>
          <a:bodyPr wrap="square">
            <a:spAutoFit/>
          </a:bodyPr>
          <a:lstStyle/>
          <a:p>
            <a:pPr>
              <a:spcAft>
                <a:spcPts val="600"/>
              </a:spcAft>
              <a:defRPr sz="1100" b="1">
                <a:solidFill>
                  <a:srgbClr val="176B4E"/>
                </a:solidFill>
                <a:latin typeface="Cambria"/>
              </a:defRPr>
            </a:pPr>
            <a:r>
              <a:t>Key Functional Features</a:t>
            </a:r>
          </a:p>
          <a:p>
            <a:pPr>
              <a:spcAft>
                <a:spcPts val="400"/>
              </a:spcAft>
            </a:pPr>
            <a:r>
              <a:rPr sz="950" b="1">
                <a:solidFill>
                  <a:srgbClr val="1A202C"/>
                </a:solidFill>
                <a:latin typeface="Calibri"/>
              </a:rPr>
              <a:t>• Socket.io WebSocket Engine: </a:t>
            </a:r>
            <a:r>
              <a:rPr sz="900">
                <a:solidFill>
                  <a:srgbClr val="2D3748"/>
                </a:solidFill>
                <a:latin typeface="Calibri"/>
              </a:rPr>
              <a:t>Enables instantaneous two-way message delivery without requiring manual browser refreshes.</a:t>
            </a:r>
          </a:p>
          <a:p>
            <a:pPr>
              <a:spcAft>
                <a:spcPts val="400"/>
              </a:spcAft>
            </a:pPr>
            <a:r>
              <a:rPr sz="950" b="1">
                <a:solidFill>
                  <a:srgbClr val="1A202C"/>
                </a:solidFill>
                <a:latin typeface="Calibri"/>
              </a:rPr>
              <a:t>• 5 Free Messages Anti-Spam Barrier: </a:t>
            </a:r>
            <a:r>
              <a:rPr sz="900">
                <a:solidFill>
                  <a:srgbClr val="2D3748"/>
                </a:solidFill>
                <a:latin typeface="Calibri"/>
              </a:rPr>
              <a:t>Limits unsolicited outreach to 5 free direct messages until an active session booking is created.</a:t>
            </a:r>
          </a:p>
          <a:p>
            <a:pPr>
              <a:spcAft>
                <a:spcPts val="400"/>
              </a:spcAft>
            </a:pPr>
            <a:r>
              <a:rPr sz="950" b="1">
                <a:solidFill>
                  <a:srgbClr val="1A202C"/>
                </a:solidFill>
                <a:latin typeface="Calibri"/>
              </a:rPr>
              <a:t>• Unlimited Chat on Booking: </a:t>
            </a:r>
            <a:r>
              <a:rPr sz="900">
                <a:solidFill>
                  <a:srgbClr val="2D3748"/>
                </a:solidFill>
                <a:latin typeface="Calibri"/>
              </a:rPr>
              <a:t>Automatically lifts messaging restrictions once a booking request is accepted by the mentor.</a:t>
            </a:r>
          </a:p>
          <a:p>
            <a:pPr>
              <a:spcAft>
                <a:spcPts val="400"/>
              </a:spcAft>
            </a:pPr>
            <a:r>
              <a:rPr sz="950" b="1">
                <a:solidFill>
                  <a:srgbClr val="1A202C"/>
                </a:solidFill>
                <a:latin typeface="Calibri"/>
              </a:rPr>
              <a:t>• Conversation Thread Management: </a:t>
            </a:r>
            <a:r>
              <a:rPr sz="900">
                <a:solidFill>
                  <a:srgbClr val="2D3748"/>
                </a:solidFill>
                <a:latin typeface="Calibri"/>
              </a:rPr>
              <a:t>Maintains active conversation list showing peer avatars, last message preview, and timestamps.</a:t>
            </a:r>
          </a:p>
          <a:p>
            <a:pPr>
              <a:spcAft>
                <a:spcPts val="400"/>
              </a:spcAft>
            </a:pPr>
            <a:r>
              <a:rPr sz="950" b="1">
                <a:solidFill>
                  <a:srgbClr val="1A202C"/>
                </a:solidFill>
                <a:latin typeface="Calibri"/>
              </a:rPr>
              <a:t>• Real-Time Presence &amp; Typing: </a:t>
            </a:r>
            <a:r>
              <a:rPr sz="900">
                <a:solidFill>
                  <a:srgbClr val="2D3748"/>
                </a:solidFill>
                <a:latin typeface="Calibri"/>
              </a:rPr>
              <a:t>Broadcasts typing indicator events and manages message read receipts across users.</a:t>
            </a:r>
          </a:p>
        </p:txBody>
      </p:sp>
      <p:sp>
        <p:nvSpPr>
          <p:cNvPr id="11" name="Rectangle 10"/>
          <p:cNvSpPr/>
          <p:nvPr/>
        </p:nvSpPr>
        <p:spPr>
          <a:xfrm>
            <a:off x="731520" y="4800600"/>
            <a:ext cx="5120640" cy="1508760"/>
          </a:xfrm>
          <a:prstGeom prst="rect">
            <a:avLst/>
          </a:prstGeom>
          <a:solidFill>
            <a:srgbClr val="F8FBF9"/>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910328"/>
            <a:ext cx="4754880" cy="1289304"/>
          </a:xfrm>
          <a:prstGeom prst="rect">
            <a:avLst/>
          </a:prstGeom>
          <a:noFill/>
        </p:spPr>
        <p:txBody>
          <a:bodyPr wrap="square">
            <a:spAutoFit/>
          </a:bodyPr>
          <a:lstStyle/>
          <a:p>
            <a:pPr>
              <a:spcAft>
                <a:spcPts val="400"/>
              </a:spcAft>
              <a:defRPr sz="1100" b="1">
                <a:solidFill>
                  <a:srgbClr val="176B4E"/>
                </a:solidFill>
                <a:latin typeface="Cambria"/>
              </a:defRPr>
            </a:pPr>
            <a:r>
              <a:t>Technical Specifications &amp; APIs</a:t>
            </a:r>
          </a:p>
          <a:p>
            <a:pPr>
              <a:spcAft>
                <a:spcPts val="200"/>
              </a:spcAft>
            </a:pPr>
            <a:r>
              <a:rPr sz="900" b="1">
                <a:solidFill>
                  <a:srgbClr val="1A202C"/>
                </a:solidFill>
                <a:latin typeface="Calibri"/>
              </a:rPr>
              <a:t>Core Endpoints: </a:t>
            </a:r>
            <a:r>
              <a:rPr sz="850">
                <a:solidFill>
                  <a:srgbClr val="2D3748"/>
                </a:solidFill>
                <a:latin typeface="Calibri"/>
              </a:rPr>
              <a:t>GET /api/conversations, GET /api/messages/:convId, POST /api/messages</a:t>
            </a:r>
          </a:p>
          <a:p>
            <a:pPr>
              <a:spcAft>
                <a:spcPts val="200"/>
              </a:spcAft>
            </a:pPr>
            <a:r>
              <a:rPr sz="900" b="1">
                <a:solidFill>
                  <a:srgbClr val="1A202C"/>
                </a:solidFill>
                <a:latin typeface="Calibri"/>
              </a:rPr>
              <a:t>WebSocket Events: </a:t>
            </a:r>
            <a:r>
              <a:rPr sz="850">
                <a:solidFill>
                  <a:srgbClr val="2D3748"/>
                </a:solidFill>
                <a:latin typeface="Calibri"/>
              </a:rPr>
              <a:t>join_conversation, send_message, receive_message, typing, message_read</a:t>
            </a:r>
          </a:p>
          <a:p>
            <a:pPr>
              <a:spcAft>
                <a:spcPts val="200"/>
              </a:spcAft>
            </a:pPr>
            <a:r>
              <a:rPr sz="900" b="1">
                <a:solidFill>
                  <a:srgbClr val="1A202C"/>
                </a:solidFill>
                <a:latin typeface="Calibri"/>
              </a:rPr>
              <a:t>Database Models: </a:t>
            </a:r>
            <a:r>
              <a:rPr sz="850">
                <a:solidFill>
                  <a:srgbClr val="2D3748"/>
                </a:solidFill>
                <a:latin typeface="Calibri"/>
              </a:rPr>
              <a:t>Conversation schema (participants: [Ref], lastMessage), Message schema (sender, text, readBy)</a:t>
            </a:r>
          </a:p>
          <a:p>
            <a:pPr>
              <a:spcAft>
                <a:spcPts val="200"/>
              </a:spcAft>
            </a:pPr>
            <a:r>
              <a:rPr sz="900" b="1">
                <a:solidFill>
                  <a:srgbClr val="1A202C"/>
                </a:solidFill>
                <a:latin typeface="Calibri"/>
              </a:rPr>
              <a:t>Client Component: </a:t>
            </a:r>
            <a:r>
              <a:rPr sz="850">
                <a:solidFill>
                  <a:srgbClr val="2D3748"/>
                </a:solidFill>
                <a:latin typeface="Calibri"/>
              </a:rPr>
              <a:t>ChatPage.jsx, SocketContext.jsx, MessageBubble.jsx, ConversationList.jsx</a:t>
            </a:r>
          </a:p>
        </p:txBody>
      </p:sp>
      <p:sp>
        <p:nvSpPr>
          <p:cNvPr id="13" name="Rectangle 12"/>
          <p:cNvSpPr/>
          <p:nvPr/>
        </p:nvSpPr>
        <p:spPr>
          <a:xfrm>
            <a:off x="6080760" y="1325880"/>
            <a:ext cx="5376672" cy="4983480"/>
          </a:xfrm>
          <a:prstGeom prst="rect">
            <a:avLst/>
          </a:prstGeom>
          <a:solidFill>
            <a:srgbClr val="FFFFFF"/>
          </a:solidFill>
          <a:ln w="1905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08_chat.png"/>
          <p:cNvPicPr>
            <a:picLocks noChangeAspect="1"/>
          </p:cNvPicPr>
          <p:nvPr/>
        </p:nvPicPr>
        <p:blipFill>
          <a:blip r:embed="rId2"/>
          <a:stretch>
            <a:fillRect/>
          </a:stretch>
        </p:blipFill>
        <p:spPr>
          <a:xfrm>
            <a:off x="6117336" y="1362456"/>
            <a:ext cx="5303520" cy="4910328"/>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BF9"/>
        </a:solidFill>
        <a:effectLst/>
      </p:bgPr>
    </p:bg>
    <p:spTree>
      <p:nvGrpSpPr>
        <p:cNvPr id="1" name=""/>
        <p:cNvGrpSpPr/>
        <p:nvPr/>
      </p:nvGrpSpPr>
      <p:grpSpPr/>
      <p:sp>
        <p:nvSpPr>
          <p:cNvPr id="2" name="TextBox 1"/>
          <p:cNvSpPr txBox="1"/>
          <p:nvPr/>
        </p:nvSpPr>
        <p:spPr>
          <a:xfrm>
            <a:off x="731520" y="365760"/>
            <a:ext cx="10698480" cy="256032"/>
          </a:xfrm>
          <a:prstGeom prst="rect">
            <a:avLst/>
          </a:prstGeom>
          <a:noFill/>
        </p:spPr>
        <p:txBody>
          <a:bodyPr wrap="square" lIns="0" tIns="0" rIns="0" bIns="0">
            <a:spAutoFit/>
          </a:bodyPr>
          <a:lstStyle/>
          <a:p>
            <a:pPr>
              <a:defRPr sz="950" b="1">
                <a:solidFill>
                  <a:srgbClr val="176B4E"/>
                </a:solidFill>
                <a:latin typeface="Calibri"/>
              </a:defRPr>
            </a:pPr>
            <a:r>
              <a:t>MODULE 9 OF 12: COMMUNITY TRUST</a:t>
            </a:r>
          </a:p>
        </p:txBody>
      </p:sp>
      <p:sp>
        <p:nvSpPr>
          <p:cNvPr id="3" name="TextBox 2"/>
          <p:cNvSpPr txBox="1"/>
          <p:nvPr/>
        </p:nvSpPr>
        <p:spPr>
          <a:xfrm>
            <a:off x="731520" y="603504"/>
            <a:ext cx="10698480" cy="457200"/>
          </a:xfrm>
          <a:prstGeom prst="rect">
            <a:avLst/>
          </a:prstGeom>
          <a:noFill/>
        </p:spPr>
        <p:txBody>
          <a:bodyPr wrap="square" lIns="0" tIns="0" rIns="0" bIns="0">
            <a:spAutoFit/>
          </a:bodyPr>
          <a:lstStyle/>
          <a:p>
            <a:pPr>
              <a:defRPr sz="2100" b="1">
                <a:solidFill>
                  <a:srgbClr val="1A202C"/>
                </a:solidFill>
                <a:latin typeface="Cambria"/>
              </a:defRPr>
            </a:pPr>
            <a:r>
              <a:t>Reviews &amp; Ratings Module</a:t>
            </a:r>
          </a:p>
        </p:txBody>
      </p:sp>
      <p:sp>
        <p:nvSpPr>
          <p:cNvPr id="4" name="Rectangle 3"/>
          <p:cNvSpPr/>
          <p:nvPr/>
        </p:nvSpPr>
        <p:spPr>
          <a:xfrm>
            <a:off x="731520" y="11155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92240"/>
            <a:ext cx="7315200" cy="274320"/>
          </a:xfrm>
          <a:prstGeom prst="rect">
            <a:avLst/>
          </a:prstGeom>
          <a:noFill/>
        </p:spPr>
        <p:txBody>
          <a:bodyPr wrap="none" lIns="0" tIns="0" rIns="0" bIns="0">
            <a:spAutoFit/>
          </a:bodyPr>
          <a:lstStyle/>
          <a:p>
            <a:pPr>
              <a:defRPr sz="900">
                <a:solidFill>
                  <a:srgbClr val="5A6578"/>
                </a:solidFill>
                <a:latin typeface="Calibri"/>
              </a:defRPr>
            </a:pPr>
            <a:r>
              <a:t>Skill Exchange · B.Tech CSE Capstone Project (Team CosmicCoder · Group 13)</a:t>
            </a:r>
          </a:p>
        </p:txBody>
      </p:sp>
      <p:sp>
        <p:nvSpPr>
          <p:cNvPr id="6" name="TextBox 5"/>
          <p:cNvSpPr txBox="1"/>
          <p:nvPr/>
        </p:nvSpPr>
        <p:spPr>
          <a:xfrm>
            <a:off x="8686800" y="6492240"/>
            <a:ext cx="2743200" cy="274320"/>
          </a:xfrm>
          <a:prstGeom prst="rect">
            <a:avLst/>
          </a:prstGeom>
          <a:noFill/>
        </p:spPr>
        <p:txBody>
          <a:bodyPr wrap="none" lIns="0" tIns="0" rIns="0" bIns="0">
            <a:spAutoFit/>
          </a:bodyPr>
          <a:lstStyle/>
          <a:p>
            <a:pPr algn="r">
              <a:defRPr sz="900" b="1">
                <a:solidFill>
                  <a:srgbClr val="5A6578"/>
                </a:solidFill>
                <a:latin typeface="Calibri"/>
              </a:defRPr>
            </a:pPr>
            <a:r>
              <a:t>Slide 14 of 22</a:t>
            </a:r>
          </a:p>
        </p:txBody>
      </p:sp>
      <p:sp>
        <p:nvSpPr>
          <p:cNvPr id="7" name="Rectangle 6"/>
          <p:cNvSpPr/>
          <p:nvPr/>
        </p:nvSpPr>
        <p:spPr>
          <a:xfrm>
            <a:off x="731520" y="1325880"/>
            <a:ext cx="5120640" cy="1051560"/>
          </a:xfrm>
          <a:prstGeom prst="rect">
            <a:avLst/>
          </a:prstGeom>
          <a:solidFill>
            <a:srgbClr val="F4F8F5"/>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35608"/>
            <a:ext cx="4754880" cy="832104"/>
          </a:xfrm>
          <a:prstGeom prst="rect">
            <a:avLst/>
          </a:prstGeom>
          <a:noFill/>
        </p:spPr>
        <p:txBody>
          <a:bodyPr wrap="square">
            <a:spAutoFit/>
          </a:bodyPr>
          <a:lstStyle/>
          <a:p>
            <a:pPr>
              <a:spcAft>
                <a:spcPts val="300"/>
              </a:spcAft>
              <a:defRPr sz="1100" b="1">
                <a:solidFill>
                  <a:srgbClr val="176B4E"/>
                </a:solidFill>
                <a:latin typeface="Cambria"/>
              </a:defRPr>
            </a:pPr>
            <a:r>
              <a:t>Module Overview</a:t>
            </a:r>
          </a:p>
          <a:p>
            <a:pPr>
              <a:defRPr sz="950">
                <a:solidFill>
                  <a:srgbClr val="2D3748"/>
                </a:solidFill>
                <a:latin typeface="Calibri"/>
              </a:defRPr>
            </a:pPr>
            <a:r>
              <a:t>Builds platform credibility through a verified mutual feedback system where learners submit quantitative star ratings and qualitative reviews following completed sessions.</a:t>
            </a:r>
          </a:p>
        </p:txBody>
      </p:sp>
      <p:sp>
        <p:nvSpPr>
          <p:cNvPr id="9" name="Rectangle 8"/>
          <p:cNvSpPr/>
          <p:nvPr/>
        </p:nvSpPr>
        <p:spPr>
          <a:xfrm>
            <a:off x="731520" y="2514600"/>
            <a:ext cx="5120640" cy="2148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642616"/>
            <a:ext cx="4754880" cy="1892808"/>
          </a:xfrm>
          <a:prstGeom prst="rect">
            <a:avLst/>
          </a:prstGeom>
          <a:noFill/>
        </p:spPr>
        <p:txBody>
          <a:bodyPr wrap="square">
            <a:spAutoFit/>
          </a:bodyPr>
          <a:lstStyle/>
          <a:p>
            <a:pPr>
              <a:spcAft>
                <a:spcPts val="600"/>
              </a:spcAft>
              <a:defRPr sz="1100" b="1">
                <a:solidFill>
                  <a:srgbClr val="176B4E"/>
                </a:solidFill>
                <a:latin typeface="Cambria"/>
              </a:defRPr>
            </a:pPr>
            <a:r>
              <a:t>Key Functional Features</a:t>
            </a:r>
          </a:p>
          <a:p>
            <a:pPr>
              <a:spcAft>
                <a:spcPts val="400"/>
              </a:spcAft>
            </a:pPr>
            <a:r>
              <a:rPr sz="950" b="1">
                <a:solidFill>
                  <a:srgbClr val="1A202C"/>
                </a:solidFill>
                <a:latin typeface="Calibri"/>
              </a:rPr>
              <a:t>• Verified Post-Session Feedback: </a:t>
            </a:r>
            <a:r>
              <a:rPr sz="900">
                <a:solidFill>
                  <a:srgbClr val="2D3748"/>
                </a:solidFill>
                <a:latin typeface="Calibri"/>
              </a:rPr>
              <a:t>Restricts review submissions strictly to learners who have completed a confirmed session.</a:t>
            </a:r>
          </a:p>
          <a:p>
            <a:pPr>
              <a:spcAft>
                <a:spcPts val="400"/>
              </a:spcAft>
            </a:pPr>
            <a:r>
              <a:rPr sz="950" b="1">
                <a:solidFill>
                  <a:srgbClr val="1A202C"/>
                </a:solidFill>
                <a:latin typeface="Calibri"/>
              </a:rPr>
              <a:t>• 1-to-5 Star Rating Scale: </a:t>
            </a:r>
            <a:r>
              <a:rPr sz="900">
                <a:solidFill>
                  <a:srgbClr val="2D3748"/>
                </a:solidFill>
                <a:latin typeface="Calibri"/>
              </a:rPr>
              <a:t>Captures numeric quality ratings paired with detailed written testimonial comments.</a:t>
            </a:r>
          </a:p>
          <a:p>
            <a:pPr>
              <a:spcAft>
                <a:spcPts val="400"/>
              </a:spcAft>
            </a:pPr>
            <a:r>
              <a:rPr sz="950" b="1">
                <a:solidFill>
                  <a:srgbClr val="1A202C"/>
                </a:solidFill>
                <a:latin typeface="Calibri"/>
              </a:rPr>
              <a:t>• Automated Rating Aggregation: </a:t>
            </a:r>
            <a:r>
              <a:rPr sz="900">
                <a:solidFill>
                  <a:srgbClr val="2D3748"/>
                </a:solidFill>
                <a:latin typeface="Calibri"/>
              </a:rPr>
              <a:t>Recalculates mentor cumulative review counts and average rating in real time on every submission.</a:t>
            </a:r>
          </a:p>
          <a:p>
            <a:pPr>
              <a:spcAft>
                <a:spcPts val="400"/>
              </a:spcAft>
            </a:pPr>
            <a:r>
              <a:rPr sz="950" b="1">
                <a:solidFill>
                  <a:srgbClr val="1A202C"/>
                </a:solidFill>
                <a:latin typeface="Calibri"/>
              </a:rPr>
              <a:t>• Public Credibility Display: </a:t>
            </a:r>
            <a:r>
              <a:rPr sz="900">
                <a:solidFill>
                  <a:srgbClr val="2D3748"/>
                </a:solidFill>
                <a:latin typeface="Calibri"/>
              </a:rPr>
              <a:t>Displays star ratings prominently on mentor cards and profile pages to guide future learners.</a:t>
            </a:r>
          </a:p>
          <a:p>
            <a:pPr>
              <a:spcAft>
                <a:spcPts val="400"/>
              </a:spcAft>
            </a:pPr>
            <a:r>
              <a:rPr sz="950" b="1">
                <a:solidFill>
                  <a:srgbClr val="1A202C"/>
                </a:solidFill>
                <a:latin typeface="Calibri"/>
              </a:rPr>
              <a:t>• Duplicate Review Prevention: </a:t>
            </a:r>
            <a:r>
              <a:rPr sz="900">
                <a:solidFill>
                  <a:srgbClr val="2D3748"/>
                </a:solidFill>
                <a:latin typeface="Calibri"/>
              </a:rPr>
              <a:t>Enforces a unique database constraint on (bookingId, reviewer) to prevent review manipulation.</a:t>
            </a:r>
          </a:p>
        </p:txBody>
      </p:sp>
      <p:sp>
        <p:nvSpPr>
          <p:cNvPr id="11" name="Rectangle 10"/>
          <p:cNvSpPr/>
          <p:nvPr/>
        </p:nvSpPr>
        <p:spPr>
          <a:xfrm>
            <a:off x="731520" y="4800600"/>
            <a:ext cx="5120640" cy="1508760"/>
          </a:xfrm>
          <a:prstGeom prst="rect">
            <a:avLst/>
          </a:prstGeom>
          <a:solidFill>
            <a:srgbClr val="F8FBF9"/>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910328"/>
            <a:ext cx="4754880" cy="1289304"/>
          </a:xfrm>
          <a:prstGeom prst="rect">
            <a:avLst/>
          </a:prstGeom>
          <a:noFill/>
        </p:spPr>
        <p:txBody>
          <a:bodyPr wrap="square">
            <a:spAutoFit/>
          </a:bodyPr>
          <a:lstStyle/>
          <a:p>
            <a:pPr>
              <a:spcAft>
                <a:spcPts val="400"/>
              </a:spcAft>
              <a:defRPr sz="1100" b="1">
                <a:solidFill>
                  <a:srgbClr val="176B4E"/>
                </a:solidFill>
                <a:latin typeface="Cambria"/>
              </a:defRPr>
            </a:pPr>
            <a:r>
              <a:t>Technical Specifications &amp; APIs</a:t>
            </a:r>
          </a:p>
          <a:p>
            <a:pPr>
              <a:spcAft>
                <a:spcPts val="200"/>
              </a:spcAft>
            </a:pPr>
            <a:r>
              <a:rPr sz="900" b="1">
                <a:solidFill>
                  <a:srgbClr val="1A202C"/>
                </a:solidFill>
                <a:latin typeface="Calibri"/>
              </a:rPr>
              <a:t>Core Endpoints: </a:t>
            </a:r>
            <a:r>
              <a:rPr sz="850">
                <a:solidFill>
                  <a:srgbClr val="2D3748"/>
                </a:solidFill>
                <a:latin typeface="Calibri"/>
              </a:rPr>
              <a:t>POST /api/reviews, GET /api/reviews/mentor/:id, GET /api/reviews/my</a:t>
            </a:r>
          </a:p>
          <a:p>
            <a:pPr>
              <a:spcAft>
                <a:spcPts val="200"/>
              </a:spcAft>
            </a:pPr>
            <a:r>
              <a:rPr sz="900" b="1">
                <a:solidFill>
                  <a:srgbClr val="1A202C"/>
                </a:solidFill>
                <a:latin typeface="Calibri"/>
              </a:rPr>
              <a:t>Client Component: </a:t>
            </a:r>
            <a:r>
              <a:rPr sz="850">
                <a:solidFill>
                  <a:srgbClr val="2D3748"/>
                </a:solidFill>
                <a:latin typeface="Calibri"/>
              </a:rPr>
              <a:t>RatingCard.jsx, StarRatingInput.jsx, ReviewsList.jsx</a:t>
            </a:r>
          </a:p>
          <a:p>
            <a:pPr>
              <a:spcAft>
                <a:spcPts val="200"/>
              </a:spcAft>
            </a:pPr>
            <a:r>
              <a:rPr sz="900" b="1">
                <a:solidFill>
                  <a:srgbClr val="1A202C"/>
                </a:solidFill>
                <a:latin typeface="Calibri"/>
              </a:rPr>
              <a:t>Database Model: </a:t>
            </a:r>
            <a:r>
              <a:rPr sz="850">
                <a:solidFill>
                  <a:srgbClr val="2D3748"/>
                </a:solidFill>
                <a:latin typeface="Calibri"/>
              </a:rPr>
              <a:t>Review schema (mentor: Ref, learner: Ref, bookingId: Ref, rating: Number [1-5], comment: String)</a:t>
            </a:r>
          </a:p>
          <a:p>
            <a:pPr>
              <a:spcAft>
                <a:spcPts val="200"/>
              </a:spcAft>
            </a:pPr>
            <a:r>
              <a:rPr sz="900" b="1">
                <a:solidFill>
                  <a:srgbClr val="1A202C"/>
                </a:solidFill>
                <a:latin typeface="Calibri"/>
              </a:rPr>
              <a:t>Aggregation: </a:t>
            </a:r>
            <a:r>
              <a:rPr sz="850">
                <a:solidFill>
                  <a:srgbClr val="2D3748"/>
                </a:solidFill>
                <a:latin typeface="Calibri"/>
              </a:rPr>
              <a:t>MongoDB $group aggregation pipeline dynamically computing averageRating = $avg(rating)</a:t>
            </a:r>
          </a:p>
        </p:txBody>
      </p:sp>
      <p:sp>
        <p:nvSpPr>
          <p:cNvPr id="13" name="Rectangle 12"/>
          <p:cNvSpPr/>
          <p:nvPr/>
        </p:nvSpPr>
        <p:spPr>
          <a:xfrm>
            <a:off x="6080760" y="1325880"/>
            <a:ext cx="5376672" cy="4983480"/>
          </a:xfrm>
          <a:prstGeom prst="rect">
            <a:avLst/>
          </a:prstGeom>
          <a:solidFill>
            <a:srgbClr val="FFFFFF"/>
          </a:solidFill>
          <a:ln w="1905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09_ratings_reviews.png"/>
          <p:cNvPicPr>
            <a:picLocks noChangeAspect="1"/>
          </p:cNvPicPr>
          <p:nvPr/>
        </p:nvPicPr>
        <p:blipFill>
          <a:blip r:embed="rId2"/>
          <a:stretch>
            <a:fillRect/>
          </a:stretch>
        </p:blipFill>
        <p:spPr>
          <a:xfrm>
            <a:off x="6117336" y="1362456"/>
            <a:ext cx="5303520" cy="4910328"/>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BF9"/>
        </a:solidFill>
        <a:effectLst/>
      </p:bgPr>
    </p:bg>
    <p:spTree>
      <p:nvGrpSpPr>
        <p:cNvPr id="1" name=""/>
        <p:cNvGrpSpPr/>
        <p:nvPr/>
      </p:nvGrpSpPr>
      <p:grpSpPr/>
      <p:sp>
        <p:nvSpPr>
          <p:cNvPr id="2" name="TextBox 1"/>
          <p:cNvSpPr txBox="1"/>
          <p:nvPr/>
        </p:nvSpPr>
        <p:spPr>
          <a:xfrm>
            <a:off x="731520" y="365760"/>
            <a:ext cx="10698480" cy="256032"/>
          </a:xfrm>
          <a:prstGeom prst="rect">
            <a:avLst/>
          </a:prstGeom>
          <a:noFill/>
        </p:spPr>
        <p:txBody>
          <a:bodyPr wrap="square" lIns="0" tIns="0" rIns="0" bIns="0">
            <a:spAutoFit/>
          </a:bodyPr>
          <a:lstStyle/>
          <a:p>
            <a:pPr>
              <a:defRPr sz="950" b="1">
                <a:solidFill>
                  <a:srgbClr val="176B4E"/>
                </a:solidFill>
                <a:latin typeface="Calibri"/>
              </a:defRPr>
            </a:pPr>
            <a:r>
              <a:t>MODULE 10 OF 12: ROLE-BASED PORTALS</a:t>
            </a:r>
          </a:p>
        </p:txBody>
      </p:sp>
      <p:sp>
        <p:nvSpPr>
          <p:cNvPr id="3" name="TextBox 2"/>
          <p:cNvSpPr txBox="1"/>
          <p:nvPr/>
        </p:nvSpPr>
        <p:spPr>
          <a:xfrm>
            <a:off x="731520" y="603504"/>
            <a:ext cx="10698480" cy="457200"/>
          </a:xfrm>
          <a:prstGeom prst="rect">
            <a:avLst/>
          </a:prstGeom>
          <a:noFill/>
        </p:spPr>
        <p:txBody>
          <a:bodyPr wrap="square" lIns="0" tIns="0" rIns="0" bIns="0">
            <a:spAutoFit/>
          </a:bodyPr>
          <a:lstStyle/>
          <a:p>
            <a:pPr>
              <a:defRPr sz="2100" b="1">
                <a:solidFill>
                  <a:srgbClr val="1A202C"/>
                </a:solidFill>
                <a:latin typeface="Cambria"/>
              </a:defRPr>
            </a:pPr>
            <a:r>
              <a:t>Learner Dashboard Module</a:t>
            </a:r>
          </a:p>
        </p:txBody>
      </p:sp>
      <p:sp>
        <p:nvSpPr>
          <p:cNvPr id="4" name="Rectangle 3"/>
          <p:cNvSpPr/>
          <p:nvPr/>
        </p:nvSpPr>
        <p:spPr>
          <a:xfrm>
            <a:off x="731520" y="11155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92240"/>
            <a:ext cx="7315200" cy="274320"/>
          </a:xfrm>
          <a:prstGeom prst="rect">
            <a:avLst/>
          </a:prstGeom>
          <a:noFill/>
        </p:spPr>
        <p:txBody>
          <a:bodyPr wrap="none" lIns="0" tIns="0" rIns="0" bIns="0">
            <a:spAutoFit/>
          </a:bodyPr>
          <a:lstStyle/>
          <a:p>
            <a:pPr>
              <a:defRPr sz="900">
                <a:solidFill>
                  <a:srgbClr val="5A6578"/>
                </a:solidFill>
                <a:latin typeface="Calibri"/>
              </a:defRPr>
            </a:pPr>
            <a:r>
              <a:t>Skill Exchange · B.Tech CSE Capstone Project (Team CosmicCoder · Group 13)</a:t>
            </a:r>
          </a:p>
        </p:txBody>
      </p:sp>
      <p:sp>
        <p:nvSpPr>
          <p:cNvPr id="6" name="TextBox 5"/>
          <p:cNvSpPr txBox="1"/>
          <p:nvPr/>
        </p:nvSpPr>
        <p:spPr>
          <a:xfrm>
            <a:off x="8686800" y="6492240"/>
            <a:ext cx="2743200" cy="274320"/>
          </a:xfrm>
          <a:prstGeom prst="rect">
            <a:avLst/>
          </a:prstGeom>
          <a:noFill/>
        </p:spPr>
        <p:txBody>
          <a:bodyPr wrap="none" lIns="0" tIns="0" rIns="0" bIns="0">
            <a:spAutoFit/>
          </a:bodyPr>
          <a:lstStyle/>
          <a:p>
            <a:pPr algn="r">
              <a:defRPr sz="900" b="1">
                <a:solidFill>
                  <a:srgbClr val="5A6578"/>
                </a:solidFill>
                <a:latin typeface="Calibri"/>
              </a:defRPr>
            </a:pPr>
            <a:r>
              <a:t>Slide 15 of 22</a:t>
            </a:r>
          </a:p>
        </p:txBody>
      </p:sp>
      <p:sp>
        <p:nvSpPr>
          <p:cNvPr id="7" name="Rectangle 6"/>
          <p:cNvSpPr/>
          <p:nvPr/>
        </p:nvSpPr>
        <p:spPr>
          <a:xfrm>
            <a:off x="731520" y="1325880"/>
            <a:ext cx="5120640" cy="1051560"/>
          </a:xfrm>
          <a:prstGeom prst="rect">
            <a:avLst/>
          </a:prstGeom>
          <a:solidFill>
            <a:srgbClr val="F4F8F5"/>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35608"/>
            <a:ext cx="4754880" cy="832104"/>
          </a:xfrm>
          <a:prstGeom prst="rect">
            <a:avLst/>
          </a:prstGeom>
          <a:noFill/>
        </p:spPr>
        <p:txBody>
          <a:bodyPr wrap="square">
            <a:spAutoFit/>
          </a:bodyPr>
          <a:lstStyle/>
          <a:p>
            <a:pPr>
              <a:spcAft>
                <a:spcPts val="300"/>
              </a:spcAft>
              <a:defRPr sz="1100" b="1">
                <a:solidFill>
                  <a:srgbClr val="176B4E"/>
                </a:solidFill>
                <a:latin typeface="Cambria"/>
              </a:defRPr>
            </a:pPr>
            <a:r>
              <a:t>Module Overview</a:t>
            </a:r>
          </a:p>
          <a:p>
            <a:pPr>
              <a:defRPr sz="950">
                <a:solidFill>
                  <a:srgbClr val="2D3748"/>
                </a:solidFill>
                <a:latin typeface="Calibri"/>
              </a:defRPr>
            </a:pPr>
            <a:r>
              <a:t>Serves as the personalized student command center to monitor live learning hours, track upcoming sessions, manage mentor connections, and follow academic milestones.</a:t>
            </a:r>
          </a:p>
        </p:txBody>
      </p:sp>
      <p:sp>
        <p:nvSpPr>
          <p:cNvPr id="9" name="Rectangle 8"/>
          <p:cNvSpPr/>
          <p:nvPr/>
        </p:nvSpPr>
        <p:spPr>
          <a:xfrm>
            <a:off x="731520" y="2514600"/>
            <a:ext cx="5120640" cy="2148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642616"/>
            <a:ext cx="4754880" cy="1892808"/>
          </a:xfrm>
          <a:prstGeom prst="rect">
            <a:avLst/>
          </a:prstGeom>
          <a:noFill/>
        </p:spPr>
        <p:txBody>
          <a:bodyPr wrap="square">
            <a:spAutoFit/>
          </a:bodyPr>
          <a:lstStyle/>
          <a:p>
            <a:pPr>
              <a:spcAft>
                <a:spcPts val="600"/>
              </a:spcAft>
              <a:defRPr sz="1100" b="1">
                <a:solidFill>
                  <a:srgbClr val="176B4E"/>
                </a:solidFill>
                <a:latin typeface="Cambria"/>
              </a:defRPr>
            </a:pPr>
            <a:r>
              <a:t>Key Functional Features</a:t>
            </a:r>
          </a:p>
          <a:p>
            <a:pPr>
              <a:spcAft>
                <a:spcPts val="400"/>
              </a:spcAft>
            </a:pPr>
            <a:r>
              <a:rPr sz="950" b="1">
                <a:solidFill>
                  <a:srgbClr val="1A202C"/>
                </a:solidFill>
                <a:latin typeface="Calibri"/>
              </a:rPr>
              <a:t>• Live Academic KPI Cards: </a:t>
            </a:r>
            <a:r>
              <a:rPr sz="900">
                <a:solidFill>
                  <a:srgbClr val="2D3748"/>
                </a:solidFill>
                <a:latin typeface="Calibri"/>
              </a:rPr>
              <a:t>Summarizes total learning hours, sessions attended, connected mentors, and skills explored.</a:t>
            </a:r>
          </a:p>
          <a:p>
            <a:pPr>
              <a:spcAft>
                <a:spcPts val="400"/>
              </a:spcAft>
            </a:pPr>
            <a:r>
              <a:rPr sz="950" b="1">
                <a:solidFill>
                  <a:srgbClr val="1A202C"/>
                </a:solidFill>
                <a:latin typeface="Calibri"/>
              </a:rPr>
              <a:t>• Upcoming Session Timeline: </a:t>
            </a:r>
            <a:r>
              <a:rPr sz="900">
                <a:solidFill>
                  <a:srgbClr val="2D3748"/>
                </a:solidFill>
                <a:latin typeface="Calibri"/>
              </a:rPr>
              <a:t>Lists scheduled calls with countdowns, meeting links, and instant 'Open Chat' navigation.</a:t>
            </a:r>
          </a:p>
          <a:p>
            <a:pPr>
              <a:spcAft>
                <a:spcPts val="400"/>
              </a:spcAft>
            </a:pPr>
            <a:r>
              <a:rPr sz="950" b="1">
                <a:solidFill>
                  <a:srgbClr val="1A202C"/>
                </a:solidFill>
                <a:latin typeface="Calibri"/>
              </a:rPr>
              <a:t>• Learning Roadmap Milestones: </a:t>
            </a:r>
            <a:r>
              <a:rPr sz="900">
                <a:solidFill>
                  <a:srgbClr val="2D3748"/>
                </a:solidFill>
                <a:latin typeface="Calibri"/>
              </a:rPr>
              <a:t>Tracks learner progression across target curriculum topics (e.g., Node.js, System Design).</a:t>
            </a:r>
          </a:p>
          <a:p>
            <a:pPr>
              <a:spcAft>
                <a:spcPts val="400"/>
              </a:spcAft>
            </a:pPr>
            <a:r>
              <a:rPr sz="950" b="1">
                <a:solidFill>
                  <a:srgbClr val="1A202C"/>
                </a:solidFill>
                <a:latin typeface="Calibri"/>
              </a:rPr>
              <a:t>• Session Status Filters: </a:t>
            </a:r>
            <a:r>
              <a:rPr sz="900">
                <a:solidFill>
                  <a:srgbClr val="2D3748"/>
                </a:solidFill>
                <a:latin typeface="Calibri"/>
              </a:rPr>
              <a:t>Enables 1-click filtering across All, Pending, Confirmed, Completed, and Cancelled bookings.</a:t>
            </a:r>
          </a:p>
        </p:txBody>
      </p:sp>
      <p:sp>
        <p:nvSpPr>
          <p:cNvPr id="11" name="Rectangle 10"/>
          <p:cNvSpPr/>
          <p:nvPr/>
        </p:nvSpPr>
        <p:spPr>
          <a:xfrm>
            <a:off x="731520" y="4800600"/>
            <a:ext cx="5120640" cy="1508760"/>
          </a:xfrm>
          <a:prstGeom prst="rect">
            <a:avLst/>
          </a:prstGeom>
          <a:solidFill>
            <a:srgbClr val="F8FBF9"/>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910328"/>
            <a:ext cx="4754880" cy="1289304"/>
          </a:xfrm>
          <a:prstGeom prst="rect">
            <a:avLst/>
          </a:prstGeom>
          <a:noFill/>
        </p:spPr>
        <p:txBody>
          <a:bodyPr wrap="square">
            <a:spAutoFit/>
          </a:bodyPr>
          <a:lstStyle/>
          <a:p>
            <a:pPr>
              <a:spcAft>
                <a:spcPts val="400"/>
              </a:spcAft>
              <a:defRPr sz="1100" b="1">
                <a:solidFill>
                  <a:srgbClr val="176B4E"/>
                </a:solidFill>
                <a:latin typeface="Cambria"/>
              </a:defRPr>
            </a:pPr>
            <a:r>
              <a:t>Technical Specifications &amp; APIs</a:t>
            </a:r>
          </a:p>
          <a:p>
            <a:pPr>
              <a:spcAft>
                <a:spcPts val="200"/>
              </a:spcAft>
            </a:pPr>
            <a:r>
              <a:rPr sz="900" b="1">
                <a:solidFill>
                  <a:srgbClr val="1A202C"/>
                </a:solidFill>
                <a:latin typeface="Calibri"/>
              </a:rPr>
              <a:t>Core Endpoints: </a:t>
            </a:r>
            <a:r>
              <a:rPr sz="850">
                <a:solidFill>
                  <a:srgbClr val="2D3748"/>
                </a:solidFill>
                <a:latin typeface="Calibri"/>
              </a:rPr>
              <a:t>GET /api/dashboard/learner, GET /api/bookings/my-bookings?role=learner</a:t>
            </a:r>
          </a:p>
          <a:p>
            <a:pPr>
              <a:spcAft>
                <a:spcPts val="200"/>
              </a:spcAft>
            </a:pPr>
            <a:r>
              <a:rPr sz="900" b="1">
                <a:solidFill>
                  <a:srgbClr val="1A202C"/>
                </a:solidFill>
                <a:latin typeface="Calibri"/>
              </a:rPr>
              <a:t>Client Component: </a:t>
            </a:r>
            <a:r>
              <a:rPr sz="850">
                <a:solidFill>
                  <a:srgbClr val="2D3748"/>
                </a:solidFill>
                <a:latin typeface="Calibri"/>
              </a:rPr>
              <a:t>LearnerDashboard.jsx, SessionCard.jsx, MetricStatsCard.jsx</a:t>
            </a:r>
          </a:p>
          <a:p>
            <a:pPr>
              <a:spcAft>
                <a:spcPts val="200"/>
              </a:spcAft>
            </a:pPr>
            <a:r>
              <a:rPr sz="900" b="1">
                <a:solidFill>
                  <a:srgbClr val="1A202C"/>
                </a:solidFill>
                <a:latin typeface="Calibri"/>
              </a:rPr>
              <a:t>Security Guard: </a:t>
            </a:r>
            <a:r>
              <a:rPr sz="850">
                <a:solidFill>
                  <a:srgbClr val="2D3748"/>
                </a:solidFill>
                <a:latin typeface="Calibri"/>
              </a:rPr>
              <a:t>Protected by roleMiddleware('learner') preventing unauthorized role access</a:t>
            </a:r>
          </a:p>
          <a:p>
            <a:pPr>
              <a:spcAft>
                <a:spcPts val="200"/>
              </a:spcAft>
            </a:pPr>
            <a:r>
              <a:rPr sz="900" b="1">
                <a:solidFill>
                  <a:srgbClr val="1A202C"/>
                </a:solidFill>
                <a:latin typeface="Calibri"/>
              </a:rPr>
              <a:t>Data Computation: </a:t>
            </a:r>
            <a:r>
              <a:rPr sz="850">
                <a:solidFill>
                  <a:srgbClr val="2D3748"/>
                </a:solidFill>
                <a:latin typeface="Calibri"/>
              </a:rPr>
              <a:t>Dynamically sums completed booking durations into total hours of live learning</a:t>
            </a:r>
          </a:p>
        </p:txBody>
      </p:sp>
      <p:sp>
        <p:nvSpPr>
          <p:cNvPr id="13" name="Rectangle 12"/>
          <p:cNvSpPr/>
          <p:nvPr/>
        </p:nvSpPr>
        <p:spPr>
          <a:xfrm>
            <a:off x="6080760" y="1325880"/>
            <a:ext cx="5376672" cy="4983480"/>
          </a:xfrm>
          <a:prstGeom prst="rect">
            <a:avLst/>
          </a:prstGeom>
          <a:solidFill>
            <a:srgbClr val="FFFFFF"/>
          </a:solidFill>
          <a:ln w="1905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05_learner_dashboard.png"/>
          <p:cNvPicPr>
            <a:picLocks noChangeAspect="1"/>
          </p:cNvPicPr>
          <p:nvPr/>
        </p:nvPicPr>
        <p:blipFill>
          <a:blip r:embed="rId2"/>
          <a:stretch>
            <a:fillRect/>
          </a:stretch>
        </p:blipFill>
        <p:spPr>
          <a:xfrm>
            <a:off x="6117336" y="1362456"/>
            <a:ext cx="5303520" cy="4910328"/>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BF9"/>
        </a:solidFill>
        <a:effectLst/>
      </p:bgPr>
    </p:bg>
    <p:spTree>
      <p:nvGrpSpPr>
        <p:cNvPr id="1" name=""/>
        <p:cNvGrpSpPr/>
        <p:nvPr/>
      </p:nvGrpSpPr>
      <p:grpSpPr/>
      <p:sp>
        <p:nvSpPr>
          <p:cNvPr id="2" name="TextBox 1"/>
          <p:cNvSpPr txBox="1"/>
          <p:nvPr/>
        </p:nvSpPr>
        <p:spPr>
          <a:xfrm>
            <a:off x="731520" y="365760"/>
            <a:ext cx="10698480" cy="256032"/>
          </a:xfrm>
          <a:prstGeom prst="rect">
            <a:avLst/>
          </a:prstGeom>
          <a:noFill/>
        </p:spPr>
        <p:txBody>
          <a:bodyPr wrap="square" lIns="0" tIns="0" rIns="0" bIns="0">
            <a:spAutoFit/>
          </a:bodyPr>
          <a:lstStyle/>
          <a:p>
            <a:pPr>
              <a:defRPr sz="950" b="1">
                <a:solidFill>
                  <a:srgbClr val="176B4E"/>
                </a:solidFill>
                <a:latin typeface="Calibri"/>
              </a:defRPr>
            </a:pPr>
            <a:r>
              <a:t>MODULE 11 OF 12: ROLE-BASED PORTALS</a:t>
            </a:r>
          </a:p>
        </p:txBody>
      </p:sp>
      <p:sp>
        <p:nvSpPr>
          <p:cNvPr id="3" name="TextBox 2"/>
          <p:cNvSpPr txBox="1"/>
          <p:nvPr/>
        </p:nvSpPr>
        <p:spPr>
          <a:xfrm>
            <a:off x="731520" y="603504"/>
            <a:ext cx="10698480" cy="457200"/>
          </a:xfrm>
          <a:prstGeom prst="rect">
            <a:avLst/>
          </a:prstGeom>
          <a:noFill/>
        </p:spPr>
        <p:txBody>
          <a:bodyPr wrap="square" lIns="0" tIns="0" rIns="0" bIns="0">
            <a:spAutoFit/>
          </a:bodyPr>
          <a:lstStyle/>
          <a:p>
            <a:pPr>
              <a:defRPr sz="2100" b="1">
                <a:solidFill>
                  <a:srgbClr val="1A202C"/>
                </a:solidFill>
                <a:latin typeface="Cambria"/>
              </a:defRPr>
            </a:pPr>
            <a:r>
              <a:t>Mentor Dashboard Module</a:t>
            </a:r>
          </a:p>
        </p:txBody>
      </p:sp>
      <p:sp>
        <p:nvSpPr>
          <p:cNvPr id="4" name="Rectangle 3"/>
          <p:cNvSpPr/>
          <p:nvPr/>
        </p:nvSpPr>
        <p:spPr>
          <a:xfrm>
            <a:off x="731520" y="11155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92240"/>
            <a:ext cx="7315200" cy="274320"/>
          </a:xfrm>
          <a:prstGeom prst="rect">
            <a:avLst/>
          </a:prstGeom>
          <a:noFill/>
        </p:spPr>
        <p:txBody>
          <a:bodyPr wrap="none" lIns="0" tIns="0" rIns="0" bIns="0">
            <a:spAutoFit/>
          </a:bodyPr>
          <a:lstStyle/>
          <a:p>
            <a:pPr>
              <a:defRPr sz="900">
                <a:solidFill>
                  <a:srgbClr val="5A6578"/>
                </a:solidFill>
                <a:latin typeface="Calibri"/>
              </a:defRPr>
            </a:pPr>
            <a:r>
              <a:t>Skill Exchange · B.Tech CSE Capstone Project (Team CosmicCoder · Group 13)</a:t>
            </a:r>
          </a:p>
        </p:txBody>
      </p:sp>
      <p:sp>
        <p:nvSpPr>
          <p:cNvPr id="6" name="TextBox 5"/>
          <p:cNvSpPr txBox="1"/>
          <p:nvPr/>
        </p:nvSpPr>
        <p:spPr>
          <a:xfrm>
            <a:off x="8686800" y="6492240"/>
            <a:ext cx="2743200" cy="274320"/>
          </a:xfrm>
          <a:prstGeom prst="rect">
            <a:avLst/>
          </a:prstGeom>
          <a:noFill/>
        </p:spPr>
        <p:txBody>
          <a:bodyPr wrap="none" lIns="0" tIns="0" rIns="0" bIns="0">
            <a:spAutoFit/>
          </a:bodyPr>
          <a:lstStyle/>
          <a:p>
            <a:pPr algn="r">
              <a:defRPr sz="900" b="1">
                <a:solidFill>
                  <a:srgbClr val="5A6578"/>
                </a:solidFill>
                <a:latin typeface="Calibri"/>
              </a:defRPr>
            </a:pPr>
            <a:r>
              <a:t>Slide 16 of 22</a:t>
            </a:r>
          </a:p>
        </p:txBody>
      </p:sp>
      <p:sp>
        <p:nvSpPr>
          <p:cNvPr id="7" name="Rectangle 6"/>
          <p:cNvSpPr/>
          <p:nvPr/>
        </p:nvSpPr>
        <p:spPr>
          <a:xfrm>
            <a:off x="731520" y="1325880"/>
            <a:ext cx="5120640" cy="1051560"/>
          </a:xfrm>
          <a:prstGeom prst="rect">
            <a:avLst/>
          </a:prstGeom>
          <a:solidFill>
            <a:srgbClr val="F4F8F5"/>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35608"/>
            <a:ext cx="4754880" cy="832104"/>
          </a:xfrm>
          <a:prstGeom prst="rect">
            <a:avLst/>
          </a:prstGeom>
          <a:noFill/>
        </p:spPr>
        <p:txBody>
          <a:bodyPr wrap="square">
            <a:spAutoFit/>
          </a:bodyPr>
          <a:lstStyle/>
          <a:p>
            <a:pPr>
              <a:spcAft>
                <a:spcPts val="300"/>
              </a:spcAft>
              <a:defRPr sz="1100" b="1">
                <a:solidFill>
                  <a:srgbClr val="176B4E"/>
                </a:solidFill>
                <a:latin typeface="Cambria"/>
              </a:defRPr>
            </a:pPr>
            <a:r>
              <a:t>Module Overview</a:t>
            </a:r>
          </a:p>
          <a:p>
            <a:pPr>
              <a:defRPr sz="950">
                <a:solidFill>
                  <a:srgbClr val="2D3748"/>
                </a:solidFill>
                <a:latin typeface="Calibri"/>
              </a:defRPr>
            </a:pPr>
            <a:r>
              <a:t>Equips student mentors with a comprehensive Teaching Studio to review incoming booking requests, monitor student reach, manage skill depth, and track earnings.</a:t>
            </a:r>
          </a:p>
        </p:txBody>
      </p:sp>
      <p:sp>
        <p:nvSpPr>
          <p:cNvPr id="9" name="Rectangle 8"/>
          <p:cNvSpPr/>
          <p:nvPr/>
        </p:nvSpPr>
        <p:spPr>
          <a:xfrm>
            <a:off x="731520" y="2514600"/>
            <a:ext cx="5120640" cy="2148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642616"/>
            <a:ext cx="4754880" cy="1892808"/>
          </a:xfrm>
          <a:prstGeom prst="rect">
            <a:avLst/>
          </a:prstGeom>
          <a:noFill/>
        </p:spPr>
        <p:txBody>
          <a:bodyPr wrap="square">
            <a:spAutoFit/>
          </a:bodyPr>
          <a:lstStyle/>
          <a:p>
            <a:pPr>
              <a:spcAft>
                <a:spcPts val="600"/>
              </a:spcAft>
              <a:defRPr sz="1100" b="1">
                <a:solidFill>
                  <a:srgbClr val="176B4E"/>
                </a:solidFill>
                <a:latin typeface="Cambria"/>
              </a:defRPr>
            </a:pPr>
            <a:r>
              <a:t>Key Functional Features</a:t>
            </a:r>
          </a:p>
          <a:p>
            <a:pPr>
              <a:spcAft>
                <a:spcPts val="400"/>
              </a:spcAft>
            </a:pPr>
            <a:r>
              <a:rPr sz="950" b="1">
                <a:solidFill>
                  <a:srgbClr val="1A202C"/>
                </a:solidFill>
                <a:latin typeface="Calibri"/>
              </a:rPr>
              <a:t>• Teaching Studio Metrics: </a:t>
            </a:r>
            <a:r>
              <a:rPr sz="900">
                <a:solidFill>
                  <a:srgbClr val="2D3748"/>
                </a:solidFill>
                <a:latin typeface="Calibri"/>
              </a:rPr>
              <a:t>Displays live statistics: Learners Taught, Sessions Completed, and Average Community Rating.</a:t>
            </a:r>
          </a:p>
          <a:p>
            <a:pPr>
              <a:spcAft>
                <a:spcPts val="400"/>
              </a:spcAft>
            </a:pPr>
            <a:r>
              <a:rPr sz="950" b="1">
                <a:solidFill>
                  <a:srgbClr val="1A202C"/>
                </a:solidFill>
                <a:latin typeface="Calibri"/>
              </a:rPr>
              <a:t>• Incoming Request Management: </a:t>
            </a:r>
            <a:r>
              <a:rPr sz="900">
                <a:solidFill>
                  <a:srgbClr val="2D3748"/>
                </a:solidFill>
                <a:latin typeface="Calibri"/>
              </a:rPr>
              <a:t>Features 1-click action buttons to Accept, Propose Alternate Times, or Decline pending sessions.</a:t>
            </a:r>
          </a:p>
          <a:p>
            <a:pPr>
              <a:spcAft>
                <a:spcPts val="400"/>
              </a:spcAft>
            </a:pPr>
            <a:r>
              <a:rPr sz="950" b="1">
                <a:solidFill>
                  <a:srgbClr val="1A202C"/>
                </a:solidFill>
                <a:latin typeface="Calibri"/>
              </a:rPr>
              <a:t>• Visual Skill Depth Meters: </a:t>
            </a:r>
            <a:r>
              <a:rPr sz="900">
                <a:solidFill>
                  <a:srgbClr val="2D3748"/>
                </a:solidFill>
                <a:latin typeface="Calibri"/>
              </a:rPr>
              <a:t>Visualizes mentor proficiency levels (Beginner to Expert) across their listed technical subjects.</a:t>
            </a:r>
          </a:p>
          <a:p>
            <a:pPr>
              <a:spcAft>
                <a:spcPts val="400"/>
              </a:spcAft>
            </a:pPr>
            <a:r>
              <a:rPr sz="950" b="1">
                <a:solidFill>
                  <a:srgbClr val="1A202C"/>
                </a:solidFill>
                <a:latin typeface="Calibri"/>
              </a:rPr>
              <a:t>• Earnings &amp; Payouts Tab: </a:t>
            </a:r>
            <a:r>
              <a:rPr sz="900">
                <a:solidFill>
                  <a:srgbClr val="2D3748"/>
                </a:solidFill>
                <a:latin typeface="Calibri"/>
              </a:rPr>
              <a:t>Displays lifetime revenue, settled earnings, and allows mentors to configure their payout UPI ID.</a:t>
            </a:r>
          </a:p>
        </p:txBody>
      </p:sp>
      <p:sp>
        <p:nvSpPr>
          <p:cNvPr id="11" name="Rectangle 10"/>
          <p:cNvSpPr/>
          <p:nvPr/>
        </p:nvSpPr>
        <p:spPr>
          <a:xfrm>
            <a:off x="731520" y="4800600"/>
            <a:ext cx="5120640" cy="1508760"/>
          </a:xfrm>
          <a:prstGeom prst="rect">
            <a:avLst/>
          </a:prstGeom>
          <a:solidFill>
            <a:srgbClr val="F8FBF9"/>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910328"/>
            <a:ext cx="4754880" cy="1289304"/>
          </a:xfrm>
          <a:prstGeom prst="rect">
            <a:avLst/>
          </a:prstGeom>
          <a:noFill/>
        </p:spPr>
        <p:txBody>
          <a:bodyPr wrap="square">
            <a:spAutoFit/>
          </a:bodyPr>
          <a:lstStyle/>
          <a:p>
            <a:pPr>
              <a:spcAft>
                <a:spcPts val="400"/>
              </a:spcAft>
              <a:defRPr sz="1100" b="1">
                <a:solidFill>
                  <a:srgbClr val="176B4E"/>
                </a:solidFill>
                <a:latin typeface="Cambria"/>
              </a:defRPr>
            </a:pPr>
            <a:r>
              <a:t>Technical Specifications &amp; APIs</a:t>
            </a:r>
          </a:p>
          <a:p>
            <a:pPr>
              <a:spcAft>
                <a:spcPts val="200"/>
              </a:spcAft>
            </a:pPr>
            <a:r>
              <a:rPr sz="900" b="1">
                <a:solidFill>
                  <a:srgbClr val="1A202C"/>
                </a:solidFill>
                <a:latin typeface="Calibri"/>
              </a:rPr>
              <a:t>Core Endpoints: </a:t>
            </a:r>
            <a:r>
              <a:rPr sz="850">
                <a:solidFill>
                  <a:srgbClr val="2D3748"/>
                </a:solidFill>
                <a:latin typeface="Calibri"/>
              </a:rPr>
              <a:t>GET /api/dashboard/mentor, GET /api/bookings/my-bookings?role=mentor, POST /api/payout-upi</a:t>
            </a:r>
          </a:p>
          <a:p>
            <a:pPr>
              <a:spcAft>
                <a:spcPts val="200"/>
              </a:spcAft>
            </a:pPr>
            <a:r>
              <a:rPr sz="900" b="1">
                <a:solidFill>
                  <a:srgbClr val="1A202C"/>
                </a:solidFill>
                <a:latin typeface="Calibri"/>
              </a:rPr>
              <a:t>Client Component: </a:t>
            </a:r>
            <a:r>
              <a:rPr sz="850">
                <a:solidFill>
                  <a:srgbClr val="2D3748"/>
                </a:solidFill>
                <a:latin typeface="Calibri"/>
              </a:rPr>
              <a:t>MentorDashboard.jsx, SessionRequestCard.jsx, EarningsOverview.jsx</a:t>
            </a:r>
          </a:p>
          <a:p>
            <a:pPr>
              <a:spcAft>
                <a:spcPts val="200"/>
              </a:spcAft>
            </a:pPr>
            <a:r>
              <a:rPr sz="900" b="1">
                <a:solidFill>
                  <a:srgbClr val="1A202C"/>
                </a:solidFill>
                <a:latin typeface="Calibri"/>
              </a:rPr>
              <a:t>Security Guard: </a:t>
            </a:r>
            <a:r>
              <a:rPr sz="850">
                <a:solidFill>
                  <a:srgbClr val="2D3748"/>
                </a:solidFill>
                <a:latin typeface="Calibri"/>
              </a:rPr>
              <a:t>Protected by roleMiddleware('mentor') ensuring strict role isolation</a:t>
            </a:r>
          </a:p>
          <a:p>
            <a:pPr>
              <a:spcAft>
                <a:spcPts val="200"/>
              </a:spcAft>
            </a:pPr>
            <a:r>
              <a:rPr sz="900" b="1">
                <a:solidFill>
                  <a:srgbClr val="1A202C"/>
                </a:solidFill>
                <a:latin typeface="Calibri"/>
              </a:rPr>
              <a:t>Financial Aggregation: </a:t>
            </a:r>
            <a:r>
              <a:rPr sz="850">
                <a:solidFill>
                  <a:srgbClr val="2D3748"/>
                </a:solidFill>
                <a:latin typeface="Calibri"/>
              </a:rPr>
              <a:t>Queries completed paid bookings to compute lifetime revenue and pending settlement balances</a:t>
            </a:r>
          </a:p>
        </p:txBody>
      </p:sp>
      <p:sp>
        <p:nvSpPr>
          <p:cNvPr id="13" name="Rectangle 12"/>
          <p:cNvSpPr/>
          <p:nvPr/>
        </p:nvSpPr>
        <p:spPr>
          <a:xfrm>
            <a:off x="6080760" y="1325880"/>
            <a:ext cx="5376672" cy="4983480"/>
          </a:xfrm>
          <a:prstGeom prst="rect">
            <a:avLst/>
          </a:prstGeom>
          <a:solidFill>
            <a:srgbClr val="FFFFFF"/>
          </a:solidFill>
          <a:ln w="1905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06_mentor_dashboard.png"/>
          <p:cNvPicPr>
            <a:picLocks noChangeAspect="1"/>
          </p:cNvPicPr>
          <p:nvPr/>
        </p:nvPicPr>
        <p:blipFill>
          <a:blip r:embed="rId2"/>
          <a:stretch>
            <a:fillRect/>
          </a:stretch>
        </p:blipFill>
        <p:spPr>
          <a:xfrm>
            <a:off x="6117336" y="1362456"/>
            <a:ext cx="5303520" cy="4910328"/>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BF9"/>
        </a:solidFill>
        <a:effectLst/>
      </p:bgPr>
    </p:bg>
    <p:spTree>
      <p:nvGrpSpPr>
        <p:cNvPr id="1" name=""/>
        <p:cNvGrpSpPr/>
        <p:nvPr/>
      </p:nvGrpSpPr>
      <p:grpSpPr/>
      <p:sp>
        <p:nvSpPr>
          <p:cNvPr id="2" name="TextBox 1"/>
          <p:cNvSpPr txBox="1"/>
          <p:nvPr/>
        </p:nvSpPr>
        <p:spPr>
          <a:xfrm>
            <a:off x="731520" y="365760"/>
            <a:ext cx="10698480" cy="256032"/>
          </a:xfrm>
          <a:prstGeom prst="rect">
            <a:avLst/>
          </a:prstGeom>
          <a:noFill/>
        </p:spPr>
        <p:txBody>
          <a:bodyPr wrap="square" lIns="0" tIns="0" rIns="0" bIns="0">
            <a:spAutoFit/>
          </a:bodyPr>
          <a:lstStyle/>
          <a:p>
            <a:pPr>
              <a:defRPr sz="950" b="1">
                <a:solidFill>
                  <a:srgbClr val="176B4E"/>
                </a:solidFill>
                <a:latin typeface="Calibri"/>
              </a:defRPr>
            </a:pPr>
            <a:r>
              <a:t>MODULE 12 OF 12: SYSTEM ADMINISTRATION</a:t>
            </a:r>
          </a:p>
        </p:txBody>
      </p:sp>
      <p:sp>
        <p:nvSpPr>
          <p:cNvPr id="3" name="TextBox 2"/>
          <p:cNvSpPr txBox="1"/>
          <p:nvPr/>
        </p:nvSpPr>
        <p:spPr>
          <a:xfrm>
            <a:off x="731520" y="603504"/>
            <a:ext cx="10698480" cy="457200"/>
          </a:xfrm>
          <a:prstGeom prst="rect">
            <a:avLst/>
          </a:prstGeom>
          <a:noFill/>
        </p:spPr>
        <p:txBody>
          <a:bodyPr wrap="square" lIns="0" tIns="0" rIns="0" bIns="0">
            <a:spAutoFit/>
          </a:bodyPr>
          <a:lstStyle/>
          <a:p>
            <a:pPr>
              <a:defRPr sz="2100" b="1">
                <a:solidFill>
                  <a:srgbClr val="1A202C"/>
                </a:solidFill>
                <a:latin typeface="Cambria"/>
              </a:defRPr>
            </a:pPr>
            <a:r>
              <a:t>Admin &amp; Financial Management Module</a:t>
            </a:r>
          </a:p>
        </p:txBody>
      </p:sp>
      <p:sp>
        <p:nvSpPr>
          <p:cNvPr id="4" name="Rectangle 3"/>
          <p:cNvSpPr/>
          <p:nvPr/>
        </p:nvSpPr>
        <p:spPr>
          <a:xfrm>
            <a:off x="731520" y="11155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92240"/>
            <a:ext cx="7315200" cy="274320"/>
          </a:xfrm>
          <a:prstGeom prst="rect">
            <a:avLst/>
          </a:prstGeom>
          <a:noFill/>
        </p:spPr>
        <p:txBody>
          <a:bodyPr wrap="none" lIns="0" tIns="0" rIns="0" bIns="0">
            <a:spAutoFit/>
          </a:bodyPr>
          <a:lstStyle/>
          <a:p>
            <a:pPr>
              <a:defRPr sz="900">
                <a:solidFill>
                  <a:srgbClr val="5A6578"/>
                </a:solidFill>
                <a:latin typeface="Calibri"/>
              </a:defRPr>
            </a:pPr>
            <a:r>
              <a:t>Skill Exchange · B.Tech CSE Capstone Project (Team CosmicCoder · Group 13)</a:t>
            </a:r>
          </a:p>
        </p:txBody>
      </p:sp>
      <p:sp>
        <p:nvSpPr>
          <p:cNvPr id="6" name="TextBox 5"/>
          <p:cNvSpPr txBox="1"/>
          <p:nvPr/>
        </p:nvSpPr>
        <p:spPr>
          <a:xfrm>
            <a:off x="8686800" y="6492240"/>
            <a:ext cx="2743200" cy="274320"/>
          </a:xfrm>
          <a:prstGeom prst="rect">
            <a:avLst/>
          </a:prstGeom>
          <a:noFill/>
        </p:spPr>
        <p:txBody>
          <a:bodyPr wrap="none" lIns="0" tIns="0" rIns="0" bIns="0">
            <a:spAutoFit/>
          </a:bodyPr>
          <a:lstStyle/>
          <a:p>
            <a:pPr algn="r">
              <a:defRPr sz="900" b="1">
                <a:solidFill>
                  <a:srgbClr val="5A6578"/>
                </a:solidFill>
                <a:latin typeface="Calibri"/>
              </a:defRPr>
            </a:pPr>
            <a:r>
              <a:t>Slide 17 of 22</a:t>
            </a:r>
          </a:p>
        </p:txBody>
      </p:sp>
      <p:sp>
        <p:nvSpPr>
          <p:cNvPr id="7" name="Rectangle 6"/>
          <p:cNvSpPr/>
          <p:nvPr/>
        </p:nvSpPr>
        <p:spPr>
          <a:xfrm>
            <a:off x="731520" y="1325880"/>
            <a:ext cx="5120640" cy="1051560"/>
          </a:xfrm>
          <a:prstGeom prst="rect">
            <a:avLst/>
          </a:prstGeom>
          <a:solidFill>
            <a:srgbClr val="F4F8F5"/>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35608"/>
            <a:ext cx="4754880" cy="832104"/>
          </a:xfrm>
          <a:prstGeom prst="rect">
            <a:avLst/>
          </a:prstGeom>
          <a:noFill/>
        </p:spPr>
        <p:txBody>
          <a:bodyPr wrap="square">
            <a:spAutoFit/>
          </a:bodyPr>
          <a:lstStyle/>
          <a:p>
            <a:pPr>
              <a:spcAft>
                <a:spcPts val="300"/>
              </a:spcAft>
              <a:defRPr sz="1100" b="1">
                <a:solidFill>
                  <a:srgbClr val="176B4E"/>
                </a:solidFill>
                <a:latin typeface="Cambria"/>
              </a:defRPr>
            </a:pPr>
            <a:r>
              <a:t>Module Overview</a:t>
            </a:r>
          </a:p>
          <a:p>
            <a:pPr>
              <a:defRPr sz="950">
                <a:solidFill>
                  <a:srgbClr val="2D3748"/>
                </a:solidFill>
                <a:latin typeface="Calibri"/>
              </a:defRPr>
            </a:pPr>
            <a:r>
              <a:t>Provides platform administrators with a centralized control console to audit system health, verify member credentials, moderate accounts, and export reports.</a:t>
            </a:r>
          </a:p>
        </p:txBody>
      </p:sp>
      <p:sp>
        <p:nvSpPr>
          <p:cNvPr id="9" name="Rectangle 8"/>
          <p:cNvSpPr/>
          <p:nvPr/>
        </p:nvSpPr>
        <p:spPr>
          <a:xfrm>
            <a:off x="731520" y="2514600"/>
            <a:ext cx="5120640" cy="2148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642616"/>
            <a:ext cx="4754880" cy="1892808"/>
          </a:xfrm>
          <a:prstGeom prst="rect">
            <a:avLst/>
          </a:prstGeom>
          <a:noFill/>
        </p:spPr>
        <p:txBody>
          <a:bodyPr wrap="square">
            <a:spAutoFit/>
          </a:bodyPr>
          <a:lstStyle/>
          <a:p>
            <a:pPr>
              <a:spcAft>
                <a:spcPts val="600"/>
              </a:spcAft>
              <a:defRPr sz="1100" b="1">
                <a:solidFill>
                  <a:srgbClr val="176B4E"/>
                </a:solidFill>
                <a:latin typeface="Cambria"/>
              </a:defRPr>
            </a:pPr>
            <a:r>
              <a:t>Key Functional Features</a:t>
            </a:r>
          </a:p>
          <a:p>
            <a:pPr>
              <a:spcAft>
                <a:spcPts val="400"/>
              </a:spcAft>
            </a:pPr>
            <a:r>
              <a:rPr sz="950" b="1">
                <a:solidFill>
                  <a:srgbClr val="1A202C"/>
                </a:solidFill>
                <a:latin typeface="Calibri"/>
              </a:rPr>
              <a:t>• Platform Health KPIs: </a:t>
            </a:r>
            <a:r>
              <a:rPr sz="900">
                <a:solidFill>
                  <a:srgbClr val="2D3748"/>
                </a:solidFill>
                <a:latin typeface="Calibri"/>
              </a:rPr>
              <a:t>Live tracking of total registered members (14), active mentors (8), learners (5), and sessions (29).</a:t>
            </a:r>
          </a:p>
          <a:p>
            <a:pPr>
              <a:spcAft>
                <a:spcPts val="400"/>
              </a:spcAft>
            </a:pPr>
            <a:r>
              <a:rPr sz="950" b="1">
                <a:solidFill>
                  <a:srgbClr val="1A202C"/>
                </a:solidFill>
                <a:latin typeface="Calibri"/>
              </a:rPr>
              <a:t>• Community Member Management: </a:t>
            </a:r>
            <a:r>
              <a:rPr sz="900">
                <a:solidFill>
                  <a:srgbClr val="2D3748"/>
                </a:solidFill>
                <a:latin typeface="Calibri"/>
              </a:rPr>
              <a:t>Audit table allowing administrators to inspect profiles, verify student identities, or suspend bad actors.</a:t>
            </a:r>
          </a:p>
          <a:p>
            <a:pPr>
              <a:spcAft>
                <a:spcPts val="400"/>
              </a:spcAft>
            </a:pPr>
            <a:r>
              <a:rPr sz="950" b="1">
                <a:solidFill>
                  <a:srgbClr val="1A202C"/>
                </a:solidFill>
                <a:latin typeface="Calibri"/>
              </a:rPr>
              <a:t>• Financial Administration: </a:t>
            </a:r>
            <a:r>
              <a:rPr sz="900">
                <a:solidFill>
                  <a:srgbClr val="2D3748"/>
                </a:solidFill>
                <a:latin typeface="Calibri"/>
              </a:rPr>
              <a:t>Monitors total booking volume, payment statuses, and tracks settlement requests.</a:t>
            </a:r>
          </a:p>
          <a:p>
            <a:pPr>
              <a:spcAft>
                <a:spcPts val="400"/>
              </a:spcAft>
            </a:pPr>
            <a:r>
              <a:rPr sz="950" b="1">
                <a:solidFill>
                  <a:srgbClr val="1A202C"/>
                </a:solidFill>
                <a:latin typeface="Calibri"/>
              </a:rPr>
              <a:t>• Downloadable CSV Ledgers: </a:t>
            </a:r>
            <a:r>
              <a:rPr sz="900">
                <a:solidFill>
                  <a:srgbClr val="2D3748"/>
                </a:solidFill>
                <a:latin typeface="Calibri"/>
              </a:rPr>
              <a:t>Generates and exports platform data as structured CSV files for offline academic auditing.</a:t>
            </a:r>
          </a:p>
          <a:p>
            <a:pPr>
              <a:spcAft>
                <a:spcPts val="400"/>
              </a:spcAft>
            </a:pPr>
            <a:r>
              <a:rPr sz="950" b="1">
                <a:solidFill>
                  <a:srgbClr val="1A202C"/>
                </a:solidFill>
                <a:latin typeface="Calibri"/>
              </a:rPr>
              <a:t>• Isolated Dark Workspace: </a:t>
            </a:r>
            <a:r>
              <a:rPr sz="900">
                <a:solidFill>
                  <a:srgbClr val="2D3748"/>
                </a:solidFill>
                <a:latin typeface="Calibri"/>
              </a:rPr>
              <a:t>Scoped styling rules ensuring high-contrast data visualization during extensive system audits.</a:t>
            </a:r>
          </a:p>
        </p:txBody>
      </p:sp>
      <p:sp>
        <p:nvSpPr>
          <p:cNvPr id="11" name="Rectangle 10"/>
          <p:cNvSpPr/>
          <p:nvPr/>
        </p:nvSpPr>
        <p:spPr>
          <a:xfrm>
            <a:off x="731520" y="4800600"/>
            <a:ext cx="5120640" cy="1508760"/>
          </a:xfrm>
          <a:prstGeom prst="rect">
            <a:avLst/>
          </a:prstGeom>
          <a:solidFill>
            <a:srgbClr val="F8FBF9"/>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910328"/>
            <a:ext cx="4754880" cy="1289304"/>
          </a:xfrm>
          <a:prstGeom prst="rect">
            <a:avLst/>
          </a:prstGeom>
          <a:noFill/>
        </p:spPr>
        <p:txBody>
          <a:bodyPr wrap="square">
            <a:spAutoFit/>
          </a:bodyPr>
          <a:lstStyle/>
          <a:p>
            <a:pPr>
              <a:spcAft>
                <a:spcPts val="400"/>
              </a:spcAft>
              <a:defRPr sz="1100" b="1">
                <a:solidFill>
                  <a:srgbClr val="176B4E"/>
                </a:solidFill>
                <a:latin typeface="Cambria"/>
              </a:defRPr>
            </a:pPr>
            <a:r>
              <a:t>Technical Specifications &amp; APIs</a:t>
            </a:r>
          </a:p>
          <a:p>
            <a:pPr>
              <a:spcAft>
                <a:spcPts val="200"/>
              </a:spcAft>
            </a:pPr>
            <a:r>
              <a:rPr sz="900" b="1">
                <a:solidFill>
                  <a:srgbClr val="1A202C"/>
                </a:solidFill>
                <a:latin typeface="Calibri"/>
              </a:rPr>
              <a:t>Core Endpoints: </a:t>
            </a:r>
            <a:r>
              <a:rPr sz="850">
                <a:solidFill>
                  <a:srgbClr val="2D3748"/>
                </a:solidFill>
                <a:latin typeface="Calibri"/>
              </a:rPr>
              <a:t>GET /api/admin/stats, GET /api/admin/users, PUT /api/admin/users/:id/status, GET /api/admin/export/csv</a:t>
            </a:r>
          </a:p>
          <a:p>
            <a:pPr>
              <a:spcAft>
                <a:spcPts val="200"/>
              </a:spcAft>
            </a:pPr>
            <a:r>
              <a:rPr sz="900" b="1">
                <a:solidFill>
                  <a:srgbClr val="1A202C"/>
                </a:solidFill>
                <a:latin typeface="Calibri"/>
              </a:rPr>
              <a:t>Client Component: </a:t>
            </a:r>
            <a:r>
              <a:rPr sz="850">
                <a:solidFill>
                  <a:srgbClr val="2D3748"/>
                </a:solidFill>
                <a:latin typeface="Calibri"/>
              </a:rPr>
              <a:t>AdminPage.jsx, AdminUserTable.jsx, AdminPayments.jsx, AdminOverviewCards.jsx</a:t>
            </a:r>
          </a:p>
          <a:p>
            <a:pPr>
              <a:spcAft>
                <a:spcPts val="200"/>
              </a:spcAft>
            </a:pPr>
            <a:r>
              <a:rPr sz="900" b="1">
                <a:solidFill>
                  <a:srgbClr val="1A202C"/>
                </a:solidFill>
                <a:latin typeface="Calibri"/>
              </a:rPr>
              <a:t>Security Guard: </a:t>
            </a:r>
            <a:r>
              <a:rPr sz="850">
                <a:solidFill>
                  <a:srgbClr val="2D3748"/>
                </a:solidFill>
                <a:latin typeface="Calibri"/>
              </a:rPr>
              <a:t>Enforces requireAdmin middleware validating role === 'admin' on every transaction</a:t>
            </a:r>
          </a:p>
          <a:p>
            <a:pPr>
              <a:spcAft>
                <a:spcPts val="200"/>
              </a:spcAft>
            </a:pPr>
            <a:r>
              <a:rPr sz="900" b="1">
                <a:solidFill>
                  <a:srgbClr val="1A202C"/>
                </a:solidFill>
                <a:latin typeface="Calibri"/>
              </a:rPr>
              <a:t>Audit Logging: </a:t>
            </a:r>
            <a:r>
              <a:rPr sz="850">
                <a:solidFill>
                  <a:srgbClr val="2D3748"/>
                </a:solidFill>
                <a:latin typeface="Calibri"/>
              </a:rPr>
              <a:t>Integrates with ActivityLog collection to record all administrative moderation actions</a:t>
            </a:r>
          </a:p>
        </p:txBody>
      </p:sp>
      <p:sp>
        <p:nvSpPr>
          <p:cNvPr id="13" name="Rectangle 12"/>
          <p:cNvSpPr/>
          <p:nvPr/>
        </p:nvSpPr>
        <p:spPr>
          <a:xfrm>
            <a:off x="6080760" y="1325880"/>
            <a:ext cx="5376672" cy="4983480"/>
          </a:xfrm>
          <a:prstGeom prst="rect">
            <a:avLst/>
          </a:prstGeom>
          <a:solidFill>
            <a:srgbClr val="FFFFFF"/>
          </a:solidFill>
          <a:ln w="1905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10_admin_dashboard.png"/>
          <p:cNvPicPr>
            <a:picLocks noChangeAspect="1"/>
          </p:cNvPicPr>
          <p:nvPr/>
        </p:nvPicPr>
        <p:blipFill>
          <a:blip r:embed="rId2"/>
          <a:stretch>
            <a:fillRect/>
          </a:stretch>
        </p:blipFill>
        <p:spPr>
          <a:xfrm>
            <a:off x="6117336" y="1362456"/>
            <a:ext cx="5303520" cy="4910328"/>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BF9"/>
        </a:solidFill>
        <a:effectLst/>
      </p:bgPr>
    </p:bg>
    <p:spTree>
      <p:nvGrpSpPr>
        <p:cNvPr id="1" name=""/>
        <p:cNvGrpSpPr/>
        <p:nvPr/>
      </p:nvGrpSpPr>
      <p:grpSpPr/>
      <p:sp>
        <p:nvSpPr>
          <p:cNvPr id="2" name="TextBox 1"/>
          <p:cNvSpPr txBox="1"/>
          <p:nvPr/>
        </p:nvSpPr>
        <p:spPr>
          <a:xfrm>
            <a:off x="731520" y="365760"/>
            <a:ext cx="10698480" cy="256032"/>
          </a:xfrm>
          <a:prstGeom prst="rect">
            <a:avLst/>
          </a:prstGeom>
          <a:noFill/>
        </p:spPr>
        <p:txBody>
          <a:bodyPr wrap="square" lIns="0" tIns="0" rIns="0" bIns="0">
            <a:spAutoFit/>
          </a:bodyPr>
          <a:lstStyle/>
          <a:p>
            <a:pPr>
              <a:defRPr sz="950" b="1">
                <a:solidFill>
                  <a:srgbClr val="176B4E"/>
                </a:solidFill>
                <a:latin typeface="Calibri"/>
              </a:defRPr>
            </a:pPr>
            <a:r>
              <a:t>DATABASE ARCHITECTURE</a:t>
            </a:r>
          </a:p>
        </p:txBody>
      </p:sp>
      <p:sp>
        <p:nvSpPr>
          <p:cNvPr id="3" name="TextBox 2"/>
          <p:cNvSpPr txBox="1"/>
          <p:nvPr/>
        </p:nvSpPr>
        <p:spPr>
          <a:xfrm>
            <a:off x="731520" y="603504"/>
            <a:ext cx="10698480" cy="457200"/>
          </a:xfrm>
          <a:prstGeom prst="rect">
            <a:avLst/>
          </a:prstGeom>
          <a:noFill/>
        </p:spPr>
        <p:txBody>
          <a:bodyPr wrap="square" lIns="0" tIns="0" rIns="0" bIns="0">
            <a:spAutoFit/>
          </a:bodyPr>
          <a:lstStyle/>
          <a:p>
            <a:pPr>
              <a:defRPr sz="2100" b="1">
                <a:solidFill>
                  <a:srgbClr val="1A202C"/>
                </a:solidFill>
                <a:latin typeface="Cambria"/>
              </a:defRPr>
            </a:pPr>
            <a:r>
              <a:t>Database Design: 8 Primary Collections &amp; Schemas</a:t>
            </a:r>
          </a:p>
        </p:txBody>
      </p:sp>
      <p:sp>
        <p:nvSpPr>
          <p:cNvPr id="4" name="Rectangle 3"/>
          <p:cNvSpPr/>
          <p:nvPr/>
        </p:nvSpPr>
        <p:spPr>
          <a:xfrm>
            <a:off x="731520" y="11155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92240"/>
            <a:ext cx="7315200" cy="274320"/>
          </a:xfrm>
          <a:prstGeom prst="rect">
            <a:avLst/>
          </a:prstGeom>
          <a:noFill/>
        </p:spPr>
        <p:txBody>
          <a:bodyPr wrap="none" lIns="0" tIns="0" rIns="0" bIns="0">
            <a:spAutoFit/>
          </a:bodyPr>
          <a:lstStyle/>
          <a:p>
            <a:pPr>
              <a:defRPr sz="900">
                <a:solidFill>
                  <a:srgbClr val="5A6578"/>
                </a:solidFill>
                <a:latin typeface="Calibri"/>
              </a:defRPr>
            </a:pPr>
            <a:r>
              <a:t>Skill Exchange · B.Tech CSE Capstone Project (Team CosmicCoder · Group 13)</a:t>
            </a:r>
          </a:p>
        </p:txBody>
      </p:sp>
      <p:sp>
        <p:nvSpPr>
          <p:cNvPr id="6" name="TextBox 5"/>
          <p:cNvSpPr txBox="1"/>
          <p:nvPr/>
        </p:nvSpPr>
        <p:spPr>
          <a:xfrm>
            <a:off x="8686800" y="6492240"/>
            <a:ext cx="2743200" cy="274320"/>
          </a:xfrm>
          <a:prstGeom prst="rect">
            <a:avLst/>
          </a:prstGeom>
          <a:noFill/>
        </p:spPr>
        <p:txBody>
          <a:bodyPr wrap="none" lIns="0" tIns="0" rIns="0" bIns="0">
            <a:spAutoFit/>
          </a:bodyPr>
          <a:lstStyle/>
          <a:p>
            <a:pPr algn="r">
              <a:defRPr sz="900" b="1">
                <a:solidFill>
                  <a:srgbClr val="5A6578"/>
                </a:solidFill>
                <a:latin typeface="Calibri"/>
              </a:defRPr>
            </a:pPr>
            <a:r>
              <a:t>Slide 18 of 22</a:t>
            </a:r>
          </a:p>
        </p:txBody>
      </p:sp>
      <p:sp>
        <p:nvSpPr>
          <p:cNvPr id="7" name="Rectangle 6"/>
          <p:cNvSpPr/>
          <p:nvPr/>
        </p:nvSpPr>
        <p:spPr>
          <a:xfrm>
            <a:off x="731520" y="1325880"/>
            <a:ext cx="5175504" cy="24231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63040"/>
            <a:ext cx="4809744" cy="2148840"/>
          </a:xfrm>
          <a:prstGeom prst="rect">
            <a:avLst/>
          </a:prstGeom>
          <a:noFill/>
        </p:spPr>
        <p:txBody>
          <a:bodyPr wrap="square">
            <a:spAutoFit/>
          </a:bodyPr>
          <a:lstStyle/>
          <a:p>
            <a:pPr>
              <a:spcAft>
                <a:spcPts val="200"/>
              </a:spcAft>
              <a:defRPr sz="1200" b="1">
                <a:solidFill>
                  <a:srgbClr val="176B4E"/>
                </a:solidFill>
                <a:latin typeface="Cambria"/>
              </a:defRPr>
            </a:pPr>
            <a:r>
              <a:t>Users Collection (Mongoose Model)</a:t>
            </a:r>
          </a:p>
          <a:p>
            <a:pPr>
              <a:spcAft>
                <a:spcPts val="600"/>
              </a:spcAft>
              <a:defRPr sz="900">
                <a:solidFill>
                  <a:srgbClr val="5A6578"/>
                </a:solidFill>
                <a:latin typeface="Calibri"/>
              </a:defRPr>
            </a:pPr>
            <a:r>
              <a:t>Account, Authentication &amp; Profiles</a:t>
            </a:r>
          </a:p>
          <a:p>
            <a:pPr>
              <a:spcAft>
                <a:spcPts val="250"/>
              </a:spcAft>
              <a:defRPr sz="850">
                <a:solidFill>
                  <a:srgbClr val="2D3748"/>
                </a:solidFill>
                <a:latin typeface="Consolas"/>
              </a:defRPr>
            </a:pPr>
            <a:r>
              <a:t>• name (String), email (String, unique, indexed)</a:t>
            </a:r>
          </a:p>
          <a:p>
            <a:pPr>
              <a:spcAft>
                <a:spcPts val="250"/>
              </a:spcAft>
              <a:defRPr sz="850">
                <a:solidFill>
                  <a:srgbClr val="2D3748"/>
                </a:solidFill>
                <a:latin typeface="Consolas"/>
              </a:defRPr>
            </a:pPr>
            <a:r>
              <a:t>• password (String, 10-round bcrypt hash)</a:t>
            </a:r>
          </a:p>
          <a:p>
            <a:pPr>
              <a:spcAft>
                <a:spcPts val="250"/>
              </a:spcAft>
              <a:defRPr sz="850">
                <a:solidFill>
                  <a:srgbClr val="2D3748"/>
                </a:solidFill>
                <a:latin typeface="Consolas"/>
              </a:defRPr>
            </a:pPr>
            <a:r>
              <a:t>• role (Enum: 'learner' | 'mentor' | 'admin')</a:t>
            </a:r>
          </a:p>
          <a:p>
            <a:pPr>
              <a:spcAft>
                <a:spcPts val="250"/>
              </a:spcAft>
              <a:defRPr sz="850">
                <a:solidFill>
                  <a:srgbClr val="2D3748"/>
                </a:solidFill>
                <a:latin typeface="Consolas"/>
              </a:defRPr>
            </a:pPr>
            <a:r>
              <a:t>• skillsToTeach ([String]), skillsToLearn ([String])</a:t>
            </a:r>
          </a:p>
          <a:p>
            <a:pPr>
              <a:spcAft>
                <a:spcPts val="250"/>
              </a:spcAft>
              <a:defRPr sz="850">
                <a:solidFill>
                  <a:srgbClr val="2D3748"/>
                </a:solidFill>
                <a:latin typeface="Consolas"/>
              </a:defRPr>
            </a:pPr>
            <a:r>
              <a:t>• teachingSkillLevels (Map of skill -&gt; level)</a:t>
            </a:r>
          </a:p>
          <a:p>
            <a:pPr>
              <a:spcAft>
                <a:spcPts val="250"/>
              </a:spcAft>
              <a:defRPr sz="850">
                <a:solidFill>
                  <a:srgbClr val="2D3748"/>
                </a:solidFill>
                <a:latin typeface="Consolas"/>
              </a:defRPr>
            </a:pPr>
            <a:r>
              <a:t>• hourlyRate (Number), availability ([String])</a:t>
            </a:r>
          </a:p>
          <a:p>
            <a:pPr>
              <a:spcAft>
                <a:spcPts val="250"/>
              </a:spcAft>
              <a:defRPr sz="850">
                <a:solidFill>
                  <a:srgbClr val="2D3748"/>
                </a:solidFill>
                <a:latin typeface="Consolas"/>
              </a:defRPr>
            </a:pPr>
            <a:r>
              <a:t>• payoutUpiId (String), profileCompleted (Boolean), isActive (Boolean)</a:t>
            </a:r>
          </a:p>
        </p:txBody>
      </p:sp>
      <p:sp>
        <p:nvSpPr>
          <p:cNvPr id="9" name="Rectangle 8"/>
          <p:cNvSpPr/>
          <p:nvPr/>
        </p:nvSpPr>
        <p:spPr>
          <a:xfrm>
            <a:off x="6281928" y="1325880"/>
            <a:ext cx="5175504" cy="24231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64808" y="1463040"/>
            <a:ext cx="4809744" cy="2148840"/>
          </a:xfrm>
          <a:prstGeom prst="rect">
            <a:avLst/>
          </a:prstGeom>
          <a:noFill/>
        </p:spPr>
        <p:txBody>
          <a:bodyPr wrap="square">
            <a:spAutoFit/>
          </a:bodyPr>
          <a:lstStyle/>
          <a:p>
            <a:pPr>
              <a:spcAft>
                <a:spcPts val="200"/>
              </a:spcAft>
              <a:defRPr sz="1200" b="1">
                <a:solidFill>
                  <a:srgbClr val="176B4E"/>
                </a:solidFill>
                <a:latin typeface="Cambria"/>
              </a:defRPr>
            </a:pPr>
            <a:r>
              <a:t>Bookings Collection (State Machine)</a:t>
            </a:r>
          </a:p>
          <a:p>
            <a:pPr>
              <a:spcAft>
                <a:spcPts val="600"/>
              </a:spcAft>
              <a:defRPr sz="900">
                <a:solidFill>
                  <a:srgbClr val="5A6578"/>
                </a:solidFill>
                <a:latin typeface="Calibri"/>
              </a:defRPr>
            </a:pPr>
            <a:r>
              <a:t>Session Lifecycle &amp; Scheduling</a:t>
            </a:r>
          </a:p>
          <a:p>
            <a:pPr>
              <a:spcAft>
                <a:spcPts val="250"/>
              </a:spcAft>
              <a:defRPr sz="850">
                <a:solidFill>
                  <a:srgbClr val="2D3748"/>
                </a:solidFill>
                <a:latin typeface="Consolas"/>
              </a:defRPr>
            </a:pPr>
            <a:r>
              <a:t>• learner (ObjectId, Ref: User), mentor (ObjectId, Ref: User)</a:t>
            </a:r>
          </a:p>
          <a:p>
            <a:pPr>
              <a:spcAft>
                <a:spcPts val="250"/>
              </a:spcAft>
              <a:defRPr sz="850">
                <a:solidFill>
                  <a:srgbClr val="2D3748"/>
                </a:solidFill>
                <a:latin typeface="Consolas"/>
              </a:defRPr>
            </a:pPr>
            <a:r>
              <a:t>• date (String), time (String), duration (Number, 30-120m)</a:t>
            </a:r>
          </a:p>
          <a:p>
            <a:pPr>
              <a:spcAft>
                <a:spcPts val="250"/>
              </a:spcAft>
              <a:defRPr sz="850">
                <a:solidFill>
                  <a:srgbClr val="2D3748"/>
                </a:solidFill>
                <a:latin typeface="Consolas"/>
              </a:defRPr>
            </a:pPr>
            <a:r>
              <a:t>• status (Enum: 'pending'|'approved'|'confirmed'|'completed'|'cancelled')</a:t>
            </a:r>
          </a:p>
          <a:p>
            <a:pPr>
              <a:spcAft>
                <a:spcPts val="250"/>
              </a:spcAft>
              <a:defRPr sz="850">
                <a:solidFill>
                  <a:srgbClr val="2D3748"/>
                </a:solidFill>
                <a:latin typeface="Consolas"/>
              </a:defRPr>
            </a:pPr>
            <a:r>
              <a:t>• actionExpiresAt (Date, 4-hour countdown), suggestedSlots ([Object])</a:t>
            </a:r>
          </a:p>
          <a:p>
            <a:pPr>
              <a:spcAft>
                <a:spcPts val="250"/>
              </a:spcAft>
              <a:defRPr sz="850">
                <a:solidFill>
                  <a:srgbClr val="2D3748"/>
                </a:solidFill>
                <a:latin typeface="Consolas"/>
              </a:defRPr>
            </a:pPr>
            <a:r>
              <a:t>• meetingUrl (String, Google Meet link)</a:t>
            </a:r>
          </a:p>
          <a:p>
            <a:pPr>
              <a:spcAft>
                <a:spcPts val="250"/>
              </a:spcAft>
              <a:defRPr sz="850">
                <a:solidFill>
                  <a:srgbClr val="2D3748"/>
                </a:solidFill>
                <a:latin typeface="Consolas"/>
              </a:defRPr>
            </a:pPr>
            <a:r>
              <a:t>• payment (status: 'pending'|'paid', razorpayOrderId, logs: [Object])</a:t>
            </a:r>
          </a:p>
        </p:txBody>
      </p:sp>
      <p:sp>
        <p:nvSpPr>
          <p:cNvPr id="11" name="Rectangle 10"/>
          <p:cNvSpPr/>
          <p:nvPr/>
        </p:nvSpPr>
        <p:spPr>
          <a:xfrm>
            <a:off x="731520" y="3886200"/>
            <a:ext cx="5175504" cy="24231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023360"/>
            <a:ext cx="4809744" cy="2148840"/>
          </a:xfrm>
          <a:prstGeom prst="rect">
            <a:avLst/>
          </a:prstGeom>
          <a:noFill/>
        </p:spPr>
        <p:txBody>
          <a:bodyPr wrap="square">
            <a:spAutoFit/>
          </a:bodyPr>
          <a:lstStyle/>
          <a:p>
            <a:pPr>
              <a:spcAft>
                <a:spcPts val="200"/>
              </a:spcAft>
              <a:defRPr sz="1200" b="1">
                <a:solidFill>
                  <a:srgbClr val="176B4E"/>
                </a:solidFill>
                <a:latin typeface="Cambria"/>
              </a:defRPr>
            </a:pPr>
            <a:r>
              <a:t>Chat &amp; Messaging Collections</a:t>
            </a:r>
          </a:p>
          <a:p>
            <a:pPr>
              <a:spcAft>
                <a:spcPts val="600"/>
              </a:spcAft>
              <a:defRPr sz="900">
                <a:solidFill>
                  <a:srgbClr val="5A6578"/>
                </a:solidFill>
                <a:latin typeface="Calibri"/>
              </a:defRPr>
            </a:pPr>
            <a:r>
              <a:t>Conversations &amp; Messages (Socket.io)</a:t>
            </a:r>
          </a:p>
          <a:p>
            <a:pPr>
              <a:spcAft>
                <a:spcPts val="250"/>
              </a:spcAft>
              <a:defRPr sz="850">
                <a:solidFill>
                  <a:srgbClr val="2D3748"/>
                </a:solidFill>
                <a:latin typeface="Consolas"/>
              </a:defRPr>
            </a:pPr>
            <a:r>
              <a:t>• Conversation: participants ([ObjectId, Ref: User])</a:t>
            </a:r>
          </a:p>
          <a:p>
            <a:pPr>
              <a:spcAft>
                <a:spcPts val="250"/>
              </a:spcAft>
              <a:defRPr sz="850">
                <a:solidFill>
                  <a:srgbClr val="2D3748"/>
                </a:solidFill>
                <a:latin typeface="Consolas"/>
              </a:defRPr>
            </a:pPr>
            <a:r>
              <a:t>• Conversation: bookingId (ObjectId, Ref: Booking)</a:t>
            </a:r>
          </a:p>
          <a:p>
            <a:pPr>
              <a:spcAft>
                <a:spcPts val="250"/>
              </a:spcAft>
              <a:defRPr sz="850">
                <a:solidFill>
                  <a:srgbClr val="2D3748"/>
                </a:solidFill>
                <a:latin typeface="Consolas"/>
              </a:defRPr>
            </a:pPr>
            <a:r>
              <a:t>• Conversation: lastMessage (String), updatedAt (Date)</a:t>
            </a:r>
          </a:p>
          <a:p>
            <a:pPr>
              <a:spcAft>
                <a:spcPts val="250"/>
              </a:spcAft>
              <a:defRPr sz="850">
                <a:solidFill>
                  <a:srgbClr val="2D3748"/>
                </a:solidFill>
                <a:latin typeface="Consolas"/>
              </a:defRPr>
            </a:pPr>
            <a:r>
              <a:t>• Message: conversationId (ObjectId, Ref: Conversation)</a:t>
            </a:r>
          </a:p>
          <a:p>
            <a:pPr>
              <a:spcAft>
                <a:spcPts val="250"/>
              </a:spcAft>
              <a:defRPr sz="850">
                <a:solidFill>
                  <a:srgbClr val="2D3748"/>
                </a:solidFill>
                <a:latin typeface="Consolas"/>
              </a:defRPr>
            </a:pPr>
            <a:r>
              <a:t>• Message: sender (ObjectId, Ref: User), text (String)</a:t>
            </a:r>
          </a:p>
          <a:p>
            <a:pPr>
              <a:spcAft>
                <a:spcPts val="250"/>
              </a:spcAft>
              <a:defRPr sz="850">
                <a:solidFill>
                  <a:srgbClr val="2D3748"/>
                </a:solidFill>
                <a:latin typeface="Consolas"/>
              </a:defRPr>
            </a:pPr>
            <a:r>
              <a:t>• Message: isEdited (Boolean), readBy ([ObjectId, Ref: User])</a:t>
            </a:r>
          </a:p>
        </p:txBody>
      </p:sp>
      <p:sp>
        <p:nvSpPr>
          <p:cNvPr id="13" name="Rectangle 12"/>
          <p:cNvSpPr/>
          <p:nvPr/>
        </p:nvSpPr>
        <p:spPr>
          <a:xfrm>
            <a:off x="6281928" y="3886200"/>
            <a:ext cx="5175504" cy="24231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4808" y="4023360"/>
            <a:ext cx="4809744" cy="2148840"/>
          </a:xfrm>
          <a:prstGeom prst="rect">
            <a:avLst/>
          </a:prstGeom>
          <a:noFill/>
        </p:spPr>
        <p:txBody>
          <a:bodyPr wrap="square">
            <a:spAutoFit/>
          </a:bodyPr>
          <a:lstStyle/>
          <a:p>
            <a:pPr>
              <a:spcAft>
                <a:spcPts val="200"/>
              </a:spcAft>
              <a:defRPr sz="1200" b="1">
                <a:solidFill>
                  <a:srgbClr val="176B4E"/>
                </a:solidFill>
                <a:latin typeface="Cambria"/>
              </a:defRPr>
            </a:pPr>
            <a:r>
              <a:t>Ratings, Logs &amp; Platform Collections</a:t>
            </a:r>
          </a:p>
          <a:p>
            <a:pPr>
              <a:spcAft>
                <a:spcPts val="600"/>
              </a:spcAft>
              <a:defRPr sz="900">
                <a:solidFill>
                  <a:srgbClr val="5A6578"/>
                </a:solidFill>
                <a:latin typeface="Calibri"/>
              </a:defRPr>
            </a:pPr>
            <a:r>
              <a:t>Feedback, Auditing &amp; Configuration</a:t>
            </a:r>
          </a:p>
          <a:p>
            <a:pPr>
              <a:spcAft>
                <a:spcPts val="250"/>
              </a:spcAft>
              <a:defRPr sz="850">
                <a:solidFill>
                  <a:srgbClr val="2D3748"/>
                </a:solidFill>
                <a:latin typeface="Consolas"/>
              </a:defRPr>
            </a:pPr>
            <a:r>
              <a:t>• Review: mentor (Ref), learner (Ref), bookingId (Ref, unique)</a:t>
            </a:r>
          </a:p>
          <a:p>
            <a:pPr>
              <a:spcAft>
                <a:spcPts val="250"/>
              </a:spcAft>
              <a:defRPr sz="850">
                <a:solidFill>
                  <a:srgbClr val="2D3748"/>
                </a:solidFill>
                <a:latin typeface="Consolas"/>
              </a:defRPr>
            </a:pPr>
            <a:r>
              <a:t>• Review: rating (Number, 1-5), comment (String), createdAt</a:t>
            </a:r>
          </a:p>
          <a:p>
            <a:pPr>
              <a:spcAft>
                <a:spcPts val="250"/>
              </a:spcAft>
              <a:defRPr sz="850">
                <a:solidFill>
                  <a:srgbClr val="2D3748"/>
                </a:solidFill>
                <a:latin typeface="Consolas"/>
              </a:defRPr>
            </a:pPr>
            <a:r>
              <a:t>• ActivityLog: actor (Ref), action (String), entityType, metadata</a:t>
            </a:r>
          </a:p>
          <a:p>
            <a:pPr>
              <a:spcAft>
                <a:spcPts val="250"/>
              </a:spcAft>
              <a:defRPr sz="850">
                <a:solidFill>
                  <a:srgbClr val="2D3748"/>
                </a:solidFill>
                <a:latin typeface="Consolas"/>
              </a:defRPr>
            </a:pPr>
            <a:r>
              <a:t>• Wallet: user (Ref), balance (Number), transactions ([Ref])</a:t>
            </a:r>
          </a:p>
          <a:p>
            <a:pPr>
              <a:spcAft>
                <a:spcPts val="250"/>
              </a:spcAft>
              <a:defRPr sz="850">
                <a:solidFill>
                  <a:srgbClr val="2D3748"/>
                </a:solidFill>
                <a:latin typeface="Consolas"/>
              </a:defRPr>
            </a:pPr>
            <a:r>
              <a:t>• Setting: key (String, unique), value (Mixed), updatedAt</a:t>
            </a:r>
          </a:p>
          <a:p>
            <a:pPr>
              <a:spcAft>
                <a:spcPts val="250"/>
              </a:spcAft>
              <a:defRPr sz="850">
                <a:solidFill>
                  <a:srgbClr val="2D3748"/>
                </a:solidFill>
                <a:latin typeface="Consolas"/>
              </a:defRPr>
            </a:pPr>
            <a:r>
              <a:t>• Total Collections: Exactly 8 primary collections matching synopsis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BF9"/>
        </a:solidFill>
        <a:effectLst/>
      </p:bgPr>
    </p:bg>
    <p:spTree>
      <p:nvGrpSpPr>
        <p:cNvPr id="1" name=""/>
        <p:cNvGrpSpPr/>
        <p:nvPr/>
      </p:nvGrpSpPr>
      <p:grpSpPr/>
      <p:sp>
        <p:nvSpPr>
          <p:cNvPr id="2" name="TextBox 1"/>
          <p:cNvSpPr txBox="1"/>
          <p:nvPr/>
        </p:nvSpPr>
        <p:spPr>
          <a:xfrm>
            <a:off x="731520" y="365760"/>
            <a:ext cx="10698480" cy="256032"/>
          </a:xfrm>
          <a:prstGeom prst="rect">
            <a:avLst/>
          </a:prstGeom>
          <a:noFill/>
        </p:spPr>
        <p:txBody>
          <a:bodyPr wrap="square" lIns="0" tIns="0" rIns="0" bIns="0">
            <a:spAutoFit/>
          </a:bodyPr>
          <a:lstStyle/>
          <a:p>
            <a:pPr>
              <a:defRPr sz="950" b="1">
                <a:solidFill>
                  <a:srgbClr val="176B4E"/>
                </a:solidFill>
                <a:latin typeface="Calibri"/>
              </a:defRPr>
            </a:pPr>
            <a:r>
              <a:t>VERIFICATION &amp; RELIABILITY</a:t>
            </a:r>
          </a:p>
        </p:txBody>
      </p:sp>
      <p:sp>
        <p:nvSpPr>
          <p:cNvPr id="3" name="TextBox 2"/>
          <p:cNvSpPr txBox="1"/>
          <p:nvPr/>
        </p:nvSpPr>
        <p:spPr>
          <a:xfrm>
            <a:off x="731520" y="603504"/>
            <a:ext cx="10698480" cy="457200"/>
          </a:xfrm>
          <a:prstGeom prst="rect">
            <a:avLst/>
          </a:prstGeom>
          <a:noFill/>
        </p:spPr>
        <p:txBody>
          <a:bodyPr wrap="square" lIns="0" tIns="0" rIns="0" bIns="0">
            <a:spAutoFit/>
          </a:bodyPr>
          <a:lstStyle/>
          <a:p>
            <a:pPr>
              <a:defRPr sz="2100" b="1">
                <a:solidFill>
                  <a:srgbClr val="1A202C"/>
                </a:solidFill>
                <a:latin typeface="Cambria"/>
              </a:defRPr>
            </a:pPr>
            <a:r>
              <a:t>Testing &amp; Quality Assurance: Verification Strategy</a:t>
            </a:r>
          </a:p>
        </p:txBody>
      </p:sp>
      <p:sp>
        <p:nvSpPr>
          <p:cNvPr id="4" name="Rectangle 3"/>
          <p:cNvSpPr/>
          <p:nvPr/>
        </p:nvSpPr>
        <p:spPr>
          <a:xfrm>
            <a:off x="731520" y="11155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92240"/>
            <a:ext cx="7315200" cy="274320"/>
          </a:xfrm>
          <a:prstGeom prst="rect">
            <a:avLst/>
          </a:prstGeom>
          <a:noFill/>
        </p:spPr>
        <p:txBody>
          <a:bodyPr wrap="none" lIns="0" tIns="0" rIns="0" bIns="0">
            <a:spAutoFit/>
          </a:bodyPr>
          <a:lstStyle/>
          <a:p>
            <a:pPr>
              <a:defRPr sz="900">
                <a:solidFill>
                  <a:srgbClr val="5A6578"/>
                </a:solidFill>
                <a:latin typeface="Calibri"/>
              </a:defRPr>
            </a:pPr>
            <a:r>
              <a:t>Skill Exchange · B.Tech CSE Capstone Project (Team CosmicCoder · Group 13)</a:t>
            </a:r>
          </a:p>
        </p:txBody>
      </p:sp>
      <p:sp>
        <p:nvSpPr>
          <p:cNvPr id="6" name="TextBox 5"/>
          <p:cNvSpPr txBox="1"/>
          <p:nvPr/>
        </p:nvSpPr>
        <p:spPr>
          <a:xfrm>
            <a:off x="8686800" y="6492240"/>
            <a:ext cx="2743200" cy="274320"/>
          </a:xfrm>
          <a:prstGeom prst="rect">
            <a:avLst/>
          </a:prstGeom>
          <a:noFill/>
        </p:spPr>
        <p:txBody>
          <a:bodyPr wrap="none" lIns="0" tIns="0" rIns="0" bIns="0">
            <a:spAutoFit/>
          </a:bodyPr>
          <a:lstStyle/>
          <a:p>
            <a:pPr algn="r">
              <a:defRPr sz="900" b="1">
                <a:solidFill>
                  <a:srgbClr val="5A6578"/>
                </a:solidFill>
                <a:latin typeface="Calibri"/>
              </a:defRPr>
            </a:pPr>
            <a:r>
              <a:t>Slide 19 of 22</a:t>
            </a:r>
          </a:p>
        </p:txBody>
      </p:sp>
      <p:sp>
        <p:nvSpPr>
          <p:cNvPr id="7" name="Rectangle 6"/>
          <p:cNvSpPr/>
          <p:nvPr/>
        </p:nvSpPr>
        <p:spPr>
          <a:xfrm>
            <a:off x="731520" y="1325880"/>
            <a:ext cx="5175504" cy="24231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63040"/>
            <a:ext cx="4809744" cy="2148840"/>
          </a:xfrm>
          <a:prstGeom prst="rect">
            <a:avLst/>
          </a:prstGeom>
          <a:noFill/>
        </p:spPr>
        <p:txBody>
          <a:bodyPr wrap="square">
            <a:spAutoFit/>
          </a:bodyPr>
          <a:lstStyle/>
          <a:p>
            <a:pPr>
              <a:spcAft>
                <a:spcPts val="200"/>
              </a:spcAft>
              <a:defRPr sz="1200" b="1">
                <a:solidFill>
                  <a:srgbClr val="176B4E"/>
                </a:solidFill>
                <a:latin typeface="Cambria"/>
              </a:defRPr>
            </a:pPr>
            <a:r>
              <a:t>Backend Unit &amp; Integration Testing</a:t>
            </a:r>
          </a:p>
          <a:p>
            <a:pPr>
              <a:spcAft>
                <a:spcPts val="600"/>
              </a:spcAft>
              <a:defRPr sz="900">
                <a:solidFill>
                  <a:srgbClr val="5A6578"/>
                </a:solidFill>
                <a:latin typeface="Calibri"/>
              </a:defRPr>
            </a:pPr>
            <a:r>
              <a:t>Jest &amp; Supertest Test Suites</a:t>
            </a:r>
          </a:p>
          <a:p>
            <a:pPr>
              <a:spcAft>
                <a:spcPts val="300"/>
              </a:spcAft>
            </a:pPr>
            <a:r>
              <a:rPr sz="900" b="1">
                <a:solidFill>
                  <a:srgbClr val="1A202C"/>
                </a:solidFill>
                <a:latin typeface="Calibri"/>
              </a:rPr>
              <a:t>• JWT Token Verification: </a:t>
            </a:r>
            <a:r>
              <a:rPr sz="850">
                <a:solidFill>
                  <a:srgbClr val="2D3748"/>
                </a:solidFill>
                <a:latin typeface="Calibri"/>
              </a:rPr>
              <a:t>Tests valid bearer extraction, expiration handling, and malformed header rejection.</a:t>
            </a:r>
          </a:p>
          <a:p>
            <a:pPr>
              <a:spcAft>
                <a:spcPts val="300"/>
              </a:spcAft>
            </a:pPr>
            <a:r>
              <a:rPr sz="900" b="1">
                <a:solidFill>
                  <a:srgbClr val="1A202C"/>
                </a:solidFill>
                <a:latin typeface="Calibri"/>
              </a:rPr>
              <a:t>• RBAC Route Isolation: </a:t>
            </a:r>
            <a:r>
              <a:rPr sz="850">
                <a:solidFill>
                  <a:srgbClr val="2D3748"/>
                </a:solidFill>
                <a:latin typeface="Calibri"/>
              </a:rPr>
              <a:t>Verifies that learners cannot access /admin or /mentor-dashboard endpoints.</a:t>
            </a:r>
          </a:p>
          <a:p>
            <a:pPr>
              <a:spcAft>
                <a:spcPts val="300"/>
              </a:spcAft>
            </a:pPr>
            <a:r>
              <a:rPr sz="900" b="1">
                <a:solidFill>
                  <a:srgbClr val="1A202C"/>
                </a:solidFill>
                <a:latin typeface="Calibri"/>
              </a:rPr>
              <a:t>• Booking State Transitions: </a:t>
            </a:r>
            <a:r>
              <a:rPr sz="850">
                <a:solidFill>
                  <a:srgbClr val="2D3748"/>
                </a:solidFill>
                <a:latin typeface="Calibri"/>
              </a:rPr>
              <a:t>Tests valid transitions from pending to confirmed, rejecting invalid skips.</a:t>
            </a:r>
          </a:p>
          <a:p>
            <a:pPr>
              <a:spcAft>
                <a:spcPts val="300"/>
              </a:spcAft>
            </a:pPr>
            <a:r>
              <a:rPr sz="900" b="1">
                <a:solidFill>
                  <a:srgbClr val="1A202C"/>
                </a:solidFill>
                <a:latin typeface="Calibri"/>
              </a:rPr>
              <a:t>• Razorpay Signature Validation: </a:t>
            </a:r>
            <a:r>
              <a:rPr sz="850">
                <a:solidFill>
                  <a:srgbClr val="2D3748"/>
                </a:solidFill>
                <a:latin typeface="Calibri"/>
              </a:rPr>
              <a:t>Tests HMAC SHA-256 calculation against forged webhook payloads.</a:t>
            </a:r>
          </a:p>
        </p:txBody>
      </p:sp>
      <p:sp>
        <p:nvSpPr>
          <p:cNvPr id="9" name="Rectangle 8"/>
          <p:cNvSpPr/>
          <p:nvPr/>
        </p:nvSpPr>
        <p:spPr>
          <a:xfrm>
            <a:off x="6281928" y="1325880"/>
            <a:ext cx="5175504" cy="24231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64808" y="1463040"/>
            <a:ext cx="4809744" cy="2148840"/>
          </a:xfrm>
          <a:prstGeom prst="rect">
            <a:avLst/>
          </a:prstGeom>
          <a:noFill/>
        </p:spPr>
        <p:txBody>
          <a:bodyPr wrap="square">
            <a:spAutoFit/>
          </a:bodyPr>
          <a:lstStyle/>
          <a:p>
            <a:pPr>
              <a:spcAft>
                <a:spcPts val="200"/>
              </a:spcAft>
              <a:defRPr sz="1200" b="1">
                <a:solidFill>
                  <a:srgbClr val="176B4E"/>
                </a:solidFill>
                <a:latin typeface="Cambria"/>
              </a:defRPr>
            </a:pPr>
            <a:r>
              <a:t>Frontend End-to-End Walkthroughs</a:t>
            </a:r>
          </a:p>
          <a:p>
            <a:pPr>
              <a:spcAft>
                <a:spcPts val="600"/>
              </a:spcAft>
              <a:defRPr sz="900">
                <a:solidFill>
                  <a:srgbClr val="5A6578"/>
                </a:solidFill>
                <a:latin typeface="Calibri"/>
              </a:defRPr>
            </a:pPr>
            <a:r>
              <a:t>Playwright Automated Browser Testing</a:t>
            </a:r>
          </a:p>
          <a:p>
            <a:pPr>
              <a:spcAft>
                <a:spcPts val="300"/>
              </a:spcAft>
            </a:pPr>
            <a:r>
              <a:rPr sz="900" b="1">
                <a:solidFill>
                  <a:srgbClr val="1A202C"/>
                </a:solidFill>
                <a:latin typeface="Calibri"/>
              </a:rPr>
              <a:t>• Multi-Role Login Simulation: </a:t>
            </a:r>
            <a:r>
              <a:rPr sz="850">
                <a:solidFill>
                  <a:srgbClr val="2D3748"/>
                </a:solidFill>
                <a:latin typeface="Calibri"/>
              </a:rPr>
              <a:t>Automated login walkthroughs for Learner, Mentor, and Admin credentials.</a:t>
            </a:r>
          </a:p>
          <a:p>
            <a:pPr>
              <a:spcAft>
                <a:spcPts val="300"/>
              </a:spcAft>
            </a:pPr>
            <a:r>
              <a:rPr sz="900" b="1">
                <a:solidFill>
                  <a:srgbClr val="1A202C"/>
                </a:solidFill>
                <a:latin typeface="Calibri"/>
              </a:rPr>
              <a:t>• Search &amp; Filter Debounce: </a:t>
            </a:r>
            <a:r>
              <a:rPr sz="850">
                <a:solidFill>
                  <a:srgbClr val="2D3748"/>
                </a:solidFill>
                <a:latin typeface="Calibri"/>
              </a:rPr>
              <a:t>Validates directory response times and proper query debouncing under rapid typing.</a:t>
            </a:r>
          </a:p>
          <a:p>
            <a:pPr>
              <a:spcAft>
                <a:spcPts val="300"/>
              </a:spcAft>
            </a:pPr>
            <a:r>
              <a:rPr sz="900" b="1">
                <a:solidFill>
                  <a:srgbClr val="1A202C"/>
                </a:solidFill>
                <a:latin typeface="Calibri"/>
              </a:rPr>
              <a:t>• 3-Step Booking Modal Flow: </a:t>
            </a:r>
            <a:r>
              <a:rPr sz="850">
                <a:solidFill>
                  <a:srgbClr val="2D3748"/>
                </a:solidFill>
                <a:latin typeface="Calibri"/>
              </a:rPr>
              <a:t>Tests duration selection, date chip toggling, and successful API submission.</a:t>
            </a:r>
          </a:p>
          <a:p>
            <a:pPr>
              <a:spcAft>
                <a:spcPts val="300"/>
              </a:spcAft>
            </a:pPr>
            <a:r>
              <a:rPr sz="900" b="1">
                <a:solidFill>
                  <a:srgbClr val="1A202C"/>
                </a:solidFill>
                <a:latin typeface="Calibri"/>
              </a:rPr>
              <a:t>• Real-Time Message Dispatch: </a:t>
            </a:r>
            <a:r>
              <a:rPr sz="850">
                <a:solidFill>
                  <a:srgbClr val="2D3748"/>
                </a:solidFill>
                <a:latin typeface="Calibri"/>
              </a:rPr>
              <a:t>Tests Socket.io message broadcasting, bubble rendering, and receipt updates.</a:t>
            </a:r>
          </a:p>
        </p:txBody>
      </p:sp>
      <p:sp>
        <p:nvSpPr>
          <p:cNvPr id="11" name="Rectangle 10"/>
          <p:cNvSpPr/>
          <p:nvPr/>
        </p:nvSpPr>
        <p:spPr>
          <a:xfrm>
            <a:off x="731520" y="3886200"/>
            <a:ext cx="5175504" cy="24231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023360"/>
            <a:ext cx="4809744" cy="2148840"/>
          </a:xfrm>
          <a:prstGeom prst="rect">
            <a:avLst/>
          </a:prstGeom>
          <a:noFill/>
        </p:spPr>
        <p:txBody>
          <a:bodyPr wrap="square">
            <a:spAutoFit/>
          </a:bodyPr>
          <a:lstStyle/>
          <a:p>
            <a:pPr>
              <a:spcAft>
                <a:spcPts val="200"/>
              </a:spcAft>
              <a:defRPr sz="1200" b="1">
                <a:solidFill>
                  <a:srgbClr val="176B4E"/>
                </a:solidFill>
                <a:latin typeface="Cambria"/>
              </a:defRPr>
            </a:pPr>
            <a:r>
              <a:t>Security &amp; Edge Case Validation</a:t>
            </a:r>
          </a:p>
          <a:p>
            <a:pPr>
              <a:spcAft>
                <a:spcPts val="600"/>
              </a:spcAft>
              <a:defRPr sz="900">
                <a:solidFill>
                  <a:srgbClr val="5A6578"/>
                </a:solidFill>
                <a:latin typeface="Calibri"/>
              </a:defRPr>
            </a:pPr>
            <a:r>
              <a:t>Defensive System Invariants</a:t>
            </a:r>
          </a:p>
          <a:p>
            <a:pPr>
              <a:spcAft>
                <a:spcPts val="300"/>
              </a:spcAft>
            </a:pPr>
            <a:r>
              <a:rPr sz="900" b="1">
                <a:solidFill>
                  <a:srgbClr val="1A202C"/>
                </a:solidFill>
                <a:latin typeface="Calibri"/>
              </a:rPr>
              <a:t>• Self-Booking Prevention: </a:t>
            </a:r>
            <a:r>
              <a:rPr sz="850">
                <a:solidFill>
                  <a:srgbClr val="2D3748"/>
                </a:solidFill>
                <a:latin typeface="Calibri"/>
              </a:rPr>
              <a:t>Validates that mentors cannot create booking requests with themselves.</a:t>
            </a:r>
          </a:p>
          <a:p>
            <a:pPr>
              <a:spcAft>
                <a:spcPts val="300"/>
              </a:spcAft>
            </a:pPr>
            <a:r>
              <a:rPr sz="900" b="1">
                <a:solidFill>
                  <a:srgbClr val="1A202C"/>
                </a:solidFill>
                <a:latin typeface="Calibri"/>
              </a:rPr>
              <a:t>• 4-Hour Timer Expiration: </a:t>
            </a:r>
            <a:r>
              <a:rPr sz="850">
                <a:solidFill>
                  <a:srgbClr val="2D3748"/>
                </a:solidFill>
                <a:latin typeface="Calibri"/>
              </a:rPr>
              <a:t>Automated tests confirming pending requests expire automatically after 4 hours.</a:t>
            </a:r>
          </a:p>
          <a:p>
            <a:pPr>
              <a:spcAft>
                <a:spcPts val="300"/>
              </a:spcAft>
            </a:pPr>
            <a:r>
              <a:rPr sz="900" b="1">
                <a:solidFill>
                  <a:srgbClr val="1A202C"/>
                </a:solidFill>
                <a:latin typeface="Calibri"/>
              </a:rPr>
              <a:t>• Input Sanitization: </a:t>
            </a:r>
            <a:r>
              <a:rPr sz="850">
                <a:solidFill>
                  <a:srgbClr val="2D3748"/>
                </a:solidFill>
                <a:latin typeface="Calibri"/>
              </a:rPr>
              <a:t>Escapes HTML and validates email formats and password length limits on signup.</a:t>
            </a:r>
          </a:p>
          <a:p>
            <a:pPr>
              <a:spcAft>
                <a:spcPts val="300"/>
              </a:spcAft>
            </a:pPr>
            <a:r>
              <a:rPr sz="900" b="1">
                <a:solidFill>
                  <a:srgbClr val="1A202C"/>
                </a:solidFill>
                <a:latin typeface="Calibri"/>
              </a:rPr>
              <a:t>• Rate Limiting: </a:t>
            </a:r>
            <a:r>
              <a:rPr sz="850">
                <a:solidFill>
                  <a:srgbClr val="2D3748"/>
                </a:solidFill>
                <a:latin typeface="Calibri"/>
              </a:rPr>
              <a:t>Tests HTTP 429 Too Many Requests responses when AI matching threshold is exceeded.</a:t>
            </a:r>
          </a:p>
        </p:txBody>
      </p:sp>
      <p:sp>
        <p:nvSpPr>
          <p:cNvPr id="13" name="Rectangle 12"/>
          <p:cNvSpPr/>
          <p:nvPr/>
        </p:nvSpPr>
        <p:spPr>
          <a:xfrm>
            <a:off x="6281928" y="3886200"/>
            <a:ext cx="5175504" cy="24231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4808" y="4023360"/>
            <a:ext cx="4809744" cy="2148840"/>
          </a:xfrm>
          <a:prstGeom prst="rect">
            <a:avLst/>
          </a:prstGeom>
          <a:noFill/>
        </p:spPr>
        <p:txBody>
          <a:bodyPr wrap="square">
            <a:spAutoFit/>
          </a:bodyPr>
          <a:lstStyle/>
          <a:p>
            <a:pPr>
              <a:spcAft>
                <a:spcPts val="200"/>
              </a:spcAft>
              <a:defRPr sz="1200" b="1">
                <a:solidFill>
                  <a:srgbClr val="176B4E"/>
                </a:solidFill>
                <a:latin typeface="Cambria"/>
              </a:defRPr>
            </a:pPr>
            <a:r>
              <a:t>Cross-Device &amp; Theme Regression</a:t>
            </a:r>
          </a:p>
          <a:p>
            <a:pPr>
              <a:spcAft>
                <a:spcPts val="600"/>
              </a:spcAft>
              <a:defRPr sz="900">
                <a:solidFill>
                  <a:srgbClr val="5A6578"/>
                </a:solidFill>
                <a:latin typeface="Calibri"/>
              </a:defRPr>
            </a:pPr>
            <a:r>
              <a:t>Visual &amp; Functional Accessibility</a:t>
            </a:r>
          </a:p>
          <a:p>
            <a:pPr>
              <a:spcAft>
                <a:spcPts val="300"/>
              </a:spcAft>
            </a:pPr>
            <a:r>
              <a:rPr sz="900" b="1">
                <a:solidFill>
                  <a:srgbClr val="1A202C"/>
                </a:solidFill>
                <a:latin typeface="Calibri"/>
              </a:rPr>
              <a:t>• Desktop Form Factor (1440x900): </a:t>
            </a:r>
            <a:r>
              <a:rPr sz="850">
                <a:solidFill>
                  <a:srgbClr val="2D3748"/>
                </a:solidFill>
                <a:latin typeface="Calibri"/>
              </a:rPr>
              <a:t>Validates multi-column grid layouts, tables, and modal centering on desktop.</a:t>
            </a:r>
          </a:p>
          <a:p>
            <a:pPr>
              <a:spcAft>
                <a:spcPts val="300"/>
              </a:spcAft>
            </a:pPr>
            <a:r>
              <a:rPr sz="900" b="1">
                <a:solidFill>
                  <a:srgbClr val="1A202C"/>
                </a:solidFill>
                <a:latin typeface="Calibri"/>
              </a:rPr>
              <a:t>• Mobile Form Factor (390x844): </a:t>
            </a:r>
            <a:r>
              <a:rPr sz="850">
                <a:solidFill>
                  <a:srgbClr val="2D3748"/>
                </a:solidFill>
                <a:latin typeface="Calibri"/>
              </a:rPr>
              <a:t>Tests touch targets, hamburger drawer navigation, and responsive typography.</a:t>
            </a:r>
          </a:p>
          <a:p>
            <a:pPr>
              <a:spcAft>
                <a:spcPts val="300"/>
              </a:spcAft>
            </a:pPr>
            <a:r>
              <a:rPr sz="900" b="1">
                <a:solidFill>
                  <a:srgbClr val="1A202C"/>
                </a:solidFill>
                <a:latin typeface="Calibri"/>
              </a:rPr>
              <a:t>• Dark Theme Contrast Verification: </a:t>
            </a:r>
            <a:r>
              <a:rPr sz="850">
                <a:solidFill>
                  <a:srgbClr val="2D3748"/>
                </a:solidFill>
                <a:latin typeface="Calibri"/>
              </a:rPr>
              <a:t>Verifies WCAG contrast compliance across public and admin dark themes.</a:t>
            </a:r>
          </a:p>
          <a:p>
            <a:pPr>
              <a:spcAft>
                <a:spcPts val="300"/>
              </a:spcAft>
            </a:pPr>
            <a:r>
              <a:rPr sz="900" b="1">
                <a:solidFill>
                  <a:srgbClr val="1A202C"/>
                </a:solidFill>
                <a:latin typeface="Calibri"/>
              </a:rPr>
              <a:t>• CSS Specificity Resolution: </a:t>
            </a:r>
            <a:r>
              <a:rPr sz="850">
                <a:solidFill>
                  <a:srgbClr val="2D3748"/>
                </a:solidFill>
                <a:latin typeface="Calibri"/>
              </a:rPr>
              <a:t>Scoped admin stylesheet resolving background collisions in dark mode.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BF9"/>
        </a:solidFill>
        <a:effectLst/>
      </p:bgPr>
    </p:bg>
    <p:spTree>
      <p:nvGrpSpPr>
        <p:cNvPr id="1" name=""/>
        <p:cNvGrpSpPr/>
        <p:nvPr/>
      </p:nvGrpSpPr>
      <p:grpSpPr/>
      <p:sp>
        <p:nvSpPr>
          <p:cNvPr id="2" name="TextBox 1"/>
          <p:cNvSpPr txBox="1"/>
          <p:nvPr/>
        </p:nvSpPr>
        <p:spPr>
          <a:xfrm>
            <a:off x="731520" y="365760"/>
            <a:ext cx="10698480" cy="256032"/>
          </a:xfrm>
          <a:prstGeom prst="rect">
            <a:avLst/>
          </a:prstGeom>
          <a:noFill/>
        </p:spPr>
        <p:txBody>
          <a:bodyPr wrap="square" lIns="0" tIns="0" rIns="0" bIns="0">
            <a:spAutoFit/>
          </a:bodyPr>
          <a:lstStyle/>
          <a:p>
            <a:pPr>
              <a:defRPr sz="950" b="1">
                <a:solidFill>
                  <a:srgbClr val="176B4E"/>
                </a:solidFill>
                <a:latin typeface="Calibri"/>
              </a:defRPr>
            </a:pPr>
            <a:r>
              <a:t>EVALUATION &amp; BENCHMARKS</a:t>
            </a:r>
          </a:p>
        </p:txBody>
      </p:sp>
      <p:sp>
        <p:nvSpPr>
          <p:cNvPr id="3" name="TextBox 2"/>
          <p:cNvSpPr txBox="1"/>
          <p:nvPr/>
        </p:nvSpPr>
        <p:spPr>
          <a:xfrm>
            <a:off x="731520" y="603504"/>
            <a:ext cx="10698480" cy="457200"/>
          </a:xfrm>
          <a:prstGeom prst="rect">
            <a:avLst/>
          </a:prstGeom>
          <a:noFill/>
        </p:spPr>
        <p:txBody>
          <a:bodyPr wrap="square" lIns="0" tIns="0" rIns="0" bIns="0">
            <a:spAutoFit/>
          </a:bodyPr>
          <a:lstStyle/>
          <a:p>
            <a:pPr>
              <a:defRPr sz="2100" b="1">
                <a:solidFill>
                  <a:srgbClr val="1A202C"/>
                </a:solidFill>
                <a:latin typeface="Cambria"/>
              </a:defRPr>
            </a:pPr>
            <a:r>
              <a:t>Project Results: Quantitative Deliverables &amp; Metrics</a:t>
            </a:r>
          </a:p>
        </p:txBody>
      </p:sp>
      <p:sp>
        <p:nvSpPr>
          <p:cNvPr id="4" name="Rectangle 3"/>
          <p:cNvSpPr/>
          <p:nvPr/>
        </p:nvSpPr>
        <p:spPr>
          <a:xfrm>
            <a:off x="731520" y="11155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92240"/>
            <a:ext cx="7315200" cy="274320"/>
          </a:xfrm>
          <a:prstGeom prst="rect">
            <a:avLst/>
          </a:prstGeom>
          <a:noFill/>
        </p:spPr>
        <p:txBody>
          <a:bodyPr wrap="none" lIns="0" tIns="0" rIns="0" bIns="0">
            <a:spAutoFit/>
          </a:bodyPr>
          <a:lstStyle/>
          <a:p>
            <a:pPr>
              <a:defRPr sz="900">
                <a:solidFill>
                  <a:srgbClr val="5A6578"/>
                </a:solidFill>
                <a:latin typeface="Calibri"/>
              </a:defRPr>
            </a:pPr>
            <a:r>
              <a:t>Skill Exchange · B.Tech CSE Capstone Project (Team CosmicCoder · Group 13)</a:t>
            </a:r>
          </a:p>
        </p:txBody>
      </p:sp>
      <p:sp>
        <p:nvSpPr>
          <p:cNvPr id="6" name="TextBox 5"/>
          <p:cNvSpPr txBox="1"/>
          <p:nvPr/>
        </p:nvSpPr>
        <p:spPr>
          <a:xfrm>
            <a:off x="8686800" y="6492240"/>
            <a:ext cx="2743200" cy="274320"/>
          </a:xfrm>
          <a:prstGeom prst="rect">
            <a:avLst/>
          </a:prstGeom>
          <a:noFill/>
        </p:spPr>
        <p:txBody>
          <a:bodyPr wrap="none" lIns="0" tIns="0" rIns="0" bIns="0">
            <a:spAutoFit/>
          </a:bodyPr>
          <a:lstStyle/>
          <a:p>
            <a:pPr algn="r">
              <a:defRPr sz="900" b="1">
                <a:solidFill>
                  <a:srgbClr val="5A6578"/>
                </a:solidFill>
                <a:latin typeface="Calibri"/>
              </a:defRPr>
            </a:pPr>
            <a:r>
              <a:t>Slide 20 of 22</a:t>
            </a:r>
          </a:p>
        </p:txBody>
      </p:sp>
      <p:sp>
        <p:nvSpPr>
          <p:cNvPr id="7" name="Rectangle 6"/>
          <p:cNvSpPr/>
          <p:nvPr/>
        </p:nvSpPr>
        <p:spPr>
          <a:xfrm>
            <a:off x="731520" y="1325880"/>
            <a:ext cx="2487168" cy="1280160"/>
          </a:xfrm>
          <a:prstGeom prst="rect">
            <a:avLst/>
          </a:prstGeom>
          <a:solidFill>
            <a:srgbClr val="F4F8F5"/>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435608"/>
            <a:ext cx="2212848" cy="1060704"/>
          </a:xfrm>
          <a:prstGeom prst="rect">
            <a:avLst/>
          </a:prstGeom>
          <a:noFill/>
        </p:spPr>
        <p:txBody>
          <a:bodyPr wrap="square">
            <a:spAutoFit/>
          </a:bodyPr>
          <a:lstStyle/>
          <a:p>
            <a:pPr>
              <a:spcAft>
                <a:spcPts val="200"/>
              </a:spcAft>
              <a:defRPr sz="1700" b="1">
                <a:solidFill>
                  <a:srgbClr val="176B4E"/>
                </a:solidFill>
                <a:latin typeface="Cambria"/>
              </a:defRPr>
            </a:pPr>
            <a:r>
              <a:t>14 PAGES</a:t>
            </a:r>
          </a:p>
          <a:p>
            <a:pPr>
              <a:defRPr sz="1000" b="1">
                <a:solidFill>
                  <a:srgbClr val="1A202C"/>
                </a:solidFill>
                <a:latin typeface="Calibri"/>
              </a:defRPr>
            </a:pPr>
            <a:r>
              <a:t>Frontend Pages Built</a:t>
            </a:r>
          </a:p>
          <a:p>
            <a:pPr>
              <a:defRPr sz="850">
                <a:solidFill>
                  <a:srgbClr val="5A6578"/>
                </a:solidFill>
                <a:latin typeface="Calibri"/>
              </a:defRPr>
            </a:pPr>
            <a:r>
              <a:t>Exceeds synopsis recommendation of 10–15 pages</a:t>
            </a:r>
          </a:p>
        </p:txBody>
      </p:sp>
      <p:sp>
        <p:nvSpPr>
          <p:cNvPr id="9" name="Rectangle 8"/>
          <p:cNvSpPr/>
          <p:nvPr/>
        </p:nvSpPr>
        <p:spPr>
          <a:xfrm>
            <a:off x="3474720" y="1325880"/>
            <a:ext cx="2487168" cy="1280160"/>
          </a:xfrm>
          <a:prstGeom prst="rect">
            <a:avLst/>
          </a:prstGeom>
          <a:solidFill>
            <a:srgbClr val="F4F8F5"/>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11880" y="1435608"/>
            <a:ext cx="2212848" cy="1060704"/>
          </a:xfrm>
          <a:prstGeom prst="rect">
            <a:avLst/>
          </a:prstGeom>
          <a:noFill/>
        </p:spPr>
        <p:txBody>
          <a:bodyPr wrap="square">
            <a:spAutoFit/>
          </a:bodyPr>
          <a:lstStyle/>
          <a:p>
            <a:pPr>
              <a:spcAft>
                <a:spcPts val="200"/>
              </a:spcAft>
              <a:defRPr sz="1700" b="1">
                <a:solidFill>
                  <a:srgbClr val="176B4E"/>
                </a:solidFill>
                <a:latin typeface="Cambria"/>
              </a:defRPr>
            </a:pPr>
            <a:r>
              <a:t>59 APIS</a:t>
            </a:r>
          </a:p>
          <a:p>
            <a:pPr>
              <a:defRPr sz="1000" b="1">
                <a:solidFill>
                  <a:srgbClr val="1A202C"/>
                </a:solidFill>
                <a:latin typeface="Calibri"/>
              </a:defRPr>
            </a:pPr>
            <a:r>
              <a:t>REST Endpoints Built</a:t>
            </a:r>
          </a:p>
          <a:p>
            <a:pPr>
              <a:defRPr sz="850">
                <a:solidFill>
                  <a:srgbClr val="5A6578"/>
                </a:solidFill>
                <a:latin typeface="Calibri"/>
              </a:defRPr>
            </a:pPr>
            <a:r>
              <a:t>Exceeds synopsis recommendation of 15–20 APIs</a:t>
            </a:r>
          </a:p>
        </p:txBody>
      </p:sp>
      <p:sp>
        <p:nvSpPr>
          <p:cNvPr id="11" name="Rectangle 10"/>
          <p:cNvSpPr/>
          <p:nvPr/>
        </p:nvSpPr>
        <p:spPr>
          <a:xfrm>
            <a:off x="6217920" y="1325880"/>
            <a:ext cx="2487168" cy="1280160"/>
          </a:xfrm>
          <a:prstGeom prst="rect">
            <a:avLst/>
          </a:prstGeom>
          <a:solidFill>
            <a:srgbClr val="F4F8F5"/>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1435608"/>
            <a:ext cx="2212848" cy="1060704"/>
          </a:xfrm>
          <a:prstGeom prst="rect">
            <a:avLst/>
          </a:prstGeom>
          <a:noFill/>
        </p:spPr>
        <p:txBody>
          <a:bodyPr wrap="square">
            <a:spAutoFit/>
          </a:bodyPr>
          <a:lstStyle/>
          <a:p>
            <a:pPr>
              <a:spcAft>
                <a:spcPts val="200"/>
              </a:spcAft>
              <a:defRPr sz="1700" b="1">
                <a:solidFill>
                  <a:srgbClr val="176B4E"/>
                </a:solidFill>
                <a:latin typeface="Cambria"/>
              </a:defRPr>
            </a:pPr>
            <a:r>
              <a:t>8 COLLECTIONS</a:t>
            </a:r>
          </a:p>
          <a:p>
            <a:pPr>
              <a:defRPr sz="1000" b="1">
                <a:solidFill>
                  <a:srgbClr val="1A202C"/>
                </a:solidFill>
                <a:latin typeface="Calibri"/>
              </a:defRPr>
            </a:pPr>
            <a:r>
              <a:t>MongoDB Collections</a:t>
            </a:r>
          </a:p>
          <a:p>
            <a:pPr>
              <a:defRPr sz="850">
                <a:solidFill>
                  <a:srgbClr val="5A6578"/>
                </a:solidFill>
                <a:latin typeface="Calibri"/>
              </a:defRPr>
            </a:pPr>
            <a:r>
              <a:t>Matches synopsis specification of 6–8 collections</a:t>
            </a:r>
          </a:p>
        </p:txBody>
      </p:sp>
      <p:sp>
        <p:nvSpPr>
          <p:cNvPr id="13" name="Rectangle 12"/>
          <p:cNvSpPr/>
          <p:nvPr/>
        </p:nvSpPr>
        <p:spPr>
          <a:xfrm>
            <a:off x="8961120" y="1325880"/>
            <a:ext cx="2487168" cy="1280160"/>
          </a:xfrm>
          <a:prstGeom prst="rect">
            <a:avLst/>
          </a:prstGeom>
          <a:solidFill>
            <a:srgbClr val="F4F8F5"/>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98280" y="1435608"/>
            <a:ext cx="2212848" cy="1060704"/>
          </a:xfrm>
          <a:prstGeom prst="rect">
            <a:avLst/>
          </a:prstGeom>
          <a:noFill/>
        </p:spPr>
        <p:txBody>
          <a:bodyPr wrap="square">
            <a:spAutoFit/>
          </a:bodyPr>
          <a:lstStyle/>
          <a:p>
            <a:pPr>
              <a:spcAft>
                <a:spcPts val="200"/>
              </a:spcAft>
              <a:defRPr sz="1700" b="1">
                <a:solidFill>
                  <a:srgbClr val="176B4E"/>
                </a:solidFill>
                <a:latin typeface="Cambria"/>
              </a:defRPr>
            </a:pPr>
            <a:r>
              <a:t>&lt; 100 MS</a:t>
            </a:r>
          </a:p>
          <a:p>
            <a:pPr>
              <a:defRPr sz="1000" b="1">
                <a:solidFill>
                  <a:srgbClr val="1A202C"/>
                </a:solidFill>
                <a:latin typeface="Calibri"/>
              </a:defRPr>
            </a:pPr>
            <a:r>
              <a:t>Average API Latency</a:t>
            </a:r>
          </a:p>
          <a:p>
            <a:pPr>
              <a:defRPr sz="850">
                <a:solidFill>
                  <a:srgbClr val="5A6578"/>
                </a:solidFill>
                <a:latin typeface="Calibri"/>
              </a:defRPr>
            </a:pPr>
            <a:r>
              <a:t>Optimized with indexing &amp; in-memory matching cache</a:t>
            </a:r>
          </a:p>
        </p:txBody>
      </p:sp>
      <p:sp>
        <p:nvSpPr>
          <p:cNvPr id="15" name="Rectangle 14"/>
          <p:cNvSpPr/>
          <p:nvPr/>
        </p:nvSpPr>
        <p:spPr>
          <a:xfrm>
            <a:off x="731520" y="2834640"/>
            <a:ext cx="5175504" cy="34290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3017520"/>
            <a:ext cx="4718304" cy="3063240"/>
          </a:xfrm>
          <a:prstGeom prst="rect">
            <a:avLst/>
          </a:prstGeom>
          <a:noFill/>
        </p:spPr>
        <p:txBody>
          <a:bodyPr wrap="square">
            <a:spAutoFit/>
          </a:bodyPr>
          <a:lstStyle/>
          <a:p>
            <a:pPr>
              <a:spcAft>
                <a:spcPts val="1000"/>
              </a:spcAft>
              <a:defRPr sz="1300" b="1">
                <a:solidFill>
                  <a:srgbClr val="176B4E"/>
                </a:solidFill>
                <a:latin typeface="Cambria"/>
              </a:defRPr>
            </a:pPr>
            <a:r>
              <a:t>Functional Milestones Achieved</a:t>
            </a:r>
          </a:p>
          <a:p>
            <a:pPr>
              <a:spcAft>
                <a:spcPts val="600"/>
              </a:spcAft>
            </a:pPr>
            <a:r>
              <a:rPr sz="950" b="1">
                <a:solidFill>
                  <a:srgbClr val="1A202C"/>
                </a:solidFill>
                <a:latin typeface="Calibri"/>
              </a:rPr>
              <a:t>• End-to-End Mentorship Flow: </a:t>
            </a:r>
            <a:r>
              <a:rPr sz="900">
                <a:solidFill>
                  <a:srgbClr val="2D3748"/>
                </a:solidFill>
                <a:latin typeface="Calibri"/>
              </a:rPr>
              <a:t>Successfully implemented registration → search → AI matching → booking → payment → chat → review.</a:t>
            </a:r>
          </a:p>
          <a:p>
            <a:pPr>
              <a:spcAft>
                <a:spcPts val="600"/>
              </a:spcAft>
            </a:pPr>
            <a:r>
              <a:rPr sz="950" b="1">
                <a:solidFill>
                  <a:srgbClr val="1A202C"/>
                </a:solidFill>
                <a:latin typeface="Calibri"/>
              </a:rPr>
              <a:t>• Multi-Role Separation: </a:t>
            </a:r>
            <a:r>
              <a:rPr sz="900">
                <a:solidFill>
                  <a:srgbClr val="2D3748"/>
                </a:solidFill>
                <a:latin typeface="Calibri"/>
              </a:rPr>
              <a:t>Clean isolation of Learner, Mentor, and Admin workflows with RBAC middleware.</a:t>
            </a:r>
          </a:p>
          <a:p>
            <a:pPr>
              <a:spcAft>
                <a:spcPts val="600"/>
              </a:spcAft>
            </a:pPr>
            <a:r>
              <a:rPr sz="950" b="1">
                <a:solidFill>
                  <a:srgbClr val="1A202C"/>
                </a:solidFill>
                <a:latin typeface="Calibri"/>
              </a:rPr>
              <a:t>• Dual Communication Engine: </a:t>
            </a:r>
            <a:r>
              <a:rPr sz="900">
                <a:solidFill>
                  <a:srgbClr val="2D3748"/>
                </a:solidFill>
                <a:latin typeface="Calibri"/>
              </a:rPr>
              <a:t>REST API for persistent data and Socket.io WebSockets for real-time chat.</a:t>
            </a:r>
          </a:p>
          <a:p>
            <a:pPr>
              <a:spcAft>
                <a:spcPts val="600"/>
              </a:spcAft>
            </a:pPr>
            <a:r>
              <a:rPr sz="950" b="1">
                <a:solidFill>
                  <a:srgbClr val="1A202C"/>
                </a:solidFill>
                <a:latin typeface="Calibri"/>
              </a:rPr>
              <a:t>• Defensive State Machine: </a:t>
            </a:r>
            <a:r>
              <a:rPr sz="900">
                <a:solidFill>
                  <a:srgbClr val="2D3748"/>
                </a:solidFill>
                <a:latin typeface="Calibri"/>
              </a:rPr>
              <a:t>Zero ghost bookings, enforced 4-hour expirations, and conflict-free calendar booking.</a:t>
            </a:r>
          </a:p>
        </p:txBody>
      </p:sp>
      <p:sp>
        <p:nvSpPr>
          <p:cNvPr id="17" name="Rectangle 16"/>
          <p:cNvSpPr/>
          <p:nvPr/>
        </p:nvSpPr>
        <p:spPr>
          <a:xfrm>
            <a:off x="6281928" y="2834640"/>
            <a:ext cx="5175504" cy="34290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10528" y="3017520"/>
            <a:ext cx="4718304" cy="3063240"/>
          </a:xfrm>
          <a:prstGeom prst="rect">
            <a:avLst/>
          </a:prstGeom>
          <a:noFill/>
        </p:spPr>
        <p:txBody>
          <a:bodyPr wrap="square">
            <a:spAutoFit/>
          </a:bodyPr>
          <a:lstStyle/>
          <a:p>
            <a:pPr>
              <a:spcAft>
                <a:spcPts val="1000"/>
              </a:spcAft>
              <a:defRPr sz="1300" b="1">
                <a:solidFill>
                  <a:srgbClr val="176B4E"/>
                </a:solidFill>
                <a:latin typeface="Cambria"/>
              </a:defRPr>
            </a:pPr>
            <a:r>
              <a:t>Live Deployment &amp; Verification</a:t>
            </a:r>
          </a:p>
          <a:p>
            <a:pPr>
              <a:spcAft>
                <a:spcPts val="600"/>
              </a:spcAft>
            </a:pPr>
            <a:r>
              <a:rPr sz="950" b="1">
                <a:solidFill>
                  <a:srgbClr val="1A202C"/>
                </a:solidFill>
                <a:latin typeface="Calibri"/>
              </a:rPr>
              <a:t>• Production Cloud Hosting: </a:t>
            </a:r>
            <a:r>
              <a:rPr sz="900">
                <a:solidFill>
                  <a:srgbClr val="2D3748"/>
                </a:solidFill>
                <a:latin typeface="Calibri"/>
              </a:rPr>
              <a:t>Frontend deployed live on Vercel at https://skill-exchange-one-eta.vercel.app/</a:t>
            </a:r>
          </a:p>
          <a:p>
            <a:pPr>
              <a:spcAft>
                <a:spcPts val="600"/>
              </a:spcAft>
            </a:pPr>
            <a:r>
              <a:rPr sz="950" b="1">
                <a:solidFill>
                  <a:srgbClr val="1A202C"/>
                </a:solidFill>
                <a:latin typeface="Calibri"/>
              </a:rPr>
              <a:t>• Database Cloud Cluster: </a:t>
            </a:r>
            <a:r>
              <a:rPr sz="900">
                <a:solidFill>
                  <a:srgbClr val="2D3748"/>
                </a:solidFill>
                <a:latin typeface="Calibri"/>
              </a:rPr>
              <a:t>Connected to MongoDB Atlas with automated TLS encryption and connection pooling.</a:t>
            </a:r>
          </a:p>
          <a:p>
            <a:pPr>
              <a:spcAft>
                <a:spcPts val="600"/>
              </a:spcAft>
            </a:pPr>
            <a:r>
              <a:rPr sz="950" b="1">
                <a:solidFill>
                  <a:srgbClr val="1A202C"/>
                </a:solidFill>
                <a:latin typeface="Calibri"/>
              </a:rPr>
              <a:t>• Automated Test Evidence: </a:t>
            </a:r>
            <a:r>
              <a:rPr sz="900">
                <a:solidFill>
                  <a:srgbClr val="2D3748"/>
                </a:solidFill>
                <a:latin typeface="Calibri"/>
              </a:rPr>
              <a:t>100% test pass rate across Jest unit suites and Playwright headless walkthroughs.</a:t>
            </a:r>
          </a:p>
          <a:p>
            <a:pPr>
              <a:spcAft>
                <a:spcPts val="600"/>
              </a:spcAft>
            </a:pPr>
            <a:r>
              <a:rPr sz="950" b="1">
                <a:solidFill>
                  <a:srgbClr val="1A202C"/>
                </a:solidFill>
                <a:latin typeface="Calibri"/>
              </a:rPr>
              <a:t>• Accessibility &amp; Themes: </a:t>
            </a:r>
            <a:r>
              <a:rPr sz="900">
                <a:solidFill>
                  <a:srgbClr val="2D3748"/>
                </a:solidFill>
                <a:latin typeface="Calibri"/>
              </a:rPr>
              <a:t>Fully responsive on desktop and mobile viewports with complete light/dark theme support.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8FBF9"/>
        </a:solidFill>
        <a:effectLst/>
      </p:bgPr>
    </p:bg>
    <p:spTree>
      <p:nvGrpSpPr>
        <p:cNvPr id="1" name=""/>
        <p:cNvGrpSpPr/>
        <p:nvPr/>
      </p:nvGrpSpPr>
      <p:grpSpPr/>
      <p:sp>
        <p:nvSpPr>
          <p:cNvPr id="2" name="TextBox 1"/>
          <p:cNvSpPr txBox="1"/>
          <p:nvPr/>
        </p:nvSpPr>
        <p:spPr>
          <a:xfrm>
            <a:off x="731520" y="365760"/>
            <a:ext cx="10698480" cy="256032"/>
          </a:xfrm>
          <a:prstGeom prst="rect">
            <a:avLst/>
          </a:prstGeom>
          <a:noFill/>
        </p:spPr>
        <p:txBody>
          <a:bodyPr wrap="square" lIns="0" tIns="0" rIns="0" bIns="0">
            <a:spAutoFit/>
          </a:bodyPr>
          <a:lstStyle/>
          <a:p>
            <a:pPr>
              <a:defRPr sz="950" b="1">
                <a:solidFill>
                  <a:srgbClr val="176B4E"/>
                </a:solidFill>
                <a:latin typeface="Calibri"/>
              </a:defRPr>
            </a:pPr>
            <a:r>
              <a:t>SUMMARY &amp; FUTURE ENHANCEMENTS</a:t>
            </a:r>
          </a:p>
        </p:txBody>
      </p:sp>
      <p:sp>
        <p:nvSpPr>
          <p:cNvPr id="3" name="TextBox 2"/>
          <p:cNvSpPr txBox="1"/>
          <p:nvPr/>
        </p:nvSpPr>
        <p:spPr>
          <a:xfrm>
            <a:off x="731520" y="603504"/>
            <a:ext cx="10698480" cy="457200"/>
          </a:xfrm>
          <a:prstGeom prst="rect">
            <a:avLst/>
          </a:prstGeom>
          <a:noFill/>
        </p:spPr>
        <p:txBody>
          <a:bodyPr wrap="square" lIns="0" tIns="0" rIns="0" bIns="0">
            <a:spAutoFit/>
          </a:bodyPr>
          <a:lstStyle/>
          <a:p>
            <a:pPr>
              <a:defRPr sz="2100" b="1">
                <a:solidFill>
                  <a:srgbClr val="1A202C"/>
                </a:solidFill>
                <a:latin typeface="Cambria"/>
              </a:defRPr>
            </a:pPr>
            <a:r>
              <a:t>Conclusion &amp; Future Scope: Next Iterations</a:t>
            </a:r>
          </a:p>
        </p:txBody>
      </p:sp>
      <p:sp>
        <p:nvSpPr>
          <p:cNvPr id="4" name="Rectangle 3"/>
          <p:cNvSpPr/>
          <p:nvPr/>
        </p:nvSpPr>
        <p:spPr>
          <a:xfrm>
            <a:off x="731520" y="11155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92240"/>
            <a:ext cx="7315200" cy="274320"/>
          </a:xfrm>
          <a:prstGeom prst="rect">
            <a:avLst/>
          </a:prstGeom>
          <a:noFill/>
        </p:spPr>
        <p:txBody>
          <a:bodyPr wrap="none" lIns="0" tIns="0" rIns="0" bIns="0">
            <a:spAutoFit/>
          </a:bodyPr>
          <a:lstStyle/>
          <a:p>
            <a:pPr>
              <a:defRPr sz="900">
                <a:solidFill>
                  <a:srgbClr val="5A6578"/>
                </a:solidFill>
                <a:latin typeface="Calibri"/>
              </a:defRPr>
            </a:pPr>
            <a:r>
              <a:t>Skill Exchange · B.Tech CSE Capstone Project (Team CosmicCoder · Group 13)</a:t>
            </a:r>
          </a:p>
        </p:txBody>
      </p:sp>
      <p:sp>
        <p:nvSpPr>
          <p:cNvPr id="6" name="TextBox 5"/>
          <p:cNvSpPr txBox="1"/>
          <p:nvPr/>
        </p:nvSpPr>
        <p:spPr>
          <a:xfrm>
            <a:off x="8686800" y="6492240"/>
            <a:ext cx="2743200" cy="274320"/>
          </a:xfrm>
          <a:prstGeom prst="rect">
            <a:avLst/>
          </a:prstGeom>
          <a:noFill/>
        </p:spPr>
        <p:txBody>
          <a:bodyPr wrap="none" lIns="0" tIns="0" rIns="0" bIns="0">
            <a:spAutoFit/>
          </a:bodyPr>
          <a:lstStyle/>
          <a:p>
            <a:pPr algn="r">
              <a:defRPr sz="900" b="1">
                <a:solidFill>
                  <a:srgbClr val="5A6578"/>
                </a:solidFill>
                <a:latin typeface="Calibri"/>
              </a:defRPr>
            </a:pPr>
            <a:r>
              <a:t>Slide 21 of 22</a:t>
            </a:r>
          </a:p>
        </p:txBody>
      </p:sp>
      <p:sp>
        <p:nvSpPr>
          <p:cNvPr id="7" name="Rectangle 6"/>
          <p:cNvSpPr/>
          <p:nvPr/>
        </p:nvSpPr>
        <p:spPr>
          <a:xfrm>
            <a:off x="731520" y="1371600"/>
            <a:ext cx="5175504" cy="4846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00200"/>
            <a:ext cx="4718304" cy="4389120"/>
          </a:xfrm>
          <a:prstGeom prst="rect">
            <a:avLst/>
          </a:prstGeom>
          <a:noFill/>
        </p:spPr>
        <p:txBody>
          <a:bodyPr wrap="square">
            <a:spAutoFit/>
          </a:bodyPr>
          <a:lstStyle/>
          <a:p>
            <a:pPr>
              <a:spcAft>
                <a:spcPts val="1200"/>
              </a:spcAft>
              <a:defRPr sz="1400" b="1">
                <a:solidFill>
                  <a:srgbClr val="176B4E"/>
                </a:solidFill>
                <a:latin typeface="Cambria"/>
              </a:defRPr>
            </a:pPr>
            <a:r>
              <a:t>Project Conclusion</a:t>
            </a:r>
          </a:p>
          <a:p>
            <a:pPr>
              <a:spcAft>
                <a:spcPts val="800"/>
              </a:spcAft>
            </a:pPr>
            <a:r>
              <a:rPr sz="1000" b="1">
                <a:solidFill>
                  <a:srgbClr val="1A202C"/>
                </a:solidFill>
                <a:latin typeface="Calibri"/>
              </a:rPr>
              <a:t>• Comprehensive MERN Platform: </a:t>
            </a:r>
            <a:r>
              <a:rPr sz="950">
                <a:solidFill>
                  <a:srgbClr val="2D3748"/>
                </a:solidFill>
                <a:latin typeface="Calibri"/>
              </a:rPr>
              <a:t>Successfully designed, developed, and deployed a production-ready web application addressing peer learning friction.</a:t>
            </a:r>
          </a:p>
          <a:p>
            <a:pPr>
              <a:spcAft>
                <a:spcPts val="800"/>
              </a:spcAft>
            </a:pPr>
            <a:r>
              <a:rPr sz="1000" b="1">
                <a:solidFill>
                  <a:srgbClr val="1A202C"/>
                </a:solidFill>
                <a:latin typeface="Calibri"/>
              </a:rPr>
              <a:t>• Elimination of Informal Chaos: </a:t>
            </a:r>
            <a:r>
              <a:rPr sz="950">
                <a:solidFill>
                  <a:srgbClr val="2D3748"/>
                </a:solidFill>
                <a:latin typeface="Calibri"/>
              </a:rPr>
              <a:t>Replaced unorganized WhatsApp/Discord study swaps with structured scheduling, verified profiles, and automated reminders.</a:t>
            </a:r>
          </a:p>
          <a:p>
            <a:pPr>
              <a:spcAft>
                <a:spcPts val="800"/>
              </a:spcAft>
            </a:pPr>
            <a:r>
              <a:rPr sz="1000" b="1">
                <a:solidFill>
                  <a:srgbClr val="1A202C"/>
                </a:solidFill>
                <a:latin typeface="Calibri"/>
              </a:rPr>
              <a:t>• Enterprise Architecture: </a:t>
            </a:r>
            <a:r>
              <a:rPr sz="950">
                <a:solidFill>
                  <a:srgbClr val="2D3748"/>
                </a:solidFill>
                <a:latin typeface="Calibri"/>
              </a:rPr>
              <a:t>Engineered with strict separation of concerns across 12 independent modules, protected by JWT authentication and RBAC guards.</a:t>
            </a:r>
          </a:p>
          <a:p>
            <a:pPr>
              <a:spcAft>
                <a:spcPts val="800"/>
              </a:spcAft>
            </a:pPr>
            <a:r>
              <a:rPr sz="1000" b="1">
                <a:solidFill>
                  <a:srgbClr val="1A202C"/>
                </a:solidFill>
                <a:latin typeface="Calibri"/>
              </a:rPr>
              <a:t>• Verified Academic Deliverable: </a:t>
            </a:r>
            <a:r>
              <a:rPr sz="950">
                <a:solidFill>
                  <a:srgbClr val="2D3748"/>
                </a:solidFill>
                <a:latin typeface="Calibri"/>
              </a:rPr>
              <a:t>Completed as a comprehensive B.Tech Computer Science and Engineering capstone project during internship at Codroid Hub Pvt. Ltd.</a:t>
            </a:r>
          </a:p>
        </p:txBody>
      </p:sp>
      <p:sp>
        <p:nvSpPr>
          <p:cNvPr id="9" name="Rectangle 8"/>
          <p:cNvSpPr/>
          <p:nvPr/>
        </p:nvSpPr>
        <p:spPr>
          <a:xfrm>
            <a:off x="6281928" y="1371600"/>
            <a:ext cx="5175504" cy="4846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10528" y="1600200"/>
            <a:ext cx="4718304" cy="4389120"/>
          </a:xfrm>
          <a:prstGeom prst="rect">
            <a:avLst/>
          </a:prstGeom>
          <a:noFill/>
        </p:spPr>
        <p:txBody>
          <a:bodyPr wrap="square">
            <a:spAutoFit/>
          </a:bodyPr>
          <a:lstStyle/>
          <a:p>
            <a:pPr>
              <a:spcAft>
                <a:spcPts val="1200"/>
              </a:spcAft>
              <a:defRPr sz="1400" b="1">
                <a:solidFill>
                  <a:srgbClr val="176B4E"/>
                </a:solidFill>
                <a:latin typeface="Cambria"/>
              </a:defRPr>
            </a:pPr>
            <a:r>
              <a:t>Future Enhancements (Approved Synopsis)</a:t>
            </a:r>
          </a:p>
          <a:p>
            <a:pPr>
              <a:spcAft>
                <a:spcPts val="800"/>
              </a:spcAft>
            </a:pPr>
            <a:r>
              <a:rPr sz="1000" b="1">
                <a:solidFill>
                  <a:srgbClr val="1A202C"/>
                </a:solidFill>
                <a:latin typeface="Calibri"/>
              </a:rPr>
              <a:t>• 1. AI-Based Mentor Recommendations: </a:t>
            </a:r>
            <a:r>
              <a:rPr sz="950">
                <a:solidFill>
                  <a:srgbClr val="2D3748"/>
                </a:solidFill>
                <a:latin typeface="Calibri"/>
              </a:rPr>
              <a:t>Enhance current heuristic scoring with machine-learned collaborative filtering to automatically match learners with optimal peer mentors.</a:t>
            </a:r>
          </a:p>
          <a:p>
            <a:pPr>
              <a:spcAft>
                <a:spcPts val="800"/>
              </a:spcAft>
            </a:pPr>
            <a:r>
              <a:rPr sz="1000" b="1">
                <a:solidFill>
                  <a:srgbClr val="1A202C"/>
                </a:solidFill>
                <a:latin typeface="Calibri"/>
              </a:rPr>
              <a:t>• 2. In-App Video Call Integration: </a:t>
            </a:r>
            <a:r>
              <a:rPr sz="950">
                <a:solidFill>
                  <a:srgbClr val="2D3748"/>
                </a:solidFill>
                <a:latin typeface="Calibri"/>
              </a:rPr>
              <a:t>Embed native WebRTC peer-to-peer video and audio streaming directly inside session rooms, eliminating third-party meeting links.</a:t>
            </a:r>
          </a:p>
          <a:p>
            <a:pPr>
              <a:spcAft>
                <a:spcPts val="800"/>
              </a:spcAft>
            </a:pPr>
            <a:r>
              <a:rPr sz="1000" b="1">
                <a:solidFill>
                  <a:srgbClr val="1A202C"/>
                </a:solidFill>
                <a:latin typeface="Calibri"/>
              </a:rPr>
              <a:t>• 3. Skill Certification Badges: </a:t>
            </a:r>
            <a:r>
              <a:rPr sz="950">
                <a:solidFill>
                  <a:srgbClr val="2D3748"/>
                </a:solidFill>
                <a:latin typeface="Calibri"/>
              </a:rPr>
              <a:t>Award verifiable digital badges and skill certificates upon successful completion of curriculum milestones verified by mentors.</a:t>
            </a:r>
          </a:p>
          <a:p>
            <a:pPr>
              <a:spcAft>
                <a:spcPts val="800"/>
              </a:spcAft>
            </a:pPr>
            <a:r>
              <a:rPr sz="1000" b="1">
                <a:solidFill>
                  <a:srgbClr val="1A202C"/>
                </a:solidFill>
                <a:latin typeface="Calibri"/>
              </a:rPr>
              <a:t>• 4. Gamified Learning Paths: </a:t>
            </a:r>
            <a:r>
              <a:rPr sz="950">
                <a:solidFill>
                  <a:srgbClr val="2D3748"/>
                </a:solidFill>
                <a:latin typeface="Calibri"/>
              </a:rPr>
              <a:t>Introduce gamified progress roadmaps, achievement points, and study streak trackers to drive consistent student engagement.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76B4E"/>
        </a:solidFill>
        <a:effectLst/>
      </p:bgPr>
    </p:bg>
    <p:spTree>
      <p:nvGrpSpPr>
        <p:cNvPr id="1" name=""/>
        <p:cNvGrpSpPr/>
        <p:nvPr/>
      </p:nvGrpSpPr>
      <p:grpSpPr/>
      <p:pic>
        <p:nvPicPr>
          <p:cNvPr id="2" name="Picture 1" descr="logo_white.png"/>
          <p:cNvPicPr>
            <a:picLocks noChangeAspect="1"/>
          </p:cNvPicPr>
          <p:nvPr/>
        </p:nvPicPr>
        <p:blipFill>
          <a:blip r:embed="rId2"/>
          <a:stretch>
            <a:fillRect/>
          </a:stretch>
        </p:blipFill>
        <p:spPr>
          <a:xfrm>
            <a:off x="10241280" y="822960"/>
            <a:ext cx="1188720" cy="1188720"/>
          </a:xfrm>
          <a:prstGeom prst="rect">
            <a:avLst/>
          </a:prstGeom>
        </p:spPr>
      </p:pic>
      <p:sp>
        <p:nvSpPr>
          <p:cNvPr id="3" name="TextBox 2"/>
          <p:cNvSpPr txBox="1"/>
          <p:nvPr/>
        </p:nvSpPr>
        <p:spPr>
          <a:xfrm>
            <a:off x="914400" y="1188720"/>
            <a:ext cx="9144000" cy="4754880"/>
          </a:xfrm>
          <a:prstGeom prst="rect">
            <a:avLst/>
          </a:prstGeom>
          <a:noFill/>
        </p:spPr>
        <p:txBody>
          <a:bodyPr wrap="square">
            <a:spAutoFit/>
          </a:bodyPr>
          <a:lstStyle/>
          <a:p>
            <a:pPr>
              <a:spcAft>
                <a:spcPts val="1000"/>
              </a:spcAft>
              <a:defRPr sz="1200" b="1">
                <a:solidFill>
                  <a:srgbClr val="9AE6B4"/>
                </a:solidFill>
                <a:latin typeface="Calibri"/>
              </a:defRPr>
            </a:pPr>
            <a:r>
              <a:t>CAPSTONE EVALUATION · Q&amp;A SESSION</a:t>
            </a:r>
          </a:p>
          <a:p>
            <a:pPr>
              <a:spcAft>
                <a:spcPts val="800"/>
              </a:spcAft>
              <a:defRPr sz="4400" b="1">
                <a:solidFill>
                  <a:srgbClr val="FFFFFF"/>
                </a:solidFill>
                <a:latin typeface="Cambria"/>
              </a:defRPr>
            </a:pPr>
            <a:r>
              <a:t>Thank You!</a:t>
            </a:r>
          </a:p>
          <a:p>
            <a:pPr>
              <a:spcAft>
                <a:spcPts val="2800"/>
              </a:spcAft>
              <a:defRPr sz="1800">
                <a:solidFill>
                  <a:srgbClr val="E2F0EA"/>
                </a:solidFill>
                <a:latin typeface="Calibri"/>
              </a:defRPr>
            </a:pPr>
            <a:r>
              <a:t>Questions &amp; Technical Discussion Welcome</a:t>
            </a:r>
          </a:p>
          <a:p>
            <a:pPr>
              <a:spcAft>
                <a:spcPts val="600"/>
              </a:spcAft>
              <a:defRPr sz="1200" b="1">
                <a:solidFill>
                  <a:srgbClr val="FFFFFF"/>
                </a:solidFill>
                <a:latin typeface="Consolas"/>
              </a:defRPr>
            </a:pPr>
            <a:r>
              <a:t>Project Repository:   github.com/CosmicCoder06/Skill-Exchange</a:t>
            </a:r>
          </a:p>
          <a:p>
            <a:pPr>
              <a:spcAft>
                <a:spcPts val="2800"/>
              </a:spcAft>
              <a:defRPr sz="1200" b="1">
                <a:solidFill>
                  <a:srgbClr val="FFFFFF"/>
                </a:solidFill>
                <a:latin typeface="Consolas"/>
              </a:defRPr>
            </a:pPr>
            <a:r>
              <a:t>Live Deployment:      https://skill-exchange-one-eta.vercel.app/</a:t>
            </a:r>
          </a:p>
          <a:p>
            <a:pPr>
              <a:spcAft>
                <a:spcPts val="400"/>
              </a:spcAft>
              <a:defRPr sz="1300" b="1">
                <a:solidFill>
                  <a:srgbClr val="C8E6D8"/>
                </a:solidFill>
                <a:latin typeface="Calibri"/>
              </a:defRPr>
            </a:pPr>
            <a:r>
              <a:t>Developed by Team CosmicCoder (Group Number 13)</a:t>
            </a:r>
          </a:p>
          <a:p>
            <a:pPr>
              <a:defRPr sz="1100">
                <a:solidFill>
                  <a:srgbClr val="A0D4BE"/>
                </a:solidFill>
                <a:latin typeface="Calibri"/>
              </a:defRPr>
            </a:pPr>
            <a:r>
              <a:t>Department of Computer Science &amp; Engineering | GLA University, Mathura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